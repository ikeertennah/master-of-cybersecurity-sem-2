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Poppins Bold" charset="1" panose="00000800000000000000"/>
      <p:regular r:id="rId21"/>
    </p:embeddedFont>
    <p:embeddedFont>
      <p:font typeface="Poppins" charset="1" panose="00000500000000000000"/>
      <p:regular r:id="rId22"/>
    </p:embeddedFont>
    <p:embeddedFont>
      <p:font typeface="Poppins Semi-Bold" charset="1" panose="00000700000000000000"/>
      <p:regular r:id="rId23"/>
    </p:embeddedFont>
    <p:embeddedFont>
      <p:font typeface="Canva Sans" charset="1" panose="020B0503030501040103"/>
      <p:regular r:id="rId24"/>
    </p:embeddedFont>
    <p:embeddedFont>
      <p:font typeface="Roboto Bold" charset="1" panose="02000000000000000000"/>
      <p:regular r:id="rId28"/>
    </p:embeddedFont>
    <p:embeddedFont>
      <p:font typeface="Roboto" charset="1" panose="02000000000000000000"/>
      <p:regular r:id="rId29"/>
    </p:embeddedFont>
    <p:embeddedFont>
      <p:font typeface="Arimo Bold" charset="1" panose="020B0704020202020204"/>
      <p:regular r:id="rId32"/>
    </p:embeddedFont>
    <p:embeddedFont>
      <p:font typeface="Arimo" charset="1" panose="020B0604020202020204"/>
      <p:regular r:id="rId33"/>
    </p:embeddedFont>
    <p:embeddedFont>
      <p:font typeface="Arial Bold" charset="1" panose="020B0704020202020204"/>
      <p:regular r:id="rId41"/>
    </p:embeddedFont>
    <p:embeddedFont>
      <p:font typeface="Arial" charset="1" panose="020B0604020202020204"/>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notesMasters/notesMaster1.xml" Type="http://schemas.openxmlformats.org/officeDocument/2006/relationships/notesMaster"/><Relationship Id="rId26" Target="theme/theme2.xml" Type="http://schemas.openxmlformats.org/officeDocument/2006/relationships/theme"/><Relationship Id="rId27" Target="notesSlides/notesSlide1.xml" Type="http://schemas.openxmlformats.org/officeDocument/2006/relationships/note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fonts/font32.fntdata" Type="http://schemas.openxmlformats.org/officeDocument/2006/relationships/font"/><Relationship Id="rId33" Target="fonts/font33.fntdata" Type="http://schemas.openxmlformats.org/officeDocument/2006/relationships/font"/><Relationship Id="rId34" Target="notesSlides/notesSlide4.xml" Type="http://schemas.openxmlformats.org/officeDocument/2006/relationships/notesSlide"/><Relationship Id="rId35" Target="notesSlides/notesSlide5.xml" Type="http://schemas.openxmlformats.org/officeDocument/2006/relationships/notesSlide"/><Relationship Id="rId36" Target="notesSlides/notesSlide6.xml" Type="http://schemas.openxmlformats.org/officeDocument/2006/relationships/notesSlide"/><Relationship Id="rId37" Target="notesSlides/notesSlide7.xml" Type="http://schemas.openxmlformats.org/officeDocument/2006/relationships/notesSlide"/><Relationship Id="rId38" Target="notesSlides/notesSlide8.xml" Type="http://schemas.openxmlformats.org/officeDocument/2006/relationships/notesSlide"/><Relationship Id="rId39" Target="notesSlides/notesSlide9.xml" Type="http://schemas.openxmlformats.org/officeDocument/2006/relationships/notesSlide"/><Relationship Id="rId4" Target="theme/theme1.xml" Type="http://schemas.openxmlformats.org/officeDocument/2006/relationships/theme"/><Relationship Id="rId40" Target="notesSlides/notesSlide10.xml" Type="http://schemas.openxmlformats.org/officeDocument/2006/relationships/notesSlide"/><Relationship Id="rId41" Target="fonts/font41.fntdata" Type="http://schemas.openxmlformats.org/officeDocument/2006/relationships/font"/><Relationship Id="rId42" Target="fonts/font42.fntdata" Type="http://schemas.openxmlformats.org/officeDocument/2006/relationships/font"/><Relationship Id="rId43" Target="notesSlides/notesSlide11.xml" Type="http://schemas.openxmlformats.org/officeDocument/2006/relationships/notesSlide"/><Relationship Id="rId44" Target="notesSlides/notesSlide12.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jpe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5.jpe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11" Target="../media/image18.png" Type="http://schemas.openxmlformats.org/officeDocument/2006/relationships/image"/><Relationship Id="rId12" Target="../media/image19.svg" Type="http://schemas.openxmlformats.org/officeDocument/2006/relationships/image"/><Relationship Id="rId2" Target="../notesSlides/notesSlide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20.jpe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svg" Type="http://schemas.openxmlformats.org/officeDocument/2006/relationships/image"/><Relationship Id="rId2" Target="../notesSlides/notesSlide3.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png" Type="http://schemas.openxmlformats.org/officeDocument/2006/relationships/image"/><Relationship Id="rId7" Target="../media/image21.jpe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2" Target="../notesSlides/notesSlide4.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22.pn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1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3.jpe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4.jpe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5.pn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6.pn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7.pn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8.png" Type="http://schemas.openxmlformats.org/officeDocument/2006/relationships/image"/><Relationship Id="rId4" Target="../media/image19.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 Id="rId9" Target="../media/image1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9.png" Type="http://schemas.openxmlformats.org/officeDocument/2006/relationships/image"/><Relationship Id="rId12" Target="../media/image33.jpeg" Type="http://schemas.openxmlformats.org/officeDocument/2006/relationships/image"/><Relationship Id="rId13" Target="../media/image11.png" Type="http://schemas.openxmlformats.org/officeDocument/2006/relationships/image"/><Relationship Id="rId14" Target="../media/image12.svg" Type="http://schemas.openxmlformats.org/officeDocument/2006/relationships/image"/><Relationship Id="rId15" Target="../media/image13.png" Type="http://schemas.openxmlformats.org/officeDocument/2006/relationships/image"/><Relationship Id="rId16" Target="../media/image14.svg" Type="http://schemas.openxmlformats.org/officeDocument/2006/relationships/image"/><Relationship Id="rId17" Target="../media/image18.png" Type="http://schemas.openxmlformats.org/officeDocument/2006/relationships/image"/><Relationship Id="rId18" Target="../media/image19.svg" Type="http://schemas.openxmlformats.org/officeDocument/2006/relationships/image"/><Relationship Id="rId2" Target="../notesSlides/notesSlide1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32.jpe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2341491" y="6051085"/>
            <a:ext cx="24520492" cy="4402586"/>
          </a:xfrm>
          <a:custGeom>
            <a:avLst/>
            <a:gdLst/>
            <a:ahLst/>
            <a:cxnLst/>
            <a:rect r="r" b="b" t="t" l="l"/>
            <a:pathLst>
              <a:path h="4402586" w="24520492">
                <a:moveTo>
                  <a:pt x="24520492" y="0"/>
                </a:moveTo>
                <a:lnTo>
                  <a:pt x="0" y="0"/>
                </a:lnTo>
                <a:lnTo>
                  <a:pt x="0" y="4402586"/>
                </a:lnTo>
                <a:lnTo>
                  <a:pt x="24520492" y="4402586"/>
                </a:lnTo>
                <a:lnTo>
                  <a:pt x="24520492"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168322">
            <a:off x="-591160" y="-1840415"/>
            <a:ext cx="7434779" cy="15382828"/>
            <a:chOff x="0" y="0"/>
            <a:chExt cx="1958131" cy="4051444"/>
          </a:xfrm>
        </p:grpSpPr>
        <p:sp>
          <p:nvSpPr>
            <p:cNvPr name="Freeform 4" id="4"/>
            <p:cNvSpPr/>
            <p:nvPr/>
          </p:nvSpPr>
          <p:spPr>
            <a:xfrm flipH="false" flipV="false" rot="0">
              <a:off x="0" y="0"/>
              <a:ext cx="1958131" cy="4051444"/>
            </a:xfrm>
            <a:custGeom>
              <a:avLst/>
              <a:gdLst/>
              <a:ahLst/>
              <a:cxnLst/>
              <a:rect r="r" b="b" t="t" l="l"/>
              <a:pathLst>
                <a:path h="4051444" w="1958131">
                  <a:moveTo>
                    <a:pt x="0" y="0"/>
                  </a:moveTo>
                  <a:lnTo>
                    <a:pt x="1958131" y="0"/>
                  </a:lnTo>
                  <a:lnTo>
                    <a:pt x="1958131" y="4051444"/>
                  </a:lnTo>
                  <a:lnTo>
                    <a:pt x="0" y="4051444"/>
                  </a:lnTo>
                  <a:close/>
                </a:path>
              </a:pathLst>
            </a:custGeom>
            <a:solidFill>
              <a:srgbClr val="20989B"/>
            </a:solidFill>
          </p:spPr>
        </p:sp>
        <p:sp>
          <p:nvSpPr>
            <p:cNvPr name="TextBox 5" id="5"/>
            <p:cNvSpPr txBox="true"/>
            <p:nvPr/>
          </p:nvSpPr>
          <p:spPr>
            <a:xfrm>
              <a:off x="0" y="-57150"/>
              <a:ext cx="1958131" cy="410859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6579275">
            <a:off x="-3647729" y="4649456"/>
            <a:ext cx="13353097" cy="404258"/>
          </a:xfrm>
          <a:custGeom>
            <a:avLst/>
            <a:gdLst/>
            <a:ahLst/>
            <a:cxnLst/>
            <a:rect r="r" b="b" t="t" l="l"/>
            <a:pathLst>
              <a:path h="404258" w="13353097">
                <a:moveTo>
                  <a:pt x="0" y="0"/>
                </a:moveTo>
                <a:lnTo>
                  <a:pt x="13353096" y="0"/>
                </a:lnTo>
                <a:lnTo>
                  <a:pt x="13353096" y="404258"/>
                </a:lnTo>
                <a:lnTo>
                  <a:pt x="0" y="404258"/>
                </a:lnTo>
                <a:lnTo>
                  <a:pt x="0" y="0"/>
                </a:lnTo>
                <a:close/>
              </a:path>
            </a:pathLst>
          </a:custGeom>
          <a:blipFill>
            <a:blip r:embed="rId4"/>
            <a:stretch>
              <a:fillRect l="0" t="-1843398" r="0" b="0"/>
            </a:stretch>
          </a:blipFill>
        </p:spPr>
      </p:sp>
      <p:grpSp>
        <p:nvGrpSpPr>
          <p:cNvPr name="Group 7" id="7"/>
          <p:cNvGrpSpPr/>
          <p:nvPr/>
        </p:nvGrpSpPr>
        <p:grpSpPr>
          <a:xfrm rot="-1168322">
            <a:off x="-4404526" y="-1840415"/>
            <a:ext cx="7434779" cy="15382828"/>
            <a:chOff x="0" y="0"/>
            <a:chExt cx="1958131" cy="4051444"/>
          </a:xfrm>
        </p:grpSpPr>
        <p:sp>
          <p:nvSpPr>
            <p:cNvPr name="Freeform 8" id="8"/>
            <p:cNvSpPr/>
            <p:nvPr/>
          </p:nvSpPr>
          <p:spPr>
            <a:xfrm flipH="false" flipV="false" rot="0">
              <a:off x="0" y="0"/>
              <a:ext cx="1958131" cy="4051444"/>
            </a:xfrm>
            <a:custGeom>
              <a:avLst/>
              <a:gdLst/>
              <a:ahLst/>
              <a:cxnLst/>
              <a:rect r="r" b="b" t="t" l="l"/>
              <a:pathLst>
                <a:path h="4051444" w="1958131">
                  <a:moveTo>
                    <a:pt x="0" y="0"/>
                  </a:moveTo>
                  <a:lnTo>
                    <a:pt x="1958131" y="0"/>
                  </a:lnTo>
                  <a:lnTo>
                    <a:pt x="1958131" y="4051444"/>
                  </a:lnTo>
                  <a:lnTo>
                    <a:pt x="0" y="4051444"/>
                  </a:lnTo>
                  <a:close/>
                </a:path>
              </a:pathLst>
            </a:custGeom>
            <a:solidFill>
              <a:srgbClr val="39515A"/>
            </a:solidFill>
          </p:spPr>
        </p:sp>
        <p:sp>
          <p:nvSpPr>
            <p:cNvPr name="TextBox 9" id="9"/>
            <p:cNvSpPr txBox="true"/>
            <p:nvPr/>
          </p:nvSpPr>
          <p:spPr>
            <a:xfrm>
              <a:off x="0" y="-57150"/>
              <a:ext cx="1958131" cy="4108594"/>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592816" y="1461689"/>
            <a:ext cx="6973020" cy="7363621"/>
            <a:chOff x="0" y="0"/>
            <a:chExt cx="5960491" cy="6294374"/>
          </a:xfrm>
        </p:grpSpPr>
        <p:sp>
          <p:nvSpPr>
            <p:cNvPr name="Freeform 11" id="11"/>
            <p:cNvSpPr/>
            <p:nvPr/>
          </p:nvSpPr>
          <p:spPr>
            <a:xfrm flipH="false" flipV="false" rot="0">
              <a:off x="0" y="-44"/>
              <a:ext cx="5960480" cy="6294418"/>
            </a:xfrm>
            <a:custGeom>
              <a:avLst/>
              <a:gdLst/>
              <a:ahLst/>
              <a:cxnLst/>
              <a:rect r="r" b="b" t="t" l="l"/>
              <a:pathLst>
                <a:path h="6294418" w="5960480">
                  <a:moveTo>
                    <a:pt x="4226814" y="1119549"/>
                  </a:moveTo>
                  <a:cubicBezTo>
                    <a:pt x="4173601" y="967911"/>
                    <a:pt x="4001770" y="815892"/>
                    <a:pt x="3844798" y="781729"/>
                  </a:cubicBezTo>
                  <a:lnTo>
                    <a:pt x="285369" y="6521"/>
                  </a:lnTo>
                  <a:cubicBezTo>
                    <a:pt x="128397" y="-27642"/>
                    <a:pt x="0" y="75863"/>
                    <a:pt x="0" y="236518"/>
                  </a:cubicBezTo>
                  <a:lnTo>
                    <a:pt x="0" y="6002318"/>
                  </a:lnTo>
                  <a:cubicBezTo>
                    <a:pt x="0" y="6162973"/>
                    <a:pt x="131445" y="6294418"/>
                    <a:pt x="292100" y="6294418"/>
                  </a:cubicBezTo>
                  <a:lnTo>
                    <a:pt x="5749544" y="6294418"/>
                  </a:lnTo>
                  <a:cubicBezTo>
                    <a:pt x="5910199" y="6294418"/>
                    <a:pt x="5998083" y="6170339"/>
                    <a:pt x="5944997" y="6018828"/>
                  </a:cubicBezTo>
                  <a:lnTo>
                    <a:pt x="4226814" y="1119549"/>
                  </a:lnTo>
                  <a:close/>
                </a:path>
              </a:pathLst>
            </a:custGeom>
            <a:blipFill>
              <a:blip r:embed="rId5"/>
              <a:stretch>
                <a:fillRect l="-67602" t="0" r="-29129" b="-24309"/>
              </a:stretch>
            </a:blipFill>
            <a:ln w="114300" cap="sq">
              <a:solidFill>
                <a:srgbClr val="FFFFFF"/>
              </a:solidFill>
              <a:prstDash val="solid"/>
              <a:miter/>
            </a:ln>
          </p:spPr>
        </p:sp>
      </p:grpSp>
      <p:grpSp>
        <p:nvGrpSpPr>
          <p:cNvPr name="Group 12" id="12"/>
          <p:cNvGrpSpPr/>
          <p:nvPr/>
        </p:nvGrpSpPr>
        <p:grpSpPr>
          <a:xfrm rot="-1168322">
            <a:off x="4937715" y="-2713330"/>
            <a:ext cx="887655" cy="8696949"/>
            <a:chOff x="0" y="0"/>
            <a:chExt cx="233786" cy="2290554"/>
          </a:xfrm>
        </p:grpSpPr>
        <p:sp>
          <p:nvSpPr>
            <p:cNvPr name="Freeform 13" id="13"/>
            <p:cNvSpPr/>
            <p:nvPr/>
          </p:nvSpPr>
          <p:spPr>
            <a:xfrm flipH="false" flipV="false" rot="0">
              <a:off x="0" y="0"/>
              <a:ext cx="233786" cy="2290554"/>
            </a:xfrm>
            <a:custGeom>
              <a:avLst/>
              <a:gdLst/>
              <a:ahLst/>
              <a:cxnLst/>
              <a:rect r="r" b="b" t="t" l="l"/>
              <a:pathLst>
                <a:path h="2290554" w="233786">
                  <a:moveTo>
                    <a:pt x="0" y="0"/>
                  </a:moveTo>
                  <a:lnTo>
                    <a:pt x="233786" y="0"/>
                  </a:lnTo>
                  <a:lnTo>
                    <a:pt x="233786" y="2290554"/>
                  </a:lnTo>
                  <a:lnTo>
                    <a:pt x="0" y="2290554"/>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14" id="14"/>
            <p:cNvSpPr txBox="true"/>
            <p:nvPr/>
          </p:nvSpPr>
          <p:spPr>
            <a:xfrm>
              <a:off x="0" y="-57150"/>
              <a:ext cx="233786" cy="2347704"/>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1168322">
            <a:off x="7299902" y="5618795"/>
            <a:ext cx="887655" cy="5600547"/>
            <a:chOff x="0" y="0"/>
            <a:chExt cx="233786" cy="1475041"/>
          </a:xfrm>
        </p:grpSpPr>
        <p:sp>
          <p:nvSpPr>
            <p:cNvPr name="Freeform 16" id="16"/>
            <p:cNvSpPr/>
            <p:nvPr/>
          </p:nvSpPr>
          <p:spPr>
            <a:xfrm flipH="false" flipV="false" rot="0">
              <a:off x="0" y="0"/>
              <a:ext cx="233786" cy="1475041"/>
            </a:xfrm>
            <a:custGeom>
              <a:avLst/>
              <a:gdLst/>
              <a:ahLst/>
              <a:cxnLst/>
              <a:rect r="r" b="b" t="t" l="l"/>
              <a:pathLst>
                <a:path h="1475041" w="233786">
                  <a:moveTo>
                    <a:pt x="0" y="0"/>
                  </a:moveTo>
                  <a:lnTo>
                    <a:pt x="233786" y="0"/>
                  </a:lnTo>
                  <a:lnTo>
                    <a:pt x="233786" y="1475041"/>
                  </a:lnTo>
                  <a:lnTo>
                    <a:pt x="0" y="1475041"/>
                  </a:lnTo>
                  <a:close/>
                </a:path>
              </a:pathLst>
            </a:custGeom>
            <a:gradFill rotWithShape="true">
              <a:gsLst>
                <a:gs pos="0">
                  <a:srgbClr val="F9FFFF">
                    <a:alpha val="0"/>
                  </a:srgbClr>
                </a:gs>
                <a:gs pos="50000">
                  <a:srgbClr val="C3FEFF">
                    <a:alpha val="50500"/>
                  </a:srgbClr>
                </a:gs>
                <a:gs pos="100000">
                  <a:srgbClr val="20989B">
                    <a:alpha val="100000"/>
                  </a:srgbClr>
                </a:gs>
              </a:gsLst>
              <a:lin ang="5400000"/>
            </a:gradFill>
          </p:spPr>
        </p:sp>
        <p:sp>
          <p:nvSpPr>
            <p:cNvPr name="TextBox 17" id="17"/>
            <p:cNvSpPr txBox="true"/>
            <p:nvPr/>
          </p:nvSpPr>
          <p:spPr>
            <a:xfrm>
              <a:off x="0" y="-57150"/>
              <a:ext cx="233786" cy="1532191"/>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322406" y="8252378"/>
            <a:ext cx="1014510" cy="1005922"/>
          </a:xfrm>
          <a:custGeom>
            <a:avLst/>
            <a:gdLst/>
            <a:ahLst/>
            <a:cxnLst/>
            <a:rect r="r" b="b" t="t" l="l"/>
            <a:pathLst>
              <a:path h="1005922" w="1014510">
                <a:moveTo>
                  <a:pt x="0" y="0"/>
                </a:moveTo>
                <a:lnTo>
                  <a:pt x="1014510" y="0"/>
                </a:lnTo>
                <a:lnTo>
                  <a:pt x="1014510" y="1005922"/>
                </a:lnTo>
                <a:lnTo>
                  <a:pt x="0" y="1005922"/>
                </a:lnTo>
                <a:lnTo>
                  <a:pt x="0" y="0"/>
                </a:lnTo>
                <a:close/>
              </a:path>
            </a:pathLst>
          </a:custGeom>
          <a:blipFill>
            <a:blip r:embed="rId6">
              <a:extLst>
                <a:ext uri="{96DAC541-7B7A-43D3-8B79-37D633B846F1}">
                  <asvg:svgBlip xmlns:asvg="http://schemas.microsoft.com/office/drawing/2016/SVG/main" r:embed="rId7"/>
                </a:ext>
              </a:extLst>
            </a:blip>
            <a:stretch>
              <a:fillRect l="0" t="-106388" r="-103152" b="0"/>
            </a:stretch>
          </a:blipFill>
        </p:spPr>
      </p:sp>
      <p:sp>
        <p:nvSpPr>
          <p:cNvPr name="Freeform 19" id="19"/>
          <p:cNvSpPr/>
          <p:nvPr/>
        </p:nvSpPr>
        <p:spPr>
          <a:xfrm flipH="false" flipV="false" rot="0">
            <a:off x="2631539" y="1080376"/>
            <a:ext cx="1764021" cy="1764021"/>
          </a:xfrm>
          <a:custGeom>
            <a:avLst/>
            <a:gdLst/>
            <a:ahLst/>
            <a:cxnLst/>
            <a:rect r="r" b="b" t="t" l="l"/>
            <a:pathLst>
              <a:path h="1764021" w="1764021">
                <a:moveTo>
                  <a:pt x="0" y="0"/>
                </a:moveTo>
                <a:lnTo>
                  <a:pt x="1764021" y="0"/>
                </a:lnTo>
                <a:lnTo>
                  <a:pt x="1764021" y="1764020"/>
                </a:lnTo>
                <a:lnTo>
                  <a:pt x="0" y="1764020"/>
                </a:lnTo>
                <a:lnTo>
                  <a:pt x="0" y="0"/>
                </a:lnTo>
                <a:close/>
              </a:path>
            </a:pathLst>
          </a:custGeom>
          <a:blipFill>
            <a:blip r:embed="rId8">
              <a:alphaModFix amt="44999"/>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4953811" y="5004084"/>
            <a:ext cx="4591447" cy="4583099"/>
          </a:xfrm>
          <a:custGeom>
            <a:avLst/>
            <a:gdLst/>
            <a:ahLst/>
            <a:cxnLst/>
            <a:rect r="r" b="b" t="t" l="l"/>
            <a:pathLst>
              <a:path h="4583099" w="4591447">
                <a:moveTo>
                  <a:pt x="0" y="0"/>
                </a:moveTo>
                <a:lnTo>
                  <a:pt x="4591448" y="0"/>
                </a:lnTo>
                <a:lnTo>
                  <a:pt x="4591448" y="4583100"/>
                </a:lnTo>
                <a:lnTo>
                  <a:pt x="0" y="4583100"/>
                </a:lnTo>
                <a:lnTo>
                  <a:pt x="0" y="0"/>
                </a:lnTo>
                <a:close/>
              </a:path>
            </a:pathLst>
          </a:custGeom>
          <a:blipFill>
            <a:blip r:embed="rId10"/>
            <a:stretch>
              <a:fillRect l="0" t="0" r="0" b="0"/>
            </a:stretch>
          </a:blipFill>
        </p:spPr>
      </p:sp>
      <p:grpSp>
        <p:nvGrpSpPr>
          <p:cNvPr name="Group 21" id="21"/>
          <p:cNvGrpSpPr/>
          <p:nvPr/>
        </p:nvGrpSpPr>
        <p:grpSpPr>
          <a:xfrm rot="0">
            <a:off x="5269577" y="5332968"/>
            <a:ext cx="3925332" cy="3925332"/>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989B"/>
            </a:solidFill>
          </p:spPr>
        </p:sp>
        <p:sp>
          <p:nvSpPr>
            <p:cNvPr name="TextBox 23" id="2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5505087" y="5568478"/>
            <a:ext cx="3454312" cy="3454312"/>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1"/>
              <a:stretch>
                <a:fillRect l="-50000" t="0" r="0" b="0"/>
              </a:stretch>
            </a:blipFill>
          </p:spPr>
        </p:sp>
      </p:grpSp>
      <p:sp>
        <p:nvSpPr>
          <p:cNvPr name="Freeform 26" id="26"/>
          <p:cNvSpPr/>
          <p:nvPr/>
        </p:nvSpPr>
        <p:spPr>
          <a:xfrm flipH="false" flipV="false" rot="0">
            <a:off x="16406636" y="8358556"/>
            <a:ext cx="793566" cy="793566"/>
          </a:xfrm>
          <a:custGeom>
            <a:avLst/>
            <a:gdLst/>
            <a:ahLst/>
            <a:cxnLst/>
            <a:rect r="r" b="b" t="t" l="l"/>
            <a:pathLst>
              <a:path h="793566" w="793566">
                <a:moveTo>
                  <a:pt x="0" y="0"/>
                </a:moveTo>
                <a:lnTo>
                  <a:pt x="793566" y="0"/>
                </a:lnTo>
                <a:lnTo>
                  <a:pt x="793566" y="793566"/>
                </a:lnTo>
                <a:lnTo>
                  <a:pt x="0" y="7935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7" id="27"/>
          <p:cNvSpPr/>
          <p:nvPr/>
        </p:nvSpPr>
        <p:spPr>
          <a:xfrm flipH="false" flipV="false" rot="0">
            <a:off x="7507109" y="1213406"/>
            <a:ext cx="2038150" cy="248284"/>
          </a:xfrm>
          <a:custGeom>
            <a:avLst/>
            <a:gdLst/>
            <a:ahLst/>
            <a:cxnLst/>
            <a:rect r="r" b="b" t="t" l="l"/>
            <a:pathLst>
              <a:path h="248284" w="2038150">
                <a:moveTo>
                  <a:pt x="0" y="0"/>
                </a:moveTo>
                <a:lnTo>
                  <a:pt x="2038150" y="0"/>
                </a:lnTo>
                <a:lnTo>
                  <a:pt x="2038150" y="248283"/>
                </a:lnTo>
                <a:lnTo>
                  <a:pt x="0" y="24828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8" id="28"/>
          <p:cNvSpPr txBox="true"/>
          <p:nvPr/>
        </p:nvSpPr>
        <p:spPr>
          <a:xfrm rot="0">
            <a:off x="11752420" y="8737432"/>
            <a:ext cx="4530391" cy="381000"/>
          </a:xfrm>
          <a:prstGeom prst="rect">
            <a:avLst/>
          </a:prstGeom>
        </p:spPr>
        <p:txBody>
          <a:bodyPr anchor="t" rtlCol="false" tIns="0" lIns="0" bIns="0" rIns="0">
            <a:spAutoFit/>
          </a:bodyPr>
          <a:lstStyle/>
          <a:p>
            <a:pPr algn="r">
              <a:lnSpc>
                <a:spcPts val="2849"/>
              </a:lnSpc>
            </a:pPr>
            <a:r>
              <a:rPr lang="en-US" b="true" sz="2499">
                <a:solidFill>
                  <a:srgbClr val="000000"/>
                </a:solidFill>
                <a:latin typeface="Poppins Bold"/>
                <a:ea typeface="Poppins Bold"/>
                <a:cs typeface="Poppins Bold"/>
                <a:sym typeface="Poppins Bold"/>
              </a:rPr>
              <a:t>www.finsecurebank.com</a:t>
            </a:r>
          </a:p>
        </p:txBody>
      </p:sp>
      <p:sp>
        <p:nvSpPr>
          <p:cNvPr name="TextBox 29" id="29"/>
          <p:cNvSpPr txBox="true"/>
          <p:nvPr/>
        </p:nvSpPr>
        <p:spPr>
          <a:xfrm rot="0">
            <a:off x="13578870" y="8463672"/>
            <a:ext cx="2703942" cy="280416"/>
          </a:xfrm>
          <a:prstGeom prst="rect">
            <a:avLst/>
          </a:prstGeom>
        </p:spPr>
        <p:txBody>
          <a:bodyPr anchor="t" rtlCol="false" tIns="0" lIns="0" bIns="0" rIns="0">
            <a:spAutoFit/>
          </a:bodyPr>
          <a:lstStyle/>
          <a:p>
            <a:pPr algn="r">
              <a:lnSpc>
                <a:spcPts val="2052"/>
              </a:lnSpc>
            </a:pPr>
            <a:r>
              <a:rPr lang="en-US" sz="1800">
                <a:solidFill>
                  <a:srgbClr val="000000"/>
                </a:solidFill>
                <a:latin typeface="Poppins"/>
                <a:ea typeface="Poppins"/>
                <a:cs typeface="Poppins"/>
                <a:sym typeface="Poppins"/>
              </a:rPr>
              <a:t>Visit Our Website</a:t>
            </a:r>
          </a:p>
        </p:txBody>
      </p:sp>
      <p:sp>
        <p:nvSpPr>
          <p:cNvPr name="TextBox 30" id="30"/>
          <p:cNvSpPr txBox="true"/>
          <p:nvPr/>
        </p:nvSpPr>
        <p:spPr>
          <a:xfrm rot="0">
            <a:off x="3454452" y="1780957"/>
            <a:ext cx="13745750" cy="2875286"/>
          </a:xfrm>
          <a:prstGeom prst="rect">
            <a:avLst/>
          </a:prstGeom>
        </p:spPr>
        <p:txBody>
          <a:bodyPr anchor="t" rtlCol="false" tIns="0" lIns="0" bIns="0" rIns="0">
            <a:spAutoFit/>
          </a:bodyPr>
          <a:lstStyle/>
          <a:p>
            <a:pPr algn="r">
              <a:lnSpc>
                <a:spcPts val="10917"/>
              </a:lnSpc>
            </a:pPr>
            <a:r>
              <a:rPr lang="en-US" b="true" sz="9661" spc="-405">
                <a:solidFill>
                  <a:srgbClr val="20989B"/>
                </a:solidFill>
                <a:latin typeface="Poppins Semi-Bold"/>
                <a:ea typeface="Poppins Semi-Bold"/>
                <a:cs typeface="Poppins Semi-Bold"/>
                <a:sym typeface="Poppins Semi-Bold"/>
              </a:rPr>
              <a:t>FINSECURE BANK</a:t>
            </a:r>
          </a:p>
          <a:p>
            <a:pPr algn="r">
              <a:lnSpc>
                <a:spcPts val="10917"/>
              </a:lnSpc>
            </a:pPr>
            <a:r>
              <a:rPr lang="en-US" b="true" sz="9661" spc="-405">
                <a:solidFill>
                  <a:srgbClr val="20989B"/>
                </a:solidFill>
                <a:latin typeface="Poppins Semi-Bold"/>
                <a:ea typeface="Poppins Semi-Bold"/>
                <a:cs typeface="Poppins Semi-Bold"/>
                <a:sym typeface="Poppins Semi-Bold"/>
              </a:rPr>
              <a:t>ISO/IEC 27001</a:t>
            </a:r>
          </a:p>
        </p:txBody>
      </p:sp>
      <p:sp>
        <p:nvSpPr>
          <p:cNvPr name="TextBox 31" id="31"/>
          <p:cNvSpPr txBox="true"/>
          <p:nvPr/>
        </p:nvSpPr>
        <p:spPr>
          <a:xfrm rot="0">
            <a:off x="10469184" y="4483650"/>
            <a:ext cx="6790116" cy="2330707"/>
          </a:xfrm>
          <a:prstGeom prst="rect">
            <a:avLst/>
          </a:prstGeom>
        </p:spPr>
        <p:txBody>
          <a:bodyPr anchor="t" rtlCol="false" tIns="0" lIns="0" bIns="0" rIns="0">
            <a:spAutoFit/>
          </a:bodyPr>
          <a:lstStyle/>
          <a:p>
            <a:pPr algn="r">
              <a:lnSpc>
                <a:spcPts val="8865"/>
              </a:lnSpc>
            </a:pPr>
            <a:r>
              <a:rPr lang="en-US" b="true" sz="7845" spc="-329">
                <a:solidFill>
                  <a:srgbClr val="39515A"/>
                </a:solidFill>
                <a:latin typeface="Poppins Semi-Bold"/>
                <a:ea typeface="Poppins Semi-Bold"/>
                <a:cs typeface="Poppins Semi-Bold"/>
                <a:sym typeface="Poppins Semi-Bold"/>
              </a:rPr>
              <a:t>INTERNAL AUDIT REPORT</a:t>
            </a:r>
          </a:p>
        </p:txBody>
      </p:sp>
      <p:grpSp>
        <p:nvGrpSpPr>
          <p:cNvPr name="Group 32" id="32"/>
          <p:cNvGrpSpPr/>
          <p:nvPr/>
        </p:nvGrpSpPr>
        <p:grpSpPr>
          <a:xfrm rot="0">
            <a:off x="3275743" y="3488168"/>
            <a:ext cx="4378158" cy="872144"/>
            <a:chOff x="0" y="0"/>
            <a:chExt cx="2040125" cy="406400"/>
          </a:xfrm>
        </p:grpSpPr>
        <p:sp>
          <p:nvSpPr>
            <p:cNvPr name="Freeform 33" id="33"/>
            <p:cNvSpPr/>
            <p:nvPr/>
          </p:nvSpPr>
          <p:spPr>
            <a:xfrm flipH="false" flipV="false" rot="0">
              <a:off x="0" y="0"/>
              <a:ext cx="2040125" cy="406400"/>
            </a:xfrm>
            <a:custGeom>
              <a:avLst/>
              <a:gdLst/>
              <a:ahLst/>
              <a:cxnLst/>
              <a:rect r="r" b="b" t="t" l="l"/>
              <a:pathLst>
                <a:path h="406400" w="2040125">
                  <a:moveTo>
                    <a:pt x="1836925" y="0"/>
                  </a:moveTo>
                  <a:cubicBezTo>
                    <a:pt x="1949150" y="0"/>
                    <a:pt x="2040125" y="90976"/>
                    <a:pt x="2040125" y="203200"/>
                  </a:cubicBezTo>
                  <a:cubicBezTo>
                    <a:pt x="2040125" y="315424"/>
                    <a:pt x="1949150" y="406400"/>
                    <a:pt x="1836925" y="406400"/>
                  </a:cubicBezTo>
                  <a:lnTo>
                    <a:pt x="203200" y="406400"/>
                  </a:lnTo>
                  <a:cubicBezTo>
                    <a:pt x="90976" y="406400"/>
                    <a:pt x="0" y="315424"/>
                    <a:pt x="0" y="203200"/>
                  </a:cubicBezTo>
                  <a:cubicBezTo>
                    <a:pt x="0" y="90976"/>
                    <a:pt x="90976" y="0"/>
                    <a:pt x="203200" y="0"/>
                  </a:cubicBezTo>
                  <a:close/>
                </a:path>
              </a:pathLst>
            </a:custGeom>
            <a:solidFill>
              <a:srgbClr val="39515A"/>
            </a:solidFill>
          </p:spPr>
        </p:sp>
        <p:sp>
          <p:nvSpPr>
            <p:cNvPr name="TextBox 34" id="34"/>
            <p:cNvSpPr txBox="true"/>
            <p:nvPr/>
          </p:nvSpPr>
          <p:spPr>
            <a:xfrm>
              <a:off x="0" y="-57150"/>
              <a:ext cx="2040125" cy="463550"/>
            </a:xfrm>
            <a:prstGeom prst="rect">
              <a:avLst/>
            </a:prstGeom>
          </p:spPr>
          <p:txBody>
            <a:bodyPr anchor="ctr" rtlCol="false" tIns="50800" lIns="50800" bIns="50800" rIns="50800"/>
            <a:lstStyle/>
            <a:p>
              <a:pPr algn="ctr">
                <a:lnSpc>
                  <a:spcPts val="2659"/>
                </a:lnSpc>
              </a:pPr>
            </a:p>
          </p:txBody>
        </p:sp>
      </p:grpSp>
      <p:sp>
        <p:nvSpPr>
          <p:cNvPr name="TextBox 35" id="35"/>
          <p:cNvSpPr txBox="true"/>
          <p:nvPr/>
        </p:nvSpPr>
        <p:spPr>
          <a:xfrm rot="0">
            <a:off x="3680108" y="3581021"/>
            <a:ext cx="3569427" cy="687705"/>
          </a:xfrm>
          <a:prstGeom prst="rect">
            <a:avLst/>
          </a:prstGeom>
        </p:spPr>
        <p:txBody>
          <a:bodyPr anchor="t" rtlCol="false" tIns="0" lIns="0" bIns="0" rIns="0">
            <a:spAutoFit/>
          </a:bodyPr>
          <a:lstStyle/>
          <a:p>
            <a:pPr algn="ctr">
              <a:lnSpc>
                <a:spcPts val="5084"/>
              </a:lnSpc>
            </a:pPr>
            <a:r>
              <a:rPr lang="en-US" b="true" sz="4500" spc="-189">
                <a:solidFill>
                  <a:srgbClr val="FFFFFF"/>
                </a:solidFill>
                <a:latin typeface="Poppins Bold"/>
                <a:ea typeface="Poppins Bold"/>
                <a:cs typeface="Poppins Bold"/>
                <a:sym typeface="Poppins Bold"/>
              </a:rPr>
              <a:t>JUNE 2026</a:t>
            </a:r>
          </a:p>
        </p:txBody>
      </p:sp>
      <p:sp>
        <p:nvSpPr>
          <p:cNvPr name="TextBox 36" id="36"/>
          <p:cNvSpPr txBox="true"/>
          <p:nvPr/>
        </p:nvSpPr>
        <p:spPr>
          <a:xfrm rot="0">
            <a:off x="10484629" y="9143986"/>
            <a:ext cx="5981105" cy="297179"/>
          </a:xfrm>
          <a:prstGeom prst="rect">
            <a:avLst/>
          </a:prstGeom>
        </p:spPr>
        <p:txBody>
          <a:bodyPr anchor="t" rtlCol="false" tIns="0" lIns="0" bIns="0" rIns="0">
            <a:spAutoFit/>
          </a:bodyPr>
          <a:lstStyle/>
          <a:p>
            <a:pPr algn="ctr">
              <a:lnSpc>
                <a:spcPts val="2520"/>
              </a:lnSpc>
            </a:pPr>
            <a:r>
              <a:rPr lang="en-US" sz="1800">
                <a:solidFill>
                  <a:srgbClr val="000000"/>
                </a:solidFill>
                <a:latin typeface="Canva Sans"/>
                <a:ea typeface="Canva Sans"/>
                <a:cs typeface="Canva Sans"/>
                <a:sym typeface="Canva Sans"/>
              </a:rPr>
              <a:t>KEERTENNAH DEVI A/P PONNAMBALAM (MEC254026)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51639" y="3574674"/>
            <a:ext cx="3176857" cy="317685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1454" r="0" b="-32040"/>
              </a:stretch>
            </a:blipFill>
            <a:ln w="104775" cap="sq">
              <a:solidFill>
                <a:srgbClr val="02524B"/>
              </a:solidFill>
              <a:prstDash val="solid"/>
              <a:miter/>
            </a:ln>
          </p:spPr>
        </p:sp>
      </p:grpSp>
      <p:grpSp>
        <p:nvGrpSpPr>
          <p:cNvPr name="Group 4" id="4"/>
          <p:cNvGrpSpPr/>
          <p:nvPr/>
        </p:nvGrpSpPr>
        <p:grpSpPr>
          <a:xfrm rot="0">
            <a:off x="7634077" y="3695725"/>
            <a:ext cx="3176857" cy="3176857"/>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50119" b="0"/>
              </a:stretch>
            </a:blipFill>
            <a:ln w="104775" cap="sq">
              <a:solidFill>
                <a:srgbClr val="02524B"/>
              </a:solidFill>
              <a:prstDash val="solid"/>
              <a:miter/>
            </a:ln>
          </p:spPr>
        </p:sp>
      </p:grpSp>
      <p:grpSp>
        <p:nvGrpSpPr>
          <p:cNvPr name="Group 6" id="6"/>
          <p:cNvGrpSpPr/>
          <p:nvPr/>
        </p:nvGrpSpPr>
        <p:grpSpPr>
          <a:xfrm rot="0">
            <a:off x="11836538" y="3695725"/>
            <a:ext cx="3176857" cy="317685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0" t="-11618" r="0" b="-38381"/>
              </a:stretch>
            </a:blipFill>
            <a:ln w="104775" cap="sq">
              <a:solidFill>
                <a:srgbClr val="02524B"/>
              </a:solidFill>
              <a:prstDash val="solid"/>
              <a:miter/>
            </a:ln>
          </p:spPr>
        </p:sp>
      </p:grpSp>
      <p:grpSp>
        <p:nvGrpSpPr>
          <p:cNvPr name="Group 8" id="8"/>
          <p:cNvGrpSpPr/>
          <p:nvPr/>
        </p:nvGrpSpPr>
        <p:grpSpPr>
          <a:xfrm rot="0">
            <a:off x="2895105" y="7691314"/>
            <a:ext cx="4173396" cy="1917910"/>
            <a:chOff x="0" y="0"/>
            <a:chExt cx="702669" cy="322916"/>
          </a:xfrm>
        </p:grpSpPr>
        <p:sp>
          <p:nvSpPr>
            <p:cNvPr name="Freeform 9" id="9"/>
            <p:cNvSpPr/>
            <p:nvPr/>
          </p:nvSpPr>
          <p:spPr>
            <a:xfrm flipH="false" flipV="false" rot="0">
              <a:off x="0" y="0"/>
              <a:ext cx="702669" cy="322916"/>
            </a:xfrm>
            <a:custGeom>
              <a:avLst/>
              <a:gdLst/>
              <a:ahLst/>
              <a:cxnLst/>
              <a:rect r="r" b="b" t="t" l="l"/>
              <a:pathLst>
                <a:path h="322916" w="702669">
                  <a:moveTo>
                    <a:pt x="23188" y="0"/>
                  </a:moveTo>
                  <a:lnTo>
                    <a:pt x="679481" y="0"/>
                  </a:lnTo>
                  <a:cubicBezTo>
                    <a:pt x="685631" y="0"/>
                    <a:pt x="691529" y="2443"/>
                    <a:pt x="695877" y="6792"/>
                  </a:cubicBezTo>
                  <a:cubicBezTo>
                    <a:pt x="700226" y="11140"/>
                    <a:pt x="702669" y="17038"/>
                    <a:pt x="702669" y="23188"/>
                  </a:cubicBezTo>
                  <a:lnTo>
                    <a:pt x="702669" y="299728"/>
                  </a:lnTo>
                  <a:cubicBezTo>
                    <a:pt x="702669" y="305878"/>
                    <a:pt x="700226" y="311776"/>
                    <a:pt x="695877" y="316124"/>
                  </a:cubicBezTo>
                  <a:cubicBezTo>
                    <a:pt x="691529" y="320473"/>
                    <a:pt x="685631" y="322916"/>
                    <a:pt x="679481" y="322916"/>
                  </a:cubicBezTo>
                  <a:lnTo>
                    <a:pt x="23188" y="322916"/>
                  </a:lnTo>
                  <a:cubicBezTo>
                    <a:pt x="17038" y="322916"/>
                    <a:pt x="11140" y="320473"/>
                    <a:pt x="6792" y="316124"/>
                  </a:cubicBezTo>
                  <a:cubicBezTo>
                    <a:pt x="2443" y="311776"/>
                    <a:pt x="0" y="305878"/>
                    <a:pt x="0" y="299728"/>
                  </a:cubicBezTo>
                  <a:lnTo>
                    <a:pt x="0" y="23188"/>
                  </a:lnTo>
                  <a:cubicBezTo>
                    <a:pt x="0" y="17038"/>
                    <a:pt x="2443" y="11140"/>
                    <a:pt x="6792" y="6792"/>
                  </a:cubicBezTo>
                  <a:cubicBezTo>
                    <a:pt x="11140" y="2443"/>
                    <a:pt x="17038" y="0"/>
                    <a:pt x="23188" y="0"/>
                  </a:cubicBezTo>
                  <a:close/>
                </a:path>
              </a:pathLst>
            </a:custGeom>
            <a:solidFill>
              <a:srgbClr val="7BCDC6"/>
            </a:solidFill>
          </p:spPr>
        </p:sp>
        <p:sp>
          <p:nvSpPr>
            <p:cNvPr name="TextBox 10" id="10"/>
            <p:cNvSpPr txBox="true"/>
            <p:nvPr/>
          </p:nvSpPr>
          <p:spPr>
            <a:xfrm>
              <a:off x="0" y="-38100"/>
              <a:ext cx="702669" cy="361016"/>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3262039" y="7226781"/>
            <a:ext cx="3482564" cy="726875"/>
            <a:chOff x="0" y="0"/>
            <a:chExt cx="586355" cy="122383"/>
          </a:xfrm>
        </p:grpSpPr>
        <p:sp>
          <p:nvSpPr>
            <p:cNvPr name="Freeform 12" id="12"/>
            <p:cNvSpPr/>
            <p:nvPr/>
          </p:nvSpPr>
          <p:spPr>
            <a:xfrm flipH="false" flipV="false" rot="0">
              <a:off x="0" y="0"/>
              <a:ext cx="586355" cy="122383"/>
            </a:xfrm>
            <a:custGeom>
              <a:avLst/>
              <a:gdLst/>
              <a:ahLst/>
              <a:cxnLst/>
              <a:rect r="r" b="b" t="t" l="l"/>
              <a:pathLst>
                <a:path h="122383" w="586355">
                  <a:moveTo>
                    <a:pt x="61191" y="0"/>
                  </a:moveTo>
                  <a:lnTo>
                    <a:pt x="525163" y="0"/>
                  </a:lnTo>
                  <a:cubicBezTo>
                    <a:pt x="541392" y="0"/>
                    <a:pt x="556957" y="6447"/>
                    <a:pt x="568432" y="17923"/>
                  </a:cubicBezTo>
                  <a:cubicBezTo>
                    <a:pt x="579908" y="29398"/>
                    <a:pt x="586355" y="44962"/>
                    <a:pt x="586355" y="61191"/>
                  </a:cubicBezTo>
                  <a:lnTo>
                    <a:pt x="586355" y="61191"/>
                  </a:lnTo>
                  <a:cubicBezTo>
                    <a:pt x="586355" y="77420"/>
                    <a:pt x="579908" y="92985"/>
                    <a:pt x="568432" y="104460"/>
                  </a:cubicBezTo>
                  <a:cubicBezTo>
                    <a:pt x="556957" y="115936"/>
                    <a:pt x="541392" y="122383"/>
                    <a:pt x="525163" y="122383"/>
                  </a:cubicBezTo>
                  <a:lnTo>
                    <a:pt x="61191" y="122383"/>
                  </a:lnTo>
                  <a:cubicBezTo>
                    <a:pt x="44962" y="122383"/>
                    <a:pt x="29398" y="115936"/>
                    <a:pt x="17923" y="104460"/>
                  </a:cubicBezTo>
                  <a:cubicBezTo>
                    <a:pt x="6447" y="92985"/>
                    <a:pt x="0" y="77420"/>
                    <a:pt x="0" y="61191"/>
                  </a:cubicBezTo>
                  <a:lnTo>
                    <a:pt x="0" y="61191"/>
                  </a:lnTo>
                  <a:cubicBezTo>
                    <a:pt x="0" y="44962"/>
                    <a:pt x="6447" y="29398"/>
                    <a:pt x="17923" y="17923"/>
                  </a:cubicBezTo>
                  <a:cubicBezTo>
                    <a:pt x="29398" y="6447"/>
                    <a:pt x="44962" y="0"/>
                    <a:pt x="61191" y="0"/>
                  </a:cubicBezTo>
                  <a:close/>
                </a:path>
              </a:pathLst>
            </a:custGeom>
            <a:solidFill>
              <a:srgbClr val="02524B"/>
            </a:solidFill>
          </p:spPr>
        </p:sp>
        <p:sp>
          <p:nvSpPr>
            <p:cNvPr name="TextBox 13" id="13"/>
            <p:cNvSpPr txBox="true"/>
            <p:nvPr/>
          </p:nvSpPr>
          <p:spPr>
            <a:xfrm>
              <a:off x="0" y="-38100"/>
              <a:ext cx="586355" cy="160483"/>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1375117" y="7691314"/>
            <a:ext cx="4173396" cy="1917910"/>
            <a:chOff x="0" y="0"/>
            <a:chExt cx="702669" cy="322916"/>
          </a:xfrm>
        </p:grpSpPr>
        <p:sp>
          <p:nvSpPr>
            <p:cNvPr name="Freeform 15" id="15"/>
            <p:cNvSpPr/>
            <p:nvPr/>
          </p:nvSpPr>
          <p:spPr>
            <a:xfrm flipH="false" flipV="false" rot="0">
              <a:off x="0" y="0"/>
              <a:ext cx="702669" cy="322916"/>
            </a:xfrm>
            <a:custGeom>
              <a:avLst/>
              <a:gdLst/>
              <a:ahLst/>
              <a:cxnLst/>
              <a:rect r="r" b="b" t="t" l="l"/>
              <a:pathLst>
                <a:path h="322916" w="702669">
                  <a:moveTo>
                    <a:pt x="23188" y="0"/>
                  </a:moveTo>
                  <a:lnTo>
                    <a:pt x="679481" y="0"/>
                  </a:lnTo>
                  <a:cubicBezTo>
                    <a:pt x="685631" y="0"/>
                    <a:pt x="691529" y="2443"/>
                    <a:pt x="695877" y="6792"/>
                  </a:cubicBezTo>
                  <a:cubicBezTo>
                    <a:pt x="700226" y="11140"/>
                    <a:pt x="702669" y="17038"/>
                    <a:pt x="702669" y="23188"/>
                  </a:cubicBezTo>
                  <a:lnTo>
                    <a:pt x="702669" y="299728"/>
                  </a:lnTo>
                  <a:cubicBezTo>
                    <a:pt x="702669" y="305878"/>
                    <a:pt x="700226" y="311776"/>
                    <a:pt x="695877" y="316124"/>
                  </a:cubicBezTo>
                  <a:cubicBezTo>
                    <a:pt x="691529" y="320473"/>
                    <a:pt x="685631" y="322916"/>
                    <a:pt x="679481" y="322916"/>
                  </a:cubicBezTo>
                  <a:lnTo>
                    <a:pt x="23188" y="322916"/>
                  </a:lnTo>
                  <a:cubicBezTo>
                    <a:pt x="17038" y="322916"/>
                    <a:pt x="11140" y="320473"/>
                    <a:pt x="6792" y="316124"/>
                  </a:cubicBezTo>
                  <a:cubicBezTo>
                    <a:pt x="2443" y="311776"/>
                    <a:pt x="0" y="305878"/>
                    <a:pt x="0" y="299728"/>
                  </a:cubicBezTo>
                  <a:lnTo>
                    <a:pt x="0" y="23188"/>
                  </a:lnTo>
                  <a:cubicBezTo>
                    <a:pt x="0" y="17038"/>
                    <a:pt x="2443" y="11140"/>
                    <a:pt x="6792" y="6792"/>
                  </a:cubicBezTo>
                  <a:cubicBezTo>
                    <a:pt x="11140" y="2443"/>
                    <a:pt x="17038" y="0"/>
                    <a:pt x="23188" y="0"/>
                  </a:cubicBezTo>
                  <a:close/>
                </a:path>
              </a:pathLst>
            </a:custGeom>
            <a:solidFill>
              <a:srgbClr val="7BCDC6"/>
            </a:solidFill>
          </p:spPr>
        </p:sp>
        <p:sp>
          <p:nvSpPr>
            <p:cNvPr name="TextBox 16" id="16"/>
            <p:cNvSpPr txBox="true"/>
            <p:nvPr/>
          </p:nvSpPr>
          <p:spPr>
            <a:xfrm>
              <a:off x="0" y="-38100"/>
              <a:ext cx="702669" cy="361016"/>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1826703" y="8058612"/>
            <a:ext cx="3466780" cy="1784520"/>
          </a:xfrm>
          <a:prstGeom prst="rect">
            <a:avLst/>
          </a:prstGeom>
        </p:spPr>
        <p:txBody>
          <a:bodyPr anchor="t" rtlCol="false" tIns="0" lIns="0" bIns="0" rIns="0">
            <a:spAutoFit/>
          </a:bodyPr>
          <a:lstStyle/>
          <a:p>
            <a:pPr algn="ctr">
              <a:lnSpc>
                <a:spcPts val="2399"/>
              </a:lnSpc>
            </a:pPr>
            <a:r>
              <a:rPr lang="en-US" sz="1966" b="true">
                <a:solidFill>
                  <a:srgbClr val="000000"/>
                </a:solidFill>
                <a:latin typeface="Roboto Bold"/>
                <a:ea typeface="Roboto Bold"/>
                <a:cs typeface="Roboto Bold"/>
                <a:sym typeface="Roboto Bold"/>
              </a:rPr>
              <a:t>Compliance Auditor</a:t>
            </a:r>
          </a:p>
          <a:p>
            <a:pPr algn="ctr">
              <a:lnSpc>
                <a:spcPts val="2399"/>
              </a:lnSpc>
            </a:pPr>
            <a:r>
              <a:rPr lang="en-US" sz="1966">
                <a:solidFill>
                  <a:srgbClr val="000000"/>
                </a:solidFill>
                <a:latin typeface="Roboto"/>
                <a:ea typeface="Roboto"/>
                <a:cs typeface="Roboto"/>
                <a:sym typeface="Roboto"/>
              </a:rPr>
              <a:t>Review of supplier contracts, risk assessment frameworks, policy documentation and operational records</a:t>
            </a:r>
          </a:p>
          <a:p>
            <a:pPr algn="ctr">
              <a:lnSpc>
                <a:spcPts val="2399"/>
              </a:lnSpc>
            </a:pPr>
          </a:p>
        </p:txBody>
      </p:sp>
      <p:grpSp>
        <p:nvGrpSpPr>
          <p:cNvPr name="Group 18" id="18"/>
          <p:cNvGrpSpPr/>
          <p:nvPr/>
        </p:nvGrpSpPr>
        <p:grpSpPr>
          <a:xfrm rot="0">
            <a:off x="7124600" y="7691314"/>
            <a:ext cx="4173396" cy="1917910"/>
            <a:chOff x="0" y="0"/>
            <a:chExt cx="702669" cy="322916"/>
          </a:xfrm>
        </p:grpSpPr>
        <p:sp>
          <p:nvSpPr>
            <p:cNvPr name="Freeform 19" id="19"/>
            <p:cNvSpPr/>
            <p:nvPr/>
          </p:nvSpPr>
          <p:spPr>
            <a:xfrm flipH="false" flipV="false" rot="0">
              <a:off x="0" y="0"/>
              <a:ext cx="702669" cy="322916"/>
            </a:xfrm>
            <a:custGeom>
              <a:avLst/>
              <a:gdLst/>
              <a:ahLst/>
              <a:cxnLst/>
              <a:rect r="r" b="b" t="t" l="l"/>
              <a:pathLst>
                <a:path h="322916" w="702669">
                  <a:moveTo>
                    <a:pt x="23188" y="0"/>
                  </a:moveTo>
                  <a:lnTo>
                    <a:pt x="679481" y="0"/>
                  </a:lnTo>
                  <a:cubicBezTo>
                    <a:pt x="685631" y="0"/>
                    <a:pt x="691529" y="2443"/>
                    <a:pt x="695877" y="6792"/>
                  </a:cubicBezTo>
                  <a:cubicBezTo>
                    <a:pt x="700226" y="11140"/>
                    <a:pt x="702669" y="17038"/>
                    <a:pt x="702669" y="23188"/>
                  </a:cubicBezTo>
                  <a:lnTo>
                    <a:pt x="702669" y="299728"/>
                  </a:lnTo>
                  <a:cubicBezTo>
                    <a:pt x="702669" y="305878"/>
                    <a:pt x="700226" y="311776"/>
                    <a:pt x="695877" y="316124"/>
                  </a:cubicBezTo>
                  <a:cubicBezTo>
                    <a:pt x="691529" y="320473"/>
                    <a:pt x="685631" y="322916"/>
                    <a:pt x="679481" y="322916"/>
                  </a:cubicBezTo>
                  <a:lnTo>
                    <a:pt x="23188" y="322916"/>
                  </a:lnTo>
                  <a:cubicBezTo>
                    <a:pt x="17038" y="322916"/>
                    <a:pt x="11140" y="320473"/>
                    <a:pt x="6792" y="316124"/>
                  </a:cubicBezTo>
                  <a:cubicBezTo>
                    <a:pt x="2443" y="311776"/>
                    <a:pt x="0" y="305878"/>
                    <a:pt x="0" y="299728"/>
                  </a:cubicBezTo>
                  <a:lnTo>
                    <a:pt x="0" y="23188"/>
                  </a:lnTo>
                  <a:cubicBezTo>
                    <a:pt x="0" y="17038"/>
                    <a:pt x="2443" y="11140"/>
                    <a:pt x="6792" y="6792"/>
                  </a:cubicBezTo>
                  <a:cubicBezTo>
                    <a:pt x="11140" y="2443"/>
                    <a:pt x="17038" y="0"/>
                    <a:pt x="23188" y="0"/>
                  </a:cubicBezTo>
                  <a:close/>
                </a:path>
              </a:pathLst>
            </a:custGeom>
            <a:solidFill>
              <a:srgbClr val="7BCDC6"/>
            </a:solidFill>
          </p:spPr>
        </p:sp>
        <p:sp>
          <p:nvSpPr>
            <p:cNvPr name="TextBox 20" id="20"/>
            <p:cNvSpPr txBox="true"/>
            <p:nvPr/>
          </p:nvSpPr>
          <p:spPr>
            <a:xfrm>
              <a:off x="0" y="-38100"/>
              <a:ext cx="702669" cy="361016"/>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7491535" y="7226781"/>
            <a:ext cx="3482564" cy="726875"/>
            <a:chOff x="0" y="0"/>
            <a:chExt cx="586355" cy="122383"/>
          </a:xfrm>
        </p:grpSpPr>
        <p:sp>
          <p:nvSpPr>
            <p:cNvPr name="Freeform 22" id="22"/>
            <p:cNvSpPr/>
            <p:nvPr/>
          </p:nvSpPr>
          <p:spPr>
            <a:xfrm flipH="false" flipV="false" rot="0">
              <a:off x="0" y="0"/>
              <a:ext cx="586355" cy="122383"/>
            </a:xfrm>
            <a:custGeom>
              <a:avLst/>
              <a:gdLst/>
              <a:ahLst/>
              <a:cxnLst/>
              <a:rect r="r" b="b" t="t" l="l"/>
              <a:pathLst>
                <a:path h="122383" w="586355">
                  <a:moveTo>
                    <a:pt x="61191" y="0"/>
                  </a:moveTo>
                  <a:lnTo>
                    <a:pt x="525163" y="0"/>
                  </a:lnTo>
                  <a:cubicBezTo>
                    <a:pt x="541392" y="0"/>
                    <a:pt x="556957" y="6447"/>
                    <a:pt x="568432" y="17923"/>
                  </a:cubicBezTo>
                  <a:cubicBezTo>
                    <a:pt x="579908" y="29398"/>
                    <a:pt x="586355" y="44962"/>
                    <a:pt x="586355" y="61191"/>
                  </a:cubicBezTo>
                  <a:lnTo>
                    <a:pt x="586355" y="61191"/>
                  </a:lnTo>
                  <a:cubicBezTo>
                    <a:pt x="586355" y="77420"/>
                    <a:pt x="579908" y="92985"/>
                    <a:pt x="568432" y="104460"/>
                  </a:cubicBezTo>
                  <a:cubicBezTo>
                    <a:pt x="556957" y="115936"/>
                    <a:pt x="541392" y="122383"/>
                    <a:pt x="525163" y="122383"/>
                  </a:cubicBezTo>
                  <a:lnTo>
                    <a:pt x="61191" y="122383"/>
                  </a:lnTo>
                  <a:cubicBezTo>
                    <a:pt x="44962" y="122383"/>
                    <a:pt x="29398" y="115936"/>
                    <a:pt x="17923" y="104460"/>
                  </a:cubicBezTo>
                  <a:cubicBezTo>
                    <a:pt x="6447" y="92985"/>
                    <a:pt x="0" y="77420"/>
                    <a:pt x="0" y="61191"/>
                  </a:cubicBezTo>
                  <a:lnTo>
                    <a:pt x="0" y="61191"/>
                  </a:lnTo>
                  <a:cubicBezTo>
                    <a:pt x="0" y="44962"/>
                    <a:pt x="6447" y="29398"/>
                    <a:pt x="17923" y="17923"/>
                  </a:cubicBezTo>
                  <a:cubicBezTo>
                    <a:pt x="29398" y="6447"/>
                    <a:pt x="44962" y="0"/>
                    <a:pt x="61191" y="0"/>
                  </a:cubicBezTo>
                  <a:close/>
                </a:path>
              </a:pathLst>
            </a:custGeom>
            <a:solidFill>
              <a:srgbClr val="02524B"/>
            </a:solidFill>
          </p:spPr>
        </p:sp>
        <p:sp>
          <p:nvSpPr>
            <p:cNvPr name="TextBox 23" id="23"/>
            <p:cNvSpPr txBox="true"/>
            <p:nvPr/>
          </p:nvSpPr>
          <p:spPr>
            <a:xfrm>
              <a:off x="0" y="-38100"/>
              <a:ext cx="586355" cy="160483"/>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1721030" y="7226781"/>
            <a:ext cx="3482564" cy="726875"/>
            <a:chOff x="0" y="0"/>
            <a:chExt cx="586355" cy="122383"/>
          </a:xfrm>
        </p:grpSpPr>
        <p:sp>
          <p:nvSpPr>
            <p:cNvPr name="Freeform 25" id="25"/>
            <p:cNvSpPr/>
            <p:nvPr/>
          </p:nvSpPr>
          <p:spPr>
            <a:xfrm flipH="false" flipV="false" rot="0">
              <a:off x="0" y="0"/>
              <a:ext cx="586355" cy="122383"/>
            </a:xfrm>
            <a:custGeom>
              <a:avLst/>
              <a:gdLst/>
              <a:ahLst/>
              <a:cxnLst/>
              <a:rect r="r" b="b" t="t" l="l"/>
              <a:pathLst>
                <a:path h="122383" w="586355">
                  <a:moveTo>
                    <a:pt x="61191" y="0"/>
                  </a:moveTo>
                  <a:lnTo>
                    <a:pt x="525163" y="0"/>
                  </a:lnTo>
                  <a:cubicBezTo>
                    <a:pt x="541392" y="0"/>
                    <a:pt x="556957" y="6447"/>
                    <a:pt x="568432" y="17923"/>
                  </a:cubicBezTo>
                  <a:cubicBezTo>
                    <a:pt x="579908" y="29398"/>
                    <a:pt x="586355" y="44962"/>
                    <a:pt x="586355" y="61191"/>
                  </a:cubicBezTo>
                  <a:lnTo>
                    <a:pt x="586355" y="61191"/>
                  </a:lnTo>
                  <a:cubicBezTo>
                    <a:pt x="586355" y="77420"/>
                    <a:pt x="579908" y="92985"/>
                    <a:pt x="568432" y="104460"/>
                  </a:cubicBezTo>
                  <a:cubicBezTo>
                    <a:pt x="556957" y="115936"/>
                    <a:pt x="541392" y="122383"/>
                    <a:pt x="525163" y="122383"/>
                  </a:cubicBezTo>
                  <a:lnTo>
                    <a:pt x="61191" y="122383"/>
                  </a:lnTo>
                  <a:cubicBezTo>
                    <a:pt x="44962" y="122383"/>
                    <a:pt x="29398" y="115936"/>
                    <a:pt x="17923" y="104460"/>
                  </a:cubicBezTo>
                  <a:cubicBezTo>
                    <a:pt x="6447" y="92985"/>
                    <a:pt x="0" y="77420"/>
                    <a:pt x="0" y="61191"/>
                  </a:cubicBezTo>
                  <a:lnTo>
                    <a:pt x="0" y="61191"/>
                  </a:lnTo>
                  <a:cubicBezTo>
                    <a:pt x="0" y="44962"/>
                    <a:pt x="6447" y="29398"/>
                    <a:pt x="17923" y="17923"/>
                  </a:cubicBezTo>
                  <a:cubicBezTo>
                    <a:pt x="29398" y="6447"/>
                    <a:pt x="44962" y="0"/>
                    <a:pt x="61191" y="0"/>
                  </a:cubicBezTo>
                  <a:close/>
                </a:path>
              </a:pathLst>
            </a:custGeom>
            <a:solidFill>
              <a:srgbClr val="02524B"/>
            </a:solidFill>
          </p:spPr>
        </p:sp>
        <p:sp>
          <p:nvSpPr>
            <p:cNvPr name="TextBox 26" id="26"/>
            <p:cNvSpPr txBox="true"/>
            <p:nvPr/>
          </p:nvSpPr>
          <p:spPr>
            <a:xfrm>
              <a:off x="0" y="-38100"/>
              <a:ext cx="586355" cy="160483"/>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140395" y="1028700"/>
            <a:ext cx="18568789" cy="2203074"/>
            <a:chOff x="0" y="0"/>
            <a:chExt cx="4890545" cy="580234"/>
          </a:xfrm>
        </p:grpSpPr>
        <p:sp>
          <p:nvSpPr>
            <p:cNvPr name="Freeform 28" id="28"/>
            <p:cNvSpPr/>
            <p:nvPr/>
          </p:nvSpPr>
          <p:spPr>
            <a:xfrm flipH="false" flipV="false" rot="0">
              <a:off x="0" y="0"/>
              <a:ext cx="4890545" cy="580234"/>
            </a:xfrm>
            <a:custGeom>
              <a:avLst/>
              <a:gdLst/>
              <a:ahLst/>
              <a:cxnLst/>
              <a:rect r="r" b="b" t="t" l="l"/>
              <a:pathLst>
                <a:path h="580234" w="4890545">
                  <a:moveTo>
                    <a:pt x="0" y="0"/>
                  </a:moveTo>
                  <a:lnTo>
                    <a:pt x="4890545" y="0"/>
                  </a:lnTo>
                  <a:lnTo>
                    <a:pt x="4890545" y="580234"/>
                  </a:lnTo>
                  <a:lnTo>
                    <a:pt x="0" y="580234"/>
                  </a:lnTo>
                  <a:close/>
                </a:path>
              </a:pathLst>
            </a:custGeom>
            <a:solidFill>
              <a:srgbClr val="02524B"/>
            </a:solidFill>
            <a:ln w="85725" cap="sq">
              <a:solidFill>
                <a:srgbClr val="FFFFFF"/>
              </a:solidFill>
              <a:prstDash val="solid"/>
              <a:miter/>
            </a:ln>
          </p:spPr>
        </p:sp>
        <p:sp>
          <p:nvSpPr>
            <p:cNvPr name="TextBox 29" id="29"/>
            <p:cNvSpPr txBox="true"/>
            <p:nvPr/>
          </p:nvSpPr>
          <p:spPr>
            <a:xfrm>
              <a:off x="0" y="-38100"/>
              <a:ext cx="4890545" cy="618334"/>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620430" y="-9086"/>
            <a:ext cx="3240860" cy="3240860"/>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2E847D"/>
            </a:solidFill>
            <a:ln cap="sq">
              <a:noFill/>
              <a:prstDash val="dash"/>
              <a:miter/>
            </a:ln>
          </p:spPr>
        </p:sp>
        <p:sp>
          <p:nvSpPr>
            <p:cNvPr name="TextBox 32" id="32"/>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468030" y="143314"/>
            <a:ext cx="2887691" cy="2887691"/>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ln w="38100" cap="sq">
              <a:solidFill>
                <a:srgbClr val="FFFFFF"/>
              </a:solidFill>
              <a:prstDash val="dash"/>
              <a:miter/>
            </a:ln>
          </p:spPr>
        </p:sp>
        <p:sp>
          <p:nvSpPr>
            <p:cNvPr name="TextBox 35" id="35"/>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821199" y="1392114"/>
            <a:ext cx="2849899" cy="2849899"/>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2E847D"/>
            </a:solidFill>
            <a:ln cap="sq">
              <a:noFill/>
              <a:prstDash val="dash"/>
              <a:miter/>
            </a:ln>
          </p:spPr>
        </p:sp>
        <p:sp>
          <p:nvSpPr>
            <p:cNvPr name="TextBox 38" id="38"/>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1687184" y="1526129"/>
            <a:ext cx="2539335" cy="2539335"/>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ln w="38100" cap="sq">
              <a:solidFill>
                <a:srgbClr val="FFFFFF"/>
              </a:solidFill>
              <a:prstDash val="dash"/>
              <a:miter/>
            </a:ln>
          </p:spPr>
        </p:sp>
        <p:sp>
          <p:nvSpPr>
            <p:cNvPr name="TextBox 41" id="41"/>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5400000">
            <a:off x="16502361" y="9111871"/>
            <a:ext cx="3240860" cy="3240860"/>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2E847D"/>
            </a:solidFill>
            <a:ln cap="sq">
              <a:noFill/>
              <a:prstDash val="dash"/>
              <a:miter/>
            </a:ln>
          </p:spPr>
        </p:sp>
        <p:sp>
          <p:nvSpPr>
            <p:cNvPr name="TextBox 44" id="44"/>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5400000">
            <a:off x="16703130" y="9264271"/>
            <a:ext cx="2887691" cy="2887691"/>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ln w="38100" cap="sq">
              <a:solidFill>
                <a:srgbClr val="FFFFFF"/>
              </a:solidFill>
              <a:prstDash val="dash"/>
              <a:miter/>
            </a:ln>
          </p:spPr>
        </p:sp>
        <p:sp>
          <p:nvSpPr>
            <p:cNvPr name="TextBox 47" id="47"/>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5400000">
            <a:off x="15492122" y="8911102"/>
            <a:ext cx="2849899" cy="2849899"/>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2E847D"/>
            </a:solidFill>
            <a:ln cap="sq">
              <a:noFill/>
              <a:prstDash val="dash"/>
              <a:miter/>
            </a:ln>
          </p:spPr>
        </p:sp>
        <p:sp>
          <p:nvSpPr>
            <p:cNvPr name="TextBox 50" id="50"/>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grpSp>
        <p:nvGrpSpPr>
          <p:cNvPr name="Group 51" id="51"/>
          <p:cNvGrpSpPr/>
          <p:nvPr/>
        </p:nvGrpSpPr>
        <p:grpSpPr>
          <a:xfrm rot="5400000">
            <a:off x="15668672" y="9045117"/>
            <a:ext cx="2539335" cy="2539335"/>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ln w="38100" cap="sq">
              <a:solidFill>
                <a:srgbClr val="FFFFFF"/>
              </a:solidFill>
              <a:prstDash val="dash"/>
              <a:miter/>
            </a:ln>
          </p:spPr>
        </p:sp>
        <p:sp>
          <p:nvSpPr>
            <p:cNvPr name="TextBox 53" id="53"/>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sp>
        <p:nvSpPr>
          <p:cNvPr name="Freeform 54" id="54"/>
          <p:cNvSpPr/>
          <p:nvPr/>
        </p:nvSpPr>
        <p:spPr>
          <a:xfrm flipH="false" flipV="false" rot="0">
            <a:off x="17329225" y="235134"/>
            <a:ext cx="793566" cy="793566"/>
          </a:xfrm>
          <a:custGeom>
            <a:avLst/>
            <a:gdLst/>
            <a:ahLst/>
            <a:cxnLst/>
            <a:rect r="r" b="b" t="t" l="l"/>
            <a:pathLst>
              <a:path h="793566" w="793566">
                <a:moveTo>
                  <a:pt x="0" y="0"/>
                </a:moveTo>
                <a:lnTo>
                  <a:pt x="793566" y="0"/>
                </a:lnTo>
                <a:lnTo>
                  <a:pt x="793566" y="793566"/>
                </a:lnTo>
                <a:lnTo>
                  <a:pt x="0" y="793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5" id="55"/>
          <p:cNvSpPr txBox="true"/>
          <p:nvPr/>
        </p:nvSpPr>
        <p:spPr>
          <a:xfrm rot="0">
            <a:off x="7491535" y="7963898"/>
            <a:ext cx="3554130" cy="1842728"/>
          </a:xfrm>
          <a:prstGeom prst="rect">
            <a:avLst/>
          </a:prstGeom>
        </p:spPr>
        <p:txBody>
          <a:bodyPr anchor="t" rtlCol="false" tIns="0" lIns="0" bIns="0" rIns="0">
            <a:spAutoFit/>
          </a:bodyPr>
          <a:lstStyle/>
          <a:p>
            <a:pPr algn="ctr">
              <a:lnSpc>
                <a:spcPts val="2460"/>
              </a:lnSpc>
            </a:pPr>
            <a:r>
              <a:rPr lang="en-US" sz="2016" b="true">
                <a:solidFill>
                  <a:srgbClr val="000000"/>
                </a:solidFill>
                <a:latin typeface="Roboto Bold"/>
                <a:ea typeface="Roboto Bold"/>
                <a:cs typeface="Roboto Bold"/>
                <a:sym typeface="Roboto Bold"/>
              </a:rPr>
              <a:t>Technical Auditor</a:t>
            </a:r>
          </a:p>
          <a:p>
            <a:pPr algn="ctr">
              <a:lnSpc>
                <a:spcPts val="2460"/>
              </a:lnSpc>
            </a:pPr>
            <a:r>
              <a:rPr lang="en-US" sz="2016">
                <a:solidFill>
                  <a:srgbClr val="000000"/>
                </a:solidFill>
                <a:latin typeface="Roboto"/>
                <a:ea typeface="Roboto"/>
                <a:cs typeface="Roboto"/>
                <a:sym typeface="Roboto"/>
              </a:rPr>
              <a:t>Evaluation of Cloud infrastructure security, mobile/web app vulnerabilities and technical access controls</a:t>
            </a:r>
          </a:p>
          <a:p>
            <a:pPr algn="ctr">
              <a:lnSpc>
                <a:spcPts val="2460"/>
              </a:lnSpc>
            </a:pPr>
          </a:p>
        </p:txBody>
      </p:sp>
      <p:sp>
        <p:nvSpPr>
          <p:cNvPr name="TextBox 56" id="56"/>
          <p:cNvSpPr txBox="true"/>
          <p:nvPr/>
        </p:nvSpPr>
        <p:spPr>
          <a:xfrm rot="0">
            <a:off x="5501552" y="1832511"/>
            <a:ext cx="7284896" cy="702785"/>
          </a:xfrm>
          <a:prstGeom prst="rect">
            <a:avLst/>
          </a:prstGeom>
        </p:spPr>
        <p:txBody>
          <a:bodyPr anchor="t" rtlCol="false" tIns="0" lIns="0" bIns="0" rIns="0">
            <a:spAutoFit/>
          </a:bodyPr>
          <a:lstStyle/>
          <a:p>
            <a:pPr algn="ctr">
              <a:lnSpc>
                <a:spcPts val="5566"/>
              </a:lnSpc>
            </a:pPr>
            <a:r>
              <a:rPr lang="en-US" b="true" sz="4562" spc="196">
                <a:solidFill>
                  <a:srgbClr val="FFFFFF"/>
                </a:solidFill>
                <a:latin typeface="Roboto Bold"/>
                <a:ea typeface="Roboto Bold"/>
                <a:cs typeface="Roboto Bold"/>
                <a:sym typeface="Roboto Bold"/>
              </a:rPr>
              <a:t>GROUP AUDIT TEAMS</a:t>
            </a:r>
          </a:p>
        </p:txBody>
      </p:sp>
      <p:sp>
        <p:nvSpPr>
          <p:cNvPr name="TextBox 57" id="57"/>
          <p:cNvSpPr txBox="true"/>
          <p:nvPr/>
        </p:nvSpPr>
        <p:spPr>
          <a:xfrm rot="0">
            <a:off x="12098020" y="7334610"/>
            <a:ext cx="2737584" cy="445108"/>
          </a:xfrm>
          <a:prstGeom prst="rect">
            <a:avLst/>
          </a:prstGeom>
        </p:spPr>
        <p:txBody>
          <a:bodyPr anchor="t" rtlCol="false" tIns="0" lIns="0" bIns="0" rIns="0">
            <a:spAutoFit/>
          </a:bodyPr>
          <a:lstStyle/>
          <a:p>
            <a:pPr algn="ctr">
              <a:lnSpc>
                <a:spcPts val="3623"/>
              </a:lnSpc>
            </a:pPr>
            <a:r>
              <a:rPr lang="en-US" sz="2587">
                <a:solidFill>
                  <a:srgbClr val="FFFFFF"/>
                </a:solidFill>
                <a:latin typeface="Roboto"/>
                <a:ea typeface="Roboto"/>
                <a:cs typeface="Roboto"/>
                <a:sym typeface="Roboto"/>
              </a:rPr>
              <a:t>NETHRA</a:t>
            </a:r>
          </a:p>
        </p:txBody>
      </p:sp>
      <p:sp>
        <p:nvSpPr>
          <p:cNvPr name="TextBox 58" id="58"/>
          <p:cNvSpPr txBox="true"/>
          <p:nvPr/>
        </p:nvSpPr>
        <p:spPr>
          <a:xfrm rot="0">
            <a:off x="3671275" y="7339089"/>
            <a:ext cx="2957220" cy="445108"/>
          </a:xfrm>
          <a:prstGeom prst="rect">
            <a:avLst/>
          </a:prstGeom>
        </p:spPr>
        <p:txBody>
          <a:bodyPr anchor="t" rtlCol="false" tIns="0" lIns="0" bIns="0" rIns="0">
            <a:spAutoFit/>
          </a:bodyPr>
          <a:lstStyle/>
          <a:p>
            <a:pPr algn="ctr">
              <a:lnSpc>
                <a:spcPts val="3623"/>
              </a:lnSpc>
            </a:pPr>
            <a:r>
              <a:rPr lang="en-US" sz="2587">
                <a:solidFill>
                  <a:srgbClr val="FFFFFF"/>
                </a:solidFill>
                <a:latin typeface="Roboto"/>
                <a:ea typeface="Roboto"/>
                <a:cs typeface="Roboto"/>
                <a:sym typeface="Roboto"/>
              </a:rPr>
              <a:t>KEERTENNAH DEVI</a:t>
            </a:r>
          </a:p>
        </p:txBody>
      </p:sp>
      <p:sp>
        <p:nvSpPr>
          <p:cNvPr name="TextBox 59" id="59"/>
          <p:cNvSpPr txBox="true"/>
          <p:nvPr/>
        </p:nvSpPr>
        <p:spPr>
          <a:xfrm rot="0">
            <a:off x="7864025" y="7339089"/>
            <a:ext cx="2737584" cy="445108"/>
          </a:xfrm>
          <a:prstGeom prst="rect">
            <a:avLst/>
          </a:prstGeom>
        </p:spPr>
        <p:txBody>
          <a:bodyPr anchor="t" rtlCol="false" tIns="0" lIns="0" bIns="0" rIns="0">
            <a:spAutoFit/>
          </a:bodyPr>
          <a:lstStyle/>
          <a:p>
            <a:pPr algn="ctr">
              <a:lnSpc>
                <a:spcPts val="3623"/>
              </a:lnSpc>
            </a:pPr>
            <a:r>
              <a:rPr lang="en-US" sz="2587">
                <a:solidFill>
                  <a:srgbClr val="FFFFFF"/>
                </a:solidFill>
                <a:latin typeface="Roboto"/>
                <a:ea typeface="Roboto"/>
                <a:cs typeface="Roboto"/>
                <a:sym typeface="Roboto"/>
              </a:rPr>
              <a:t>LILIAN</a:t>
            </a:r>
          </a:p>
        </p:txBody>
      </p:sp>
      <p:sp>
        <p:nvSpPr>
          <p:cNvPr name="TextBox 60" id="60"/>
          <p:cNvSpPr txBox="true"/>
          <p:nvPr/>
        </p:nvSpPr>
        <p:spPr>
          <a:xfrm rot="0">
            <a:off x="3170926" y="8102082"/>
            <a:ext cx="3738281" cy="1575885"/>
          </a:xfrm>
          <a:prstGeom prst="rect">
            <a:avLst/>
          </a:prstGeom>
        </p:spPr>
        <p:txBody>
          <a:bodyPr anchor="t" rtlCol="false" tIns="0" lIns="0" bIns="0" rIns="0">
            <a:spAutoFit/>
          </a:bodyPr>
          <a:lstStyle/>
          <a:p>
            <a:pPr algn="ctr">
              <a:lnSpc>
                <a:spcPts val="2528"/>
              </a:lnSpc>
            </a:pPr>
            <a:r>
              <a:rPr lang="en-US" sz="2072" b="true">
                <a:solidFill>
                  <a:srgbClr val="000000"/>
                </a:solidFill>
                <a:latin typeface="Roboto Bold"/>
                <a:ea typeface="Roboto Bold"/>
                <a:cs typeface="Roboto Bold"/>
                <a:sym typeface="Roboto Bold"/>
              </a:rPr>
              <a:t>Lead Auditor</a:t>
            </a:r>
          </a:p>
          <a:p>
            <a:pPr algn="ctr">
              <a:lnSpc>
                <a:spcPts val="2528"/>
              </a:lnSpc>
            </a:pPr>
            <a:r>
              <a:rPr lang="en-US" sz="2072">
                <a:solidFill>
                  <a:srgbClr val="000000"/>
                </a:solidFill>
                <a:latin typeface="Roboto"/>
                <a:ea typeface="Roboto"/>
                <a:cs typeface="Roboto"/>
                <a:sym typeface="Roboto"/>
              </a:rPr>
              <a:t>Overall audit management, scoping, BNM RMiT compliance oversight and final reporting</a:t>
            </a:r>
          </a:p>
          <a:p>
            <a:pPr algn="ctr">
              <a:lnSpc>
                <a:spcPts val="2528"/>
              </a:lnSpc>
            </a:pPr>
          </a:p>
        </p:txBody>
      </p:sp>
      <p:sp>
        <p:nvSpPr>
          <p:cNvPr name="TextBox 61" id="61"/>
          <p:cNvSpPr txBox="true"/>
          <p:nvPr/>
        </p:nvSpPr>
        <p:spPr>
          <a:xfrm rot="0">
            <a:off x="13440663" y="300697"/>
            <a:ext cx="3705639" cy="381000"/>
          </a:xfrm>
          <a:prstGeom prst="rect">
            <a:avLst/>
          </a:prstGeom>
        </p:spPr>
        <p:txBody>
          <a:bodyPr anchor="t" rtlCol="false" tIns="0" lIns="0" bIns="0" rIns="0">
            <a:spAutoFit/>
          </a:bodyPr>
          <a:lstStyle/>
          <a:p>
            <a:pPr algn="r">
              <a:lnSpc>
                <a:spcPts val="2849"/>
              </a:lnSpc>
            </a:pPr>
            <a:r>
              <a:rPr lang="en-US" b="true" sz="2499">
                <a:solidFill>
                  <a:srgbClr val="000000"/>
                </a:solidFill>
                <a:latin typeface="Poppins Bold"/>
                <a:ea typeface="Poppins Bold"/>
                <a:cs typeface="Poppins Bold"/>
                <a:sym typeface="Poppins Bold"/>
              </a:rPr>
              <a:t>FinSecure Bank</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7261192" y="6051085"/>
            <a:ext cx="24520492" cy="4402586"/>
          </a:xfrm>
          <a:custGeom>
            <a:avLst/>
            <a:gdLst/>
            <a:ahLst/>
            <a:cxnLst/>
            <a:rect r="r" b="b" t="t" l="l"/>
            <a:pathLst>
              <a:path h="4402586" w="24520492">
                <a:moveTo>
                  <a:pt x="24520492" y="0"/>
                </a:moveTo>
                <a:lnTo>
                  <a:pt x="0" y="0"/>
                </a:lnTo>
                <a:lnTo>
                  <a:pt x="0" y="4402586"/>
                </a:lnTo>
                <a:lnTo>
                  <a:pt x="24520492" y="4402586"/>
                </a:lnTo>
                <a:lnTo>
                  <a:pt x="24520492" y="0"/>
                </a:lnTo>
                <a:close/>
              </a:path>
            </a:pathLst>
          </a:custGeom>
          <a:blipFill>
            <a:blip r:embed="rId3">
              <a:alphaModFix amt="6000"/>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862888">
            <a:off x="11744058" y="-3745921"/>
            <a:ext cx="5429187" cy="15382828"/>
            <a:chOff x="0" y="0"/>
            <a:chExt cx="1429909" cy="4051444"/>
          </a:xfrm>
        </p:grpSpPr>
        <p:sp>
          <p:nvSpPr>
            <p:cNvPr name="Freeform 4" id="4"/>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20989B"/>
            </a:solidFill>
          </p:spPr>
        </p:sp>
        <p:sp>
          <p:nvSpPr>
            <p:cNvPr name="TextBox 5" id="5"/>
            <p:cNvSpPr txBox="true"/>
            <p:nvPr/>
          </p:nvSpPr>
          <p:spPr>
            <a:xfrm>
              <a:off x="0" y="-57150"/>
              <a:ext cx="1429909" cy="410859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true" rot="-6270710">
            <a:off x="8940246" y="4649456"/>
            <a:ext cx="13353097" cy="404258"/>
          </a:xfrm>
          <a:custGeom>
            <a:avLst/>
            <a:gdLst/>
            <a:ahLst/>
            <a:cxnLst/>
            <a:rect r="r" b="b" t="t" l="l"/>
            <a:pathLst>
              <a:path h="404258" w="13353097">
                <a:moveTo>
                  <a:pt x="0" y="404258"/>
                </a:moveTo>
                <a:lnTo>
                  <a:pt x="13353096" y="404258"/>
                </a:lnTo>
                <a:lnTo>
                  <a:pt x="13353096" y="0"/>
                </a:lnTo>
                <a:lnTo>
                  <a:pt x="0" y="0"/>
                </a:lnTo>
                <a:lnTo>
                  <a:pt x="0" y="404258"/>
                </a:lnTo>
                <a:close/>
              </a:path>
            </a:pathLst>
          </a:custGeom>
          <a:blipFill>
            <a:blip r:embed="rId5"/>
            <a:stretch>
              <a:fillRect l="0" t="-1843398" r="0" b="0"/>
            </a:stretch>
          </a:blipFill>
        </p:spPr>
      </p:sp>
      <p:grpSp>
        <p:nvGrpSpPr>
          <p:cNvPr name="Group 7" id="7"/>
          <p:cNvGrpSpPr/>
          <p:nvPr/>
        </p:nvGrpSpPr>
        <p:grpSpPr>
          <a:xfrm rot="-862888">
            <a:off x="15573406" y="-3745921"/>
            <a:ext cx="5429187" cy="15382828"/>
            <a:chOff x="0" y="0"/>
            <a:chExt cx="1429909" cy="4051444"/>
          </a:xfrm>
        </p:grpSpPr>
        <p:sp>
          <p:nvSpPr>
            <p:cNvPr name="Freeform 8" id="8"/>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39515A"/>
            </a:solidFill>
          </p:spPr>
        </p:sp>
        <p:sp>
          <p:nvSpPr>
            <p:cNvPr name="TextBox 9" id="9"/>
            <p:cNvSpPr txBox="true"/>
            <p:nvPr/>
          </p:nvSpPr>
          <p:spPr>
            <a:xfrm>
              <a:off x="0" y="-57150"/>
              <a:ext cx="1429909" cy="4108594"/>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1492143" y="1476884"/>
            <a:ext cx="6044346" cy="7333233"/>
            <a:chOff x="0" y="0"/>
            <a:chExt cx="5188077" cy="6294374"/>
          </a:xfrm>
        </p:grpSpPr>
        <p:sp>
          <p:nvSpPr>
            <p:cNvPr name="Freeform 11" id="11"/>
            <p:cNvSpPr/>
            <p:nvPr/>
          </p:nvSpPr>
          <p:spPr>
            <a:xfrm flipH="false" flipV="false" rot="0">
              <a:off x="40" y="0"/>
              <a:ext cx="5188037" cy="6294418"/>
            </a:xfrm>
            <a:custGeom>
              <a:avLst/>
              <a:gdLst/>
              <a:ahLst/>
              <a:cxnLst/>
              <a:rect r="r" b="b" t="t" l="l"/>
              <a:pathLst>
                <a:path h="6294418" w="5188037">
                  <a:moveTo>
                    <a:pt x="4895937" y="0"/>
                  </a:moveTo>
                  <a:cubicBezTo>
                    <a:pt x="5056592" y="0"/>
                    <a:pt x="5188037" y="131445"/>
                    <a:pt x="5188037" y="292100"/>
                  </a:cubicBezTo>
                  <a:lnTo>
                    <a:pt x="5188037" y="6057900"/>
                  </a:lnTo>
                  <a:cubicBezTo>
                    <a:pt x="5188037" y="6218555"/>
                    <a:pt x="5059640" y="6322060"/>
                    <a:pt x="4902668" y="6287897"/>
                  </a:cubicBezTo>
                  <a:lnTo>
                    <a:pt x="1565743" y="5561457"/>
                  </a:lnTo>
                  <a:cubicBezTo>
                    <a:pt x="1408771" y="5527294"/>
                    <a:pt x="1249132" y="5371592"/>
                    <a:pt x="1211159" y="5215509"/>
                  </a:cubicBezTo>
                  <a:lnTo>
                    <a:pt x="8088" y="283718"/>
                  </a:lnTo>
                  <a:cubicBezTo>
                    <a:pt x="-30012" y="127762"/>
                    <a:pt x="70191" y="0"/>
                    <a:pt x="230846" y="0"/>
                  </a:cubicBezTo>
                  <a:lnTo>
                    <a:pt x="4895937" y="0"/>
                  </a:lnTo>
                  <a:close/>
                </a:path>
              </a:pathLst>
            </a:custGeom>
            <a:blipFill>
              <a:blip r:embed="rId6"/>
              <a:stretch>
                <a:fillRect l="-61135" t="-11067" r="-40994" b="0"/>
              </a:stretch>
            </a:blipFill>
            <a:ln w="114300" cap="sq">
              <a:solidFill>
                <a:srgbClr val="FFFFFF"/>
              </a:solidFill>
              <a:prstDash val="solid"/>
              <a:miter/>
            </a:ln>
          </p:spPr>
        </p:sp>
      </p:grpSp>
      <p:sp>
        <p:nvSpPr>
          <p:cNvPr name="Freeform 12" id="12"/>
          <p:cNvSpPr/>
          <p:nvPr/>
        </p:nvSpPr>
        <p:spPr>
          <a:xfrm flipH="false" flipV="false" rot="0">
            <a:off x="16043097" y="594873"/>
            <a:ext cx="1764021" cy="1764021"/>
          </a:xfrm>
          <a:custGeom>
            <a:avLst/>
            <a:gdLst/>
            <a:ahLst/>
            <a:cxnLst/>
            <a:rect r="r" b="b" t="t" l="l"/>
            <a:pathLst>
              <a:path h="1764021" w="1764021">
                <a:moveTo>
                  <a:pt x="0" y="0"/>
                </a:moveTo>
                <a:lnTo>
                  <a:pt x="1764021" y="0"/>
                </a:lnTo>
                <a:lnTo>
                  <a:pt x="1764021" y="1764021"/>
                </a:lnTo>
                <a:lnTo>
                  <a:pt x="0" y="1764021"/>
                </a:lnTo>
                <a:lnTo>
                  <a:pt x="0" y="0"/>
                </a:lnTo>
                <a:close/>
              </a:path>
            </a:pathLst>
          </a:custGeom>
          <a:blipFill>
            <a:blip r:embed="rId7">
              <a:alphaModFix amt="44999"/>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4734784" y="7997142"/>
            <a:ext cx="1014510" cy="1005922"/>
          </a:xfrm>
          <a:custGeom>
            <a:avLst/>
            <a:gdLst/>
            <a:ahLst/>
            <a:cxnLst/>
            <a:rect r="r" b="b" t="t" l="l"/>
            <a:pathLst>
              <a:path h="1005922" w="1014510">
                <a:moveTo>
                  <a:pt x="0" y="0"/>
                </a:moveTo>
                <a:lnTo>
                  <a:pt x="1014509" y="0"/>
                </a:lnTo>
                <a:lnTo>
                  <a:pt x="1014509" y="1005921"/>
                </a:lnTo>
                <a:lnTo>
                  <a:pt x="0" y="1005921"/>
                </a:lnTo>
                <a:lnTo>
                  <a:pt x="0" y="0"/>
                </a:lnTo>
                <a:close/>
              </a:path>
            </a:pathLst>
          </a:custGeom>
          <a:blipFill>
            <a:blip r:embed="rId9">
              <a:extLst>
                <a:ext uri="{96DAC541-7B7A-43D3-8B79-37D633B846F1}">
                  <asvg:svgBlip xmlns:asvg="http://schemas.microsoft.com/office/drawing/2016/SVG/main" r:embed="rId10"/>
                </a:ext>
              </a:extLst>
            </a:blip>
            <a:stretch>
              <a:fillRect l="0" t="-106388" r="-103152" b="0"/>
            </a:stretch>
          </a:blipFill>
        </p:spPr>
      </p:sp>
      <p:grpSp>
        <p:nvGrpSpPr>
          <p:cNvPr name="Group 14" id="14"/>
          <p:cNvGrpSpPr/>
          <p:nvPr/>
        </p:nvGrpSpPr>
        <p:grpSpPr>
          <a:xfrm rot="-852149">
            <a:off x="10825427" y="-2621844"/>
            <a:ext cx="887655" cy="8696949"/>
            <a:chOff x="0" y="0"/>
            <a:chExt cx="233786" cy="2290554"/>
          </a:xfrm>
        </p:grpSpPr>
        <p:sp>
          <p:nvSpPr>
            <p:cNvPr name="Freeform 15" id="15"/>
            <p:cNvSpPr/>
            <p:nvPr/>
          </p:nvSpPr>
          <p:spPr>
            <a:xfrm flipH="false" flipV="false" rot="0">
              <a:off x="0" y="0"/>
              <a:ext cx="233786" cy="2290554"/>
            </a:xfrm>
            <a:custGeom>
              <a:avLst/>
              <a:gdLst/>
              <a:ahLst/>
              <a:cxnLst/>
              <a:rect r="r" b="b" t="t" l="l"/>
              <a:pathLst>
                <a:path h="2290554" w="233786">
                  <a:moveTo>
                    <a:pt x="0" y="0"/>
                  </a:moveTo>
                  <a:lnTo>
                    <a:pt x="233786" y="0"/>
                  </a:lnTo>
                  <a:lnTo>
                    <a:pt x="233786" y="2290554"/>
                  </a:lnTo>
                  <a:lnTo>
                    <a:pt x="0" y="2290554"/>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16" id="16"/>
            <p:cNvSpPr txBox="true"/>
            <p:nvPr/>
          </p:nvSpPr>
          <p:spPr>
            <a:xfrm>
              <a:off x="0" y="-57150"/>
              <a:ext cx="233786" cy="2347704"/>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852149">
            <a:off x="12777214" y="7288478"/>
            <a:ext cx="887655" cy="3836978"/>
            <a:chOff x="0" y="0"/>
            <a:chExt cx="233786" cy="1010562"/>
          </a:xfrm>
        </p:grpSpPr>
        <p:sp>
          <p:nvSpPr>
            <p:cNvPr name="Freeform 18" id="18"/>
            <p:cNvSpPr/>
            <p:nvPr/>
          </p:nvSpPr>
          <p:spPr>
            <a:xfrm flipH="false" flipV="false" rot="0">
              <a:off x="0" y="0"/>
              <a:ext cx="233786" cy="1010562"/>
            </a:xfrm>
            <a:custGeom>
              <a:avLst/>
              <a:gdLst/>
              <a:ahLst/>
              <a:cxnLst/>
              <a:rect r="r" b="b" t="t" l="l"/>
              <a:pathLst>
                <a:path h="1010562" w="233786">
                  <a:moveTo>
                    <a:pt x="0" y="0"/>
                  </a:moveTo>
                  <a:lnTo>
                    <a:pt x="233786" y="0"/>
                  </a:lnTo>
                  <a:lnTo>
                    <a:pt x="233786" y="1010562"/>
                  </a:lnTo>
                  <a:lnTo>
                    <a:pt x="0" y="1010562"/>
                  </a:lnTo>
                  <a:close/>
                </a:path>
              </a:pathLst>
            </a:custGeom>
            <a:gradFill rotWithShape="true">
              <a:gsLst>
                <a:gs pos="0">
                  <a:srgbClr val="F9FFFF">
                    <a:alpha val="0"/>
                  </a:srgbClr>
                </a:gs>
                <a:gs pos="50000">
                  <a:srgbClr val="C3FEFF">
                    <a:alpha val="50500"/>
                  </a:srgbClr>
                </a:gs>
                <a:gs pos="100000">
                  <a:srgbClr val="20989B">
                    <a:alpha val="100000"/>
                  </a:srgbClr>
                </a:gs>
              </a:gsLst>
              <a:lin ang="5400000"/>
            </a:gradFill>
          </p:spPr>
        </p:sp>
        <p:sp>
          <p:nvSpPr>
            <p:cNvPr name="TextBox 19" id="19"/>
            <p:cNvSpPr txBox="true"/>
            <p:nvPr/>
          </p:nvSpPr>
          <p:spPr>
            <a:xfrm>
              <a:off x="0" y="-57150"/>
              <a:ext cx="233786" cy="1067712"/>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2733228" y="6441763"/>
            <a:ext cx="9542312" cy="825303"/>
            <a:chOff x="0" y="0"/>
            <a:chExt cx="4698873" cy="406400"/>
          </a:xfrm>
        </p:grpSpPr>
        <p:sp>
          <p:nvSpPr>
            <p:cNvPr name="Freeform 21" id="21"/>
            <p:cNvSpPr/>
            <p:nvPr/>
          </p:nvSpPr>
          <p:spPr>
            <a:xfrm flipH="false" flipV="false" rot="0">
              <a:off x="0" y="0"/>
              <a:ext cx="4698873" cy="406400"/>
            </a:xfrm>
            <a:custGeom>
              <a:avLst/>
              <a:gdLst/>
              <a:ahLst/>
              <a:cxnLst/>
              <a:rect r="r" b="b" t="t" l="l"/>
              <a:pathLst>
                <a:path h="406400" w="4698873">
                  <a:moveTo>
                    <a:pt x="4495673" y="0"/>
                  </a:moveTo>
                  <a:cubicBezTo>
                    <a:pt x="4607897" y="0"/>
                    <a:pt x="4698873" y="90976"/>
                    <a:pt x="4698873" y="203200"/>
                  </a:cubicBezTo>
                  <a:cubicBezTo>
                    <a:pt x="4698873" y="315424"/>
                    <a:pt x="4607897" y="406400"/>
                    <a:pt x="4495673"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22" id="22"/>
            <p:cNvSpPr txBox="true"/>
            <p:nvPr/>
          </p:nvSpPr>
          <p:spPr>
            <a:xfrm>
              <a:off x="0" y="-57150"/>
              <a:ext cx="4698873" cy="463550"/>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346672" y="1019175"/>
            <a:ext cx="10576017" cy="2032660"/>
          </a:xfrm>
          <a:prstGeom prst="rect">
            <a:avLst/>
          </a:prstGeom>
        </p:spPr>
        <p:txBody>
          <a:bodyPr anchor="t" rtlCol="false" tIns="0" lIns="0" bIns="0" rIns="0">
            <a:spAutoFit/>
          </a:bodyPr>
          <a:lstStyle/>
          <a:p>
            <a:pPr algn="l">
              <a:lnSpc>
                <a:spcPts val="7792"/>
              </a:lnSpc>
            </a:pPr>
            <a:r>
              <a:rPr lang="en-US" sz="6896" spc="-289" b="true">
                <a:solidFill>
                  <a:srgbClr val="39515A"/>
                </a:solidFill>
                <a:latin typeface="Poppins Semi-Bold"/>
                <a:ea typeface="Poppins Semi-Bold"/>
                <a:cs typeface="Poppins Semi-Bold"/>
                <a:sym typeface="Poppins Semi-Bold"/>
              </a:rPr>
              <a:t>Audi</a:t>
            </a:r>
            <a:r>
              <a:rPr lang="en-US" b="true" sz="6896" spc="-289">
                <a:solidFill>
                  <a:srgbClr val="39515A"/>
                </a:solidFill>
                <a:latin typeface="Poppins Semi-Bold"/>
                <a:ea typeface="Poppins Semi-Bold"/>
                <a:cs typeface="Poppins Semi-Bold"/>
                <a:sym typeface="Poppins Semi-Bold"/>
              </a:rPr>
              <a:t>t Scope &amp; Prepration</a:t>
            </a:r>
          </a:p>
          <a:p>
            <a:pPr algn="l">
              <a:lnSpc>
                <a:spcPts val="7792"/>
              </a:lnSpc>
            </a:pPr>
          </a:p>
        </p:txBody>
      </p:sp>
      <p:sp>
        <p:nvSpPr>
          <p:cNvPr name="TextBox 24" id="24"/>
          <p:cNvSpPr txBox="true"/>
          <p:nvPr/>
        </p:nvSpPr>
        <p:spPr>
          <a:xfrm rot="0">
            <a:off x="1028700" y="6531835"/>
            <a:ext cx="5466797" cy="626110"/>
          </a:xfrm>
          <a:prstGeom prst="rect">
            <a:avLst/>
          </a:prstGeom>
        </p:spPr>
        <p:txBody>
          <a:bodyPr anchor="t" rtlCol="false" tIns="0" lIns="0" bIns="0" rIns="0">
            <a:spAutoFit/>
          </a:bodyPr>
          <a:lstStyle/>
          <a:p>
            <a:pPr algn="l">
              <a:lnSpc>
                <a:spcPts val="4519"/>
              </a:lnSpc>
            </a:pPr>
            <a:r>
              <a:rPr lang="en-US" sz="3999" spc="-167" b="true">
                <a:solidFill>
                  <a:srgbClr val="FFFFFF"/>
                </a:solidFill>
                <a:latin typeface="Poppins Semi-Bold"/>
                <a:ea typeface="Poppins Semi-Bold"/>
                <a:cs typeface="Poppins Semi-Bold"/>
                <a:sym typeface="Poppins Semi-Bold"/>
              </a:rPr>
              <a:t>Audit Objectives</a:t>
            </a:r>
          </a:p>
        </p:txBody>
      </p:sp>
      <p:sp>
        <p:nvSpPr>
          <p:cNvPr name="Freeform 25" id="25"/>
          <p:cNvSpPr/>
          <p:nvPr/>
        </p:nvSpPr>
        <p:spPr>
          <a:xfrm flipH="false" flipV="false" rot="0">
            <a:off x="9374469" y="235134"/>
            <a:ext cx="793566" cy="793566"/>
          </a:xfrm>
          <a:custGeom>
            <a:avLst/>
            <a:gdLst/>
            <a:ahLst/>
            <a:cxnLst/>
            <a:rect r="r" b="b" t="t" l="l"/>
            <a:pathLst>
              <a:path h="793566" w="793566">
                <a:moveTo>
                  <a:pt x="0" y="0"/>
                </a:moveTo>
                <a:lnTo>
                  <a:pt x="793566" y="0"/>
                </a:lnTo>
                <a:lnTo>
                  <a:pt x="793566" y="793566"/>
                </a:lnTo>
                <a:lnTo>
                  <a:pt x="0" y="79356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6" id="26"/>
          <p:cNvSpPr txBox="true"/>
          <p:nvPr/>
        </p:nvSpPr>
        <p:spPr>
          <a:xfrm rot="0">
            <a:off x="5485907" y="300697"/>
            <a:ext cx="3705639" cy="381000"/>
          </a:xfrm>
          <a:prstGeom prst="rect">
            <a:avLst/>
          </a:prstGeom>
        </p:spPr>
        <p:txBody>
          <a:bodyPr anchor="t" rtlCol="false" tIns="0" lIns="0" bIns="0" rIns="0">
            <a:spAutoFit/>
          </a:bodyPr>
          <a:lstStyle/>
          <a:p>
            <a:pPr algn="r">
              <a:lnSpc>
                <a:spcPts val="2849"/>
              </a:lnSpc>
            </a:pPr>
            <a:r>
              <a:rPr lang="en-US" b="true" sz="2499">
                <a:solidFill>
                  <a:srgbClr val="000000"/>
                </a:solidFill>
                <a:latin typeface="Poppins Bold"/>
                <a:ea typeface="Poppins Bold"/>
                <a:cs typeface="Poppins Bold"/>
                <a:sym typeface="Poppins Bold"/>
              </a:rPr>
              <a:t>FinSecure Bank</a:t>
            </a:r>
          </a:p>
        </p:txBody>
      </p:sp>
      <p:sp>
        <p:nvSpPr>
          <p:cNvPr name="TextBox 27" id="27"/>
          <p:cNvSpPr txBox="true"/>
          <p:nvPr/>
        </p:nvSpPr>
        <p:spPr>
          <a:xfrm rot="0">
            <a:off x="538912" y="2461068"/>
            <a:ext cx="9893989" cy="3437617"/>
          </a:xfrm>
          <a:prstGeom prst="rect">
            <a:avLst/>
          </a:prstGeom>
        </p:spPr>
        <p:txBody>
          <a:bodyPr anchor="t" rtlCol="false" tIns="0" lIns="0" bIns="0" rIns="0">
            <a:spAutoFit/>
          </a:bodyPr>
          <a:lstStyle/>
          <a:p>
            <a:pPr algn="l">
              <a:lnSpc>
                <a:spcPts val="3093"/>
              </a:lnSpc>
            </a:pPr>
            <a:r>
              <a:rPr lang="en-US" sz="2209">
                <a:solidFill>
                  <a:srgbClr val="000000"/>
                </a:solidFill>
                <a:latin typeface="Roboto"/>
                <a:ea typeface="Roboto"/>
                <a:cs typeface="Roboto"/>
                <a:sym typeface="Roboto"/>
              </a:rPr>
              <a:t>About FinSecure Bank: A mid-sized digital banking institution operating exclusively within the highly regulated financial ecosystem of Malaysia.</a:t>
            </a:r>
          </a:p>
          <a:p>
            <a:pPr algn="l">
              <a:lnSpc>
                <a:spcPts val="3093"/>
              </a:lnSpc>
            </a:pPr>
          </a:p>
          <a:p>
            <a:pPr algn="l">
              <a:lnSpc>
                <a:spcPts val="3093"/>
              </a:lnSpc>
            </a:pPr>
            <a:r>
              <a:rPr lang="en-US" sz="2209">
                <a:solidFill>
                  <a:srgbClr val="000000"/>
                </a:solidFill>
                <a:latin typeface="Roboto"/>
                <a:ea typeface="Roboto"/>
                <a:cs typeface="Roboto"/>
                <a:sym typeface="Roboto"/>
              </a:rPr>
              <a:t>Core Digital Ecosystem In-Scope:</a:t>
            </a:r>
          </a:p>
          <a:p>
            <a:pPr algn="l" marL="477024" indent="-238512" lvl="1">
              <a:lnSpc>
                <a:spcPts val="3093"/>
              </a:lnSpc>
              <a:buFont typeface="Arial"/>
              <a:buChar char="•"/>
            </a:pPr>
            <a:r>
              <a:rPr lang="en-US" sz="2209">
                <a:solidFill>
                  <a:srgbClr val="000000"/>
                </a:solidFill>
                <a:latin typeface="Roboto"/>
                <a:ea typeface="Roboto"/>
                <a:cs typeface="Roboto"/>
                <a:sym typeface="Roboto"/>
              </a:rPr>
              <a:t>Online Banking (Web Platform)</a:t>
            </a:r>
          </a:p>
          <a:p>
            <a:pPr algn="l" marL="477024" indent="-238512" lvl="1">
              <a:lnSpc>
                <a:spcPts val="3093"/>
              </a:lnSpc>
              <a:buFont typeface="Arial"/>
              <a:buChar char="•"/>
            </a:pPr>
            <a:r>
              <a:rPr lang="en-US" sz="2209">
                <a:solidFill>
                  <a:srgbClr val="000000"/>
                </a:solidFill>
                <a:latin typeface="Roboto"/>
                <a:ea typeface="Roboto"/>
                <a:cs typeface="Roboto"/>
                <a:sym typeface="Roboto"/>
              </a:rPr>
              <a:t>Mobile Banking Application</a:t>
            </a:r>
          </a:p>
          <a:p>
            <a:pPr algn="l" marL="477024" indent="-238512" lvl="1">
              <a:lnSpc>
                <a:spcPts val="3093"/>
              </a:lnSpc>
              <a:buFont typeface="Arial"/>
              <a:buChar char="•"/>
            </a:pPr>
            <a:r>
              <a:rPr lang="en-US" sz="2209">
                <a:solidFill>
                  <a:srgbClr val="000000"/>
                </a:solidFill>
                <a:latin typeface="Roboto"/>
                <a:ea typeface="Roboto"/>
                <a:cs typeface="Roboto"/>
                <a:sym typeface="Roboto"/>
              </a:rPr>
              <a:t>Cloud-Based Customer Data Storage (AWS Infrastructure)</a:t>
            </a:r>
          </a:p>
          <a:p>
            <a:pPr algn="l" marL="477024" indent="-238512" lvl="1">
              <a:lnSpc>
                <a:spcPts val="3093"/>
              </a:lnSpc>
              <a:buFont typeface="Arial"/>
              <a:buChar char="•"/>
            </a:pPr>
            <a:r>
              <a:rPr lang="en-US" sz="2209">
                <a:solidFill>
                  <a:srgbClr val="000000"/>
                </a:solidFill>
                <a:latin typeface="Roboto"/>
                <a:ea typeface="Roboto"/>
                <a:cs typeface="Roboto"/>
                <a:sym typeface="Roboto"/>
              </a:rPr>
              <a:t>Third-Party Payment Gateway Integrations (FPX / PayNet APIs)</a:t>
            </a:r>
          </a:p>
          <a:p>
            <a:pPr algn="l">
              <a:lnSpc>
                <a:spcPts val="3093"/>
              </a:lnSpc>
              <a:spcBef>
                <a:spcPct val="0"/>
              </a:spcBef>
            </a:pPr>
          </a:p>
        </p:txBody>
      </p:sp>
      <p:sp>
        <p:nvSpPr>
          <p:cNvPr name="TextBox 28" id="28"/>
          <p:cNvSpPr txBox="true"/>
          <p:nvPr/>
        </p:nvSpPr>
        <p:spPr>
          <a:xfrm rot="0">
            <a:off x="769843" y="7350930"/>
            <a:ext cx="11550237" cy="1989511"/>
          </a:xfrm>
          <a:prstGeom prst="rect">
            <a:avLst/>
          </a:prstGeom>
        </p:spPr>
        <p:txBody>
          <a:bodyPr anchor="t" rtlCol="false" tIns="0" lIns="0" bIns="0" rIns="0">
            <a:spAutoFit/>
          </a:bodyPr>
          <a:lstStyle/>
          <a:p>
            <a:pPr algn="just">
              <a:lnSpc>
                <a:spcPts val="3161"/>
              </a:lnSpc>
              <a:spcBef>
                <a:spcPct val="0"/>
              </a:spcBef>
            </a:pPr>
            <a:r>
              <a:rPr lang="en-US" sz="2258">
                <a:solidFill>
                  <a:srgbClr val="000000"/>
                </a:solidFill>
                <a:latin typeface="Poppins"/>
                <a:ea typeface="Poppins"/>
                <a:cs typeface="Poppins"/>
                <a:sym typeface="Poppins"/>
              </a:rPr>
              <a:t>•</a:t>
            </a:r>
            <a:r>
              <a:rPr lang="en-US" sz="2258">
                <a:solidFill>
                  <a:srgbClr val="000000"/>
                </a:solidFill>
                <a:latin typeface="Poppins"/>
                <a:ea typeface="Poppins"/>
                <a:cs typeface="Poppins"/>
                <a:sym typeface="Poppins"/>
              </a:rPr>
              <a:t> To evaluate FinSecure Bank’s readiness for formal ISO/IEC 27001 certification.</a:t>
            </a:r>
          </a:p>
          <a:p>
            <a:pPr algn="just">
              <a:lnSpc>
                <a:spcPts val="3161"/>
              </a:lnSpc>
              <a:spcBef>
                <a:spcPct val="0"/>
              </a:spcBef>
            </a:pPr>
            <a:r>
              <a:rPr lang="en-US" sz="2258">
                <a:solidFill>
                  <a:srgbClr val="000000"/>
                </a:solidFill>
                <a:latin typeface="Poppins"/>
                <a:ea typeface="Poppins"/>
                <a:cs typeface="Poppins"/>
                <a:sym typeface="Poppins"/>
              </a:rPr>
              <a:t>• To assess compliance with mandatory ISO 27001   clauses (Clauses 4–10) and specific Annex A security controls</a:t>
            </a:r>
          </a:p>
          <a:p>
            <a:pPr algn="just">
              <a:lnSpc>
                <a:spcPts val="3161"/>
              </a:lnSpc>
              <a:spcBef>
                <a:spcPct val="0"/>
              </a:spcBef>
            </a:pPr>
            <a:r>
              <a:rPr lang="en-US" sz="2258">
                <a:solidFill>
                  <a:srgbClr val="000000"/>
                </a:solidFill>
                <a:latin typeface="Poppins"/>
                <a:ea typeface="Poppins"/>
                <a:cs typeface="Poppins"/>
                <a:sym typeface="Poppins"/>
              </a:rPr>
              <a:t>•To identify security gaps, operational vulnerabilities, and areas of non-conformity before the external certification audit.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58769" y="1461319"/>
            <a:ext cx="11928589" cy="1205456"/>
          </a:xfrm>
          <a:prstGeom prst="rect">
            <a:avLst/>
          </a:prstGeom>
        </p:spPr>
        <p:txBody>
          <a:bodyPr anchor="t" rtlCol="false" tIns="0" lIns="0" bIns="0" rIns="0">
            <a:spAutoFit/>
          </a:bodyPr>
          <a:lstStyle/>
          <a:p>
            <a:pPr algn="l">
              <a:lnSpc>
                <a:spcPts val="9102"/>
              </a:lnSpc>
            </a:pPr>
            <a:r>
              <a:rPr lang="en-US" b="true" sz="7585">
                <a:solidFill>
                  <a:srgbClr val="000000"/>
                </a:solidFill>
                <a:latin typeface="Arimo Bold"/>
                <a:ea typeface="Arimo Bold"/>
                <a:cs typeface="Arimo Bold"/>
                <a:sym typeface="Arimo Bold"/>
              </a:rPr>
              <a:t>Selected </a:t>
            </a:r>
            <a:r>
              <a:rPr lang="en-US" b="true" sz="7585">
                <a:solidFill>
                  <a:srgbClr val="73BDBD"/>
                </a:solidFill>
                <a:latin typeface="Arimo Bold"/>
                <a:ea typeface="Arimo Bold"/>
                <a:cs typeface="Arimo Bold"/>
                <a:sym typeface="Arimo Bold"/>
              </a:rPr>
              <a:t>Checklist Section</a:t>
            </a:r>
          </a:p>
        </p:txBody>
      </p:sp>
      <p:sp>
        <p:nvSpPr>
          <p:cNvPr name="TextBox 3" id="3"/>
          <p:cNvSpPr txBox="true"/>
          <p:nvPr/>
        </p:nvSpPr>
        <p:spPr>
          <a:xfrm rot="0">
            <a:off x="291920" y="2932500"/>
            <a:ext cx="11116817" cy="5868609"/>
          </a:xfrm>
          <a:prstGeom prst="rect">
            <a:avLst/>
          </a:prstGeom>
        </p:spPr>
        <p:txBody>
          <a:bodyPr anchor="t" rtlCol="false" tIns="0" lIns="0" bIns="0" rIns="0">
            <a:spAutoFit/>
          </a:bodyPr>
          <a:lstStyle/>
          <a:p>
            <a:pPr algn="l">
              <a:lnSpc>
                <a:spcPts val="4696"/>
              </a:lnSpc>
            </a:pPr>
            <a:r>
              <a:rPr lang="en-US" sz="2609">
                <a:solidFill>
                  <a:srgbClr val="000000"/>
                </a:solidFill>
                <a:latin typeface="Arimo"/>
                <a:ea typeface="Arimo"/>
                <a:cs typeface="Arimo"/>
                <a:sym typeface="Arimo"/>
              </a:rPr>
              <a:t>The audit targeted four critical risk domains:</a:t>
            </a:r>
          </a:p>
          <a:p>
            <a:pPr algn="l" marL="472189" indent="-236094" lvl="1">
              <a:lnSpc>
                <a:spcPts val="4696"/>
              </a:lnSpc>
              <a:buAutoNum type="arabicPeriod" startAt="1"/>
            </a:pPr>
            <a:r>
              <a:rPr lang="en-US" b="true" sz="2609">
                <a:solidFill>
                  <a:srgbClr val="000000"/>
                </a:solidFill>
                <a:latin typeface="Arimo Bold"/>
                <a:ea typeface="Arimo Bold"/>
                <a:cs typeface="Arimo Bold"/>
                <a:sym typeface="Arimo Bold"/>
              </a:rPr>
              <a:t>Risk Assessment (Clause 6.1.2 &amp; 6.1.3): </a:t>
            </a:r>
            <a:r>
              <a:rPr lang="en-US" sz="2609">
                <a:solidFill>
                  <a:srgbClr val="000000"/>
                </a:solidFill>
                <a:latin typeface="Arimo"/>
                <a:ea typeface="Arimo"/>
                <a:cs typeface="Arimo"/>
                <a:sym typeface="Arimo"/>
              </a:rPr>
              <a:t>Evaluating how information security risks are identified, analyzed, and treated.</a:t>
            </a:r>
          </a:p>
          <a:p>
            <a:pPr algn="l" marL="472189" indent="-236094" lvl="1">
              <a:lnSpc>
                <a:spcPts val="4696"/>
              </a:lnSpc>
              <a:buAutoNum type="arabicPeriod" startAt="1"/>
            </a:pPr>
            <a:r>
              <a:rPr lang="en-US" b="true" sz="2609">
                <a:solidFill>
                  <a:srgbClr val="000000"/>
                </a:solidFill>
                <a:latin typeface="Arimo Bold"/>
                <a:ea typeface="Arimo Bold"/>
                <a:cs typeface="Arimo Bold"/>
                <a:sym typeface="Arimo Bold"/>
              </a:rPr>
              <a:t>Access Control (Annex A.8.15 - A.8.18): </a:t>
            </a:r>
            <a:r>
              <a:rPr lang="en-US" sz="2609">
                <a:solidFill>
                  <a:srgbClr val="000000"/>
                </a:solidFill>
                <a:latin typeface="Arimo"/>
                <a:ea typeface="Arimo"/>
                <a:cs typeface="Arimo"/>
                <a:sym typeface="Arimo"/>
              </a:rPr>
              <a:t>Reviewing user provisioning, multi-factor authentication, and privileged access management.</a:t>
            </a:r>
          </a:p>
          <a:p>
            <a:pPr algn="l" marL="472189" indent="-236094" lvl="1">
              <a:lnSpc>
                <a:spcPts val="4696"/>
              </a:lnSpc>
              <a:buAutoNum type="arabicPeriod" startAt="1"/>
            </a:pPr>
            <a:r>
              <a:rPr lang="en-US" b="true" sz="2609">
                <a:solidFill>
                  <a:srgbClr val="000000"/>
                </a:solidFill>
                <a:latin typeface="Arimo Bold"/>
                <a:ea typeface="Arimo Bold"/>
                <a:cs typeface="Arimo Bold"/>
                <a:sym typeface="Arimo Bold"/>
              </a:rPr>
              <a:t>Cloud Security (Annex A.5.23, A.8.10, A.8.22): </a:t>
            </a:r>
            <a:r>
              <a:rPr lang="en-US" sz="2609">
                <a:solidFill>
                  <a:srgbClr val="000000"/>
                </a:solidFill>
                <a:latin typeface="Arimo"/>
                <a:ea typeface="Arimo"/>
                <a:cs typeface="Arimo"/>
                <a:sym typeface="Arimo"/>
              </a:rPr>
              <a:t>Reviewing data segregation, cloud configuration management, and storage security.</a:t>
            </a:r>
          </a:p>
          <a:p>
            <a:pPr algn="l" marL="472189" indent="-236094" lvl="1">
              <a:lnSpc>
                <a:spcPts val="4696"/>
              </a:lnSpc>
              <a:buAutoNum type="arabicPeriod" startAt="1"/>
            </a:pPr>
            <a:r>
              <a:rPr lang="en-US" b="true" sz="2609">
                <a:solidFill>
                  <a:srgbClr val="000000"/>
                </a:solidFill>
                <a:latin typeface="Arimo Bold"/>
                <a:ea typeface="Arimo Bold"/>
                <a:cs typeface="Arimo Bold"/>
                <a:sym typeface="Arimo Bold"/>
              </a:rPr>
              <a:t>Supplier Management (Annex A.5.19 - A.5.22): </a:t>
            </a:r>
            <a:r>
              <a:rPr lang="en-US" sz="2609">
                <a:solidFill>
                  <a:srgbClr val="000000"/>
                </a:solidFill>
                <a:latin typeface="Arimo"/>
                <a:ea typeface="Arimo"/>
                <a:cs typeface="Arimo"/>
                <a:sym typeface="Arimo"/>
              </a:rPr>
              <a:t>Inspecting security requirements in third-party payment gateway SLAs and vendor contracts.</a:t>
            </a:r>
          </a:p>
        </p:txBody>
      </p:sp>
      <p:sp>
        <p:nvSpPr>
          <p:cNvPr name="Freeform 4" id="4"/>
          <p:cNvSpPr/>
          <p:nvPr/>
        </p:nvSpPr>
        <p:spPr>
          <a:xfrm flipH="true" flipV="false" rot="0">
            <a:off x="-2341491" y="6051085"/>
            <a:ext cx="24520492" cy="4402586"/>
          </a:xfrm>
          <a:custGeom>
            <a:avLst/>
            <a:gdLst/>
            <a:ahLst/>
            <a:cxnLst/>
            <a:rect r="r" b="b" t="t" l="l"/>
            <a:pathLst>
              <a:path h="4402586" w="24520492">
                <a:moveTo>
                  <a:pt x="24520492" y="0"/>
                </a:moveTo>
                <a:lnTo>
                  <a:pt x="0" y="0"/>
                </a:lnTo>
                <a:lnTo>
                  <a:pt x="0" y="4402586"/>
                </a:lnTo>
                <a:lnTo>
                  <a:pt x="24520492" y="4402586"/>
                </a:lnTo>
                <a:lnTo>
                  <a:pt x="24520492" y="0"/>
                </a:lnTo>
                <a:close/>
              </a:path>
            </a:pathLst>
          </a:custGeom>
          <a:blipFill>
            <a:blip r:embed="rId3">
              <a:alphaModFix amt="6000"/>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862888">
            <a:off x="13988464" y="-3745921"/>
            <a:ext cx="5429187" cy="15382828"/>
            <a:chOff x="0" y="0"/>
            <a:chExt cx="1429909" cy="4051444"/>
          </a:xfrm>
        </p:grpSpPr>
        <p:sp>
          <p:nvSpPr>
            <p:cNvPr name="Freeform 6" id="6"/>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20989B"/>
            </a:solidFill>
          </p:spPr>
        </p:sp>
        <p:sp>
          <p:nvSpPr>
            <p:cNvPr name="TextBox 7" id="7"/>
            <p:cNvSpPr txBox="true"/>
            <p:nvPr/>
          </p:nvSpPr>
          <p:spPr>
            <a:xfrm>
              <a:off x="0" y="-57150"/>
              <a:ext cx="1429909" cy="4108594"/>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true" rot="-6270710">
            <a:off x="10806077" y="4649456"/>
            <a:ext cx="13353097" cy="404258"/>
          </a:xfrm>
          <a:custGeom>
            <a:avLst/>
            <a:gdLst/>
            <a:ahLst/>
            <a:cxnLst/>
            <a:rect r="r" b="b" t="t" l="l"/>
            <a:pathLst>
              <a:path h="404258" w="13353097">
                <a:moveTo>
                  <a:pt x="0" y="404258"/>
                </a:moveTo>
                <a:lnTo>
                  <a:pt x="13353096" y="404258"/>
                </a:lnTo>
                <a:lnTo>
                  <a:pt x="13353096" y="0"/>
                </a:lnTo>
                <a:lnTo>
                  <a:pt x="0" y="0"/>
                </a:lnTo>
                <a:lnTo>
                  <a:pt x="0" y="404258"/>
                </a:lnTo>
                <a:close/>
              </a:path>
            </a:pathLst>
          </a:custGeom>
          <a:blipFill>
            <a:blip r:embed="rId5"/>
            <a:stretch>
              <a:fillRect l="0" t="-1843398" r="0" b="0"/>
            </a:stretch>
          </a:blipFill>
        </p:spPr>
      </p:sp>
      <p:grpSp>
        <p:nvGrpSpPr>
          <p:cNvPr name="Group 9" id="9"/>
          <p:cNvGrpSpPr/>
          <p:nvPr/>
        </p:nvGrpSpPr>
        <p:grpSpPr>
          <a:xfrm rot="-862888">
            <a:off x="17439238" y="-3745921"/>
            <a:ext cx="5429187" cy="15382828"/>
            <a:chOff x="0" y="0"/>
            <a:chExt cx="1429909" cy="4051444"/>
          </a:xfrm>
        </p:grpSpPr>
        <p:sp>
          <p:nvSpPr>
            <p:cNvPr name="Freeform 10" id="10"/>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39515A"/>
            </a:solidFill>
          </p:spPr>
        </p:sp>
        <p:sp>
          <p:nvSpPr>
            <p:cNvPr name="TextBox 11" id="11"/>
            <p:cNvSpPr txBox="true"/>
            <p:nvPr/>
          </p:nvSpPr>
          <p:spPr>
            <a:xfrm>
              <a:off x="0" y="-57150"/>
              <a:ext cx="1429909" cy="4108594"/>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852149">
            <a:off x="12852248" y="-1835184"/>
            <a:ext cx="887655" cy="5727768"/>
            <a:chOff x="0" y="0"/>
            <a:chExt cx="233786" cy="1508548"/>
          </a:xfrm>
        </p:grpSpPr>
        <p:sp>
          <p:nvSpPr>
            <p:cNvPr name="Freeform 13" id="13"/>
            <p:cNvSpPr/>
            <p:nvPr/>
          </p:nvSpPr>
          <p:spPr>
            <a:xfrm flipH="false" flipV="false" rot="0">
              <a:off x="0" y="0"/>
              <a:ext cx="233786" cy="1508548"/>
            </a:xfrm>
            <a:custGeom>
              <a:avLst/>
              <a:gdLst/>
              <a:ahLst/>
              <a:cxnLst/>
              <a:rect r="r" b="b" t="t" l="l"/>
              <a:pathLst>
                <a:path h="1508548" w="233786">
                  <a:moveTo>
                    <a:pt x="0" y="0"/>
                  </a:moveTo>
                  <a:lnTo>
                    <a:pt x="233786" y="0"/>
                  </a:lnTo>
                  <a:lnTo>
                    <a:pt x="233786" y="1508548"/>
                  </a:lnTo>
                  <a:lnTo>
                    <a:pt x="0" y="1508548"/>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14" id="14"/>
            <p:cNvSpPr txBox="true"/>
            <p:nvPr/>
          </p:nvSpPr>
          <p:spPr>
            <a:xfrm>
              <a:off x="0" y="-57150"/>
              <a:ext cx="233786" cy="1565698"/>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0392601" y="1476884"/>
            <a:ext cx="8463169" cy="8447782"/>
          </a:xfrm>
          <a:custGeom>
            <a:avLst/>
            <a:gdLst/>
            <a:ahLst/>
            <a:cxnLst/>
            <a:rect r="r" b="b" t="t" l="l"/>
            <a:pathLst>
              <a:path h="8447782" w="8463169">
                <a:moveTo>
                  <a:pt x="0" y="0"/>
                </a:moveTo>
                <a:lnTo>
                  <a:pt x="8463169" y="0"/>
                </a:lnTo>
                <a:lnTo>
                  <a:pt x="8463169" y="8447781"/>
                </a:lnTo>
                <a:lnTo>
                  <a:pt x="0" y="8447781"/>
                </a:lnTo>
                <a:lnTo>
                  <a:pt x="0" y="0"/>
                </a:lnTo>
                <a:close/>
              </a:path>
            </a:pathLst>
          </a:custGeom>
          <a:blipFill>
            <a:blip r:embed="rId6"/>
            <a:stretch>
              <a:fillRect l="0" t="0" r="0" b="0"/>
            </a:stretch>
          </a:blipFill>
        </p:spPr>
      </p:sp>
      <p:grpSp>
        <p:nvGrpSpPr>
          <p:cNvPr name="Group 16" id="16"/>
          <p:cNvGrpSpPr/>
          <p:nvPr/>
        </p:nvGrpSpPr>
        <p:grpSpPr>
          <a:xfrm rot="0">
            <a:off x="10974635" y="2083097"/>
            <a:ext cx="7235354" cy="723535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989B"/>
            </a:solidFill>
          </p:spPr>
        </p:sp>
        <p:sp>
          <p:nvSpPr>
            <p:cNvPr name="TextBox 18" id="18"/>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1408738" y="2517200"/>
            <a:ext cx="6367148" cy="6367148"/>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68386" t="-28924" r="-25000" b="0"/>
              </a:stretch>
            </a:blipFill>
          </p:spPr>
        </p:sp>
      </p:grpSp>
      <p:sp>
        <p:nvSpPr>
          <p:cNvPr name="Freeform 21" id="21"/>
          <p:cNvSpPr/>
          <p:nvPr/>
        </p:nvSpPr>
        <p:spPr>
          <a:xfrm flipH="false" flipV="false" rot="0">
            <a:off x="16040183" y="601179"/>
            <a:ext cx="1442442" cy="1442442"/>
          </a:xfrm>
          <a:custGeom>
            <a:avLst/>
            <a:gdLst/>
            <a:ahLst/>
            <a:cxnLst/>
            <a:rect r="r" b="b" t="t" l="l"/>
            <a:pathLst>
              <a:path h="1442442" w="1442442">
                <a:moveTo>
                  <a:pt x="0" y="0"/>
                </a:moveTo>
                <a:lnTo>
                  <a:pt x="1442442" y="0"/>
                </a:lnTo>
                <a:lnTo>
                  <a:pt x="1442442" y="1442442"/>
                </a:lnTo>
                <a:lnTo>
                  <a:pt x="0" y="1442442"/>
                </a:lnTo>
                <a:lnTo>
                  <a:pt x="0" y="0"/>
                </a:lnTo>
                <a:close/>
              </a:path>
            </a:pathLst>
          </a:custGeom>
          <a:blipFill>
            <a:blip r:embed="rId8">
              <a:alphaModFix amt="44999"/>
              <a:extLst>
                <a:ext uri="{96DAC541-7B7A-43D3-8B79-37D633B846F1}">
                  <asvg:svgBlip xmlns:asvg="http://schemas.microsoft.com/office/drawing/2016/SVG/main" r:embed="rId9"/>
                </a:ext>
              </a:extLst>
            </a:blip>
            <a:stretch>
              <a:fillRect l="0" t="0" r="0" b="0"/>
            </a:stretch>
          </a:blipFill>
        </p:spPr>
      </p:sp>
      <p:sp>
        <p:nvSpPr>
          <p:cNvPr name="Freeform 22" id="22"/>
          <p:cNvSpPr/>
          <p:nvPr/>
        </p:nvSpPr>
        <p:spPr>
          <a:xfrm flipH="false" flipV="false" rot="0">
            <a:off x="11693792" y="235134"/>
            <a:ext cx="793566" cy="793566"/>
          </a:xfrm>
          <a:custGeom>
            <a:avLst/>
            <a:gdLst/>
            <a:ahLst/>
            <a:cxnLst/>
            <a:rect r="r" b="b" t="t" l="l"/>
            <a:pathLst>
              <a:path h="793566" w="793566">
                <a:moveTo>
                  <a:pt x="0" y="0"/>
                </a:moveTo>
                <a:lnTo>
                  <a:pt x="793566" y="0"/>
                </a:lnTo>
                <a:lnTo>
                  <a:pt x="793566" y="793566"/>
                </a:lnTo>
                <a:lnTo>
                  <a:pt x="0" y="79356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3" id="23"/>
          <p:cNvSpPr txBox="true"/>
          <p:nvPr/>
        </p:nvSpPr>
        <p:spPr>
          <a:xfrm rot="0">
            <a:off x="7805230" y="300697"/>
            <a:ext cx="3705639" cy="381000"/>
          </a:xfrm>
          <a:prstGeom prst="rect">
            <a:avLst/>
          </a:prstGeom>
        </p:spPr>
        <p:txBody>
          <a:bodyPr anchor="t" rtlCol="false" tIns="0" lIns="0" bIns="0" rIns="0">
            <a:spAutoFit/>
          </a:bodyPr>
          <a:lstStyle/>
          <a:p>
            <a:pPr algn="r">
              <a:lnSpc>
                <a:spcPts val="2849"/>
              </a:lnSpc>
            </a:pPr>
            <a:r>
              <a:rPr lang="en-US" b="true" sz="2499">
                <a:solidFill>
                  <a:srgbClr val="000000"/>
                </a:solidFill>
                <a:latin typeface="Poppins Bold"/>
                <a:ea typeface="Poppins Bold"/>
                <a:cs typeface="Poppins Bold"/>
                <a:sym typeface="Poppins Bold"/>
              </a:rPr>
              <a:t>FinSecure Bank</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726762" y="1150509"/>
            <a:ext cx="13919030" cy="950222"/>
          </a:xfrm>
          <a:prstGeom prst="rect">
            <a:avLst/>
          </a:prstGeom>
        </p:spPr>
        <p:txBody>
          <a:bodyPr anchor="t" rtlCol="false" tIns="0" lIns="0" bIns="0" rIns="0">
            <a:spAutoFit/>
          </a:bodyPr>
          <a:lstStyle/>
          <a:p>
            <a:pPr algn="l">
              <a:lnSpc>
                <a:spcPts val="7373"/>
              </a:lnSpc>
            </a:pPr>
            <a:r>
              <a:rPr lang="en-US" b="true" sz="6144">
                <a:solidFill>
                  <a:srgbClr val="000000"/>
                </a:solidFill>
                <a:latin typeface="Arimo Bold"/>
                <a:ea typeface="Arimo Bold"/>
                <a:cs typeface="Arimo Bold"/>
                <a:sym typeface="Arimo Bold"/>
              </a:rPr>
              <a:t>Audit</a:t>
            </a:r>
            <a:r>
              <a:rPr lang="en-US" b="true" sz="6144">
                <a:solidFill>
                  <a:srgbClr val="F5F5F5"/>
                </a:solidFill>
                <a:latin typeface="Arimo Bold"/>
                <a:ea typeface="Arimo Bold"/>
                <a:cs typeface="Arimo Bold"/>
                <a:sym typeface="Arimo Bold"/>
              </a:rPr>
              <a:t> </a:t>
            </a:r>
            <a:r>
              <a:rPr lang="en-US" b="true" sz="6144">
                <a:solidFill>
                  <a:srgbClr val="73BDBD"/>
                </a:solidFill>
                <a:latin typeface="Arimo Bold"/>
                <a:ea typeface="Arimo Bold"/>
                <a:cs typeface="Arimo Bold"/>
                <a:sym typeface="Arimo Bold"/>
              </a:rPr>
              <a:t>Execution &amp; Recommendations</a:t>
            </a:r>
          </a:p>
        </p:txBody>
      </p:sp>
      <p:sp>
        <p:nvSpPr>
          <p:cNvPr name="TextBox 3" id="3"/>
          <p:cNvSpPr txBox="true"/>
          <p:nvPr/>
        </p:nvSpPr>
        <p:spPr>
          <a:xfrm rot="0">
            <a:off x="2371373" y="2262788"/>
            <a:ext cx="14629809" cy="2041188"/>
          </a:xfrm>
          <a:prstGeom prst="rect">
            <a:avLst/>
          </a:prstGeom>
        </p:spPr>
        <p:txBody>
          <a:bodyPr anchor="t" rtlCol="false" tIns="0" lIns="0" bIns="0" rIns="0">
            <a:spAutoFit/>
          </a:bodyPr>
          <a:lstStyle/>
          <a:p>
            <a:pPr algn="ctr">
              <a:lnSpc>
                <a:spcPts val="4860"/>
              </a:lnSpc>
            </a:pPr>
            <a:r>
              <a:rPr lang="en-US" sz="2700">
                <a:solidFill>
                  <a:srgbClr val="000000"/>
                </a:solidFill>
                <a:latin typeface="Arimo"/>
                <a:ea typeface="Arimo"/>
                <a:cs typeface="Arimo"/>
                <a:sym typeface="Arimo"/>
              </a:rPr>
              <a:t>The audit team executed testing through document reviews, technical configuration audits, and personnel interviews. The 5 core findings categorized by severity, mapped to ISO 27001 controls, and paired with immediate corrective actions.</a:t>
            </a:r>
          </a:p>
        </p:txBody>
      </p:sp>
      <p:sp>
        <p:nvSpPr>
          <p:cNvPr name="Freeform 4" id="4"/>
          <p:cNvSpPr/>
          <p:nvPr/>
        </p:nvSpPr>
        <p:spPr>
          <a:xfrm flipH="true" flipV="false" rot="0">
            <a:off x="-286133" y="6132208"/>
            <a:ext cx="24520492" cy="4402586"/>
          </a:xfrm>
          <a:custGeom>
            <a:avLst/>
            <a:gdLst/>
            <a:ahLst/>
            <a:cxnLst/>
            <a:rect r="r" b="b" t="t" l="l"/>
            <a:pathLst>
              <a:path h="4402586" w="24520492">
                <a:moveTo>
                  <a:pt x="24520492" y="0"/>
                </a:moveTo>
                <a:lnTo>
                  <a:pt x="0" y="0"/>
                </a:lnTo>
                <a:lnTo>
                  <a:pt x="0" y="4402586"/>
                </a:lnTo>
                <a:lnTo>
                  <a:pt x="24520492" y="4402586"/>
                </a:lnTo>
                <a:lnTo>
                  <a:pt x="24520492" y="0"/>
                </a:lnTo>
                <a:close/>
              </a:path>
            </a:pathLst>
          </a:custGeom>
          <a:blipFill>
            <a:blip r:embed="rId3">
              <a:alphaModFix amt="6000"/>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1168322">
            <a:off x="-5144634" y="-1840415"/>
            <a:ext cx="7434779" cy="15382828"/>
            <a:chOff x="0" y="0"/>
            <a:chExt cx="1958131" cy="4051444"/>
          </a:xfrm>
        </p:grpSpPr>
        <p:sp>
          <p:nvSpPr>
            <p:cNvPr name="Freeform 6" id="6"/>
            <p:cNvSpPr/>
            <p:nvPr/>
          </p:nvSpPr>
          <p:spPr>
            <a:xfrm flipH="false" flipV="false" rot="0">
              <a:off x="0" y="0"/>
              <a:ext cx="1958131" cy="4051444"/>
            </a:xfrm>
            <a:custGeom>
              <a:avLst/>
              <a:gdLst/>
              <a:ahLst/>
              <a:cxnLst/>
              <a:rect r="r" b="b" t="t" l="l"/>
              <a:pathLst>
                <a:path h="4051444" w="1958131">
                  <a:moveTo>
                    <a:pt x="0" y="0"/>
                  </a:moveTo>
                  <a:lnTo>
                    <a:pt x="1958131" y="0"/>
                  </a:lnTo>
                  <a:lnTo>
                    <a:pt x="1958131" y="4051444"/>
                  </a:lnTo>
                  <a:lnTo>
                    <a:pt x="0" y="4051444"/>
                  </a:lnTo>
                  <a:close/>
                </a:path>
              </a:pathLst>
            </a:custGeom>
            <a:solidFill>
              <a:srgbClr val="20989B"/>
            </a:solidFill>
          </p:spPr>
        </p:sp>
        <p:sp>
          <p:nvSpPr>
            <p:cNvPr name="TextBox 7" id="7"/>
            <p:cNvSpPr txBox="true"/>
            <p:nvPr/>
          </p:nvSpPr>
          <p:spPr>
            <a:xfrm>
              <a:off x="0" y="-57150"/>
              <a:ext cx="1958131" cy="4108594"/>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6579275">
            <a:off x="-6947047" y="4649456"/>
            <a:ext cx="13353097" cy="404258"/>
          </a:xfrm>
          <a:custGeom>
            <a:avLst/>
            <a:gdLst/>
            <a:ahLst/>
            <a:cxnLst/>
            <a:rect r="r" b="b" t="t" l="l"/>
            <a:pathLst>
              <a:path h="404258" w="13353097">
                <a:moveTo>
                  <a:pt x="0" y="0"/>
                </a:moveTo>
                <a:lnTo>
                  <a:pt x="13353097" y="0"/>
                </a:lnTo>
                <a:lnTo>
                  <a:pt x="13353097" y="404258"/>
                </a:lnTo>
                <a:lnTo>
                  <a:pt x="0" y="404258"/>
                </a:lnTo>
                <a:lnTo>
                  <a:pt x="0" y="0"/>
                </a:lnTo>
                <a:close/>
              </a:path>
            </a:pathLst>
          </a:custGeom>
          <a:blipFill>
            <a:blip r:embed="rId5"/>
            <a:stretch>
              <a:fillRect l="0" t="-1843398" r="0" b="0"/>
            </a:stretch>
          </a:blipFill>
        </p:spPr>
      </p:sp>
      <p:grpSp>
        <p:nvGrpSpPr>
          <p:cNvPr name="Group 9" id="9"/>
          <p:cNvGrpSpPr/>
          <p:nvPr/>
        </p:nvGrpSpPr>
        <p:grpSpPr>
          <a:xfrm rot="-1168322">
            <a:off x="-7703844" y="-1840415"/>
            <a:ext cx="7434779" cy="15382828"/>
            <a:chOff x="0" y="0"/>
            <a:chExt cx="1958131" cy="4051444"/>
          </a:xfrm>
        </p:grpSpPr>
        <p:sp>
          <p:nvSpPr>
            <p:cNvPr name="Freeform 10" id="10"/>
            <p:cNvSpPr/>
            <p:nvPr/>
          </p:nvSpPr>
          <p:spPr>
            <a:xfrm flipH="false" flipV="false" rot="0">
              <a:off x="0" y="0"/>
              <a:ext cx="1958131" cy="4051444"/>
            </a:xfrm>
            <a:custGeom>
              <a:avLst/>
              <a:gdLst/>
              <a:ahLst/>
              <a:cxnLst/>
              <a:rect r="r" b="b" t="t" l="l"/>
              <a:pathLst>
                <a:path h="4051444" w="1958131">
                  <a:moveTo>
                    <a:pt x="0" y="0"/>
                  </a:moveTo>
                  <a:lnTo>
                    <a:pt x="1958131" y="0"/>
                  </a:lnTo>
                  <a:lnTo>
                    <a:pt x="1958131" y="4051444"/>
                  </a:lnTo>
                  <a:lnTo>
                    <a:pt x="0" y="4051444"/>
                  </a:lnTo>
                  <a:close/>
                </a:path>
              </a:pathLst>
            </a:custGeom>
            <a:solidFill>
              <a:srgbClr val="39515A"/>
            </a:solidFill>
          </p:spPr>
        </p:sp>
        <p:sp>
          <p:nvSpPr>
            <p:cNvPr name="TextBox 11" id="11"/>
            <p:cNvSpPr txBox="true"/>
            <p:nvPr/>
          </p:nvSpPr>
          <p:spPr>
            <a:xfrm>
              <a:off x="0" y="-57150"/>
              <a:ext cx="1958131" cy="4108594"/>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1168322">
            <a:off x="384241" y="-2713330"/>
            <a:ext cx="887655" cy="8696949"/>
            <a:chOff x="0" y="0"/>
            <a:chExt cx="233786" cy="2290554"/>
          </a:xfrm>
        </p:grpSpPr>
        <p:sp>
          <p:nvSpPr>
            <p:cNvPr name="Freeform 13" id="13"/>
            <p:cNvSpPr/>
            <p:nvPr/>
          </p:nvSpPr>
          <p:spPr>
            <a:xfrm flipH="false" flipV="false" rot="0">
              <a:off x="0" y="0"/>
              <a:ext cx="233786" cy="2290554"/>
            </a:xfrm>
            <a:custGeom>
              <a:avLst/>
              <a:gdLst/>
              <a:ahLst/>
              <a:cxnLst/>
              <a:rect r="r" b="b" t="t" l="l"/>
              <a:pathLst>
                <a:path h="2290554" w="233786">
                  <a:moveTo>
                    <a:pt x="0" y="0"/>
                  </a:moveTo>
                  <a:lnTo>
                    <a:pt x="233786" y="0"/>
                  </a:lnTo>
                  <a:lnTo>
                    <a:pt x="233786" y="2290554"/>
                  </a:lnTo>
                  <a:lnTo>
                    <a:pt x="0" y="2290554"/>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14" id="14"/>
            <p:cNvSpPr txBox="true"/>
            <p:nvPr/>
          </p:nvSpPr>
          <p:spPr>
            <a:xfrm>
              <a:off x="0" y="-57150"/>
              <a:ext cx="233786" cy="2347704"/>
            </a:xfrm>
            <a:prstGeom prst="rect">
              <a:avLst/>
            </a:prstGeom>
          </p:spPr>
          <p:txBody>
            <a:bodyPr anchor="ctr" rtlCol="false" tIns="50800" lIns="50800" bIns="50800" rIns="50800"/>
            <a:lstStyle/>
            <a:p>
              <a:pPr algn="ctr">
                <a:lnSpc>
                  <a:spcPts val="2659"/>
                </a:lnSpc>
                <a:spcBef>
                  <a:spcPct val="0"/>
                </a:spcBef>
              </a:pPr>
            </a:p>
          </p:txBody>
        </p:sp>
      </p:grpSp>
      <p:pic>
        <p:nvPicPr>
          <p:cNvPr name="Picture 15" id="15"/>
          <p:cNvPicPr>
            <a:picLocks noChangeAspect="true"/>
          </p:cNvPicPr>
          <p:nvPr/>
        </p:nvPicPr>
        <p:blipFill>
          <a:blip r:embed="rId6"/>
          <a:stretch>
            <a:fillRect/>
          </a:stretch>
        </p:blipFill>
        <p:spPr>
          <a:xfrm rot="0">
            <a:off x="6490241" y="4247462"/>
            <a:ext cx="6392071" cy="5767211"/>
          </a:xfrm>
          <a:prstGeom prst="rect">
            <a:avLst/>
          </a:prstGeom>
        </p:spPr>
      </p:pic>
      <p:sp>
        <p:nvSpPr>
          <p:cNvPr name="Freeform 16" id="16"/>
          <p:cNvSpPr/>
          <p:nvPr/>
        </p:nvSpPr>
        <p:spPr>
          <a:xfrm flipH="false" flipV="false" rot="0">
            <a:off x="307479" y="7815858"/>
            <a:ext cx="1442442" cy="1442442"/>
          </a:xfrm>
          <a:custGeom>
            <a:avLst/>
            <a:gdLst/>
            <a:ahLst/>
            <a:cxnLst/>
            <a:rect r="r" b="b" t="t" l="l"/>
            <a:pathLst>
              <a:path h="1442442" w="1442442">
                <a:moveTo>
                  <a:pt x="0" y="0"/>
                </a:moveTo>
                <a:lnTo>
                  <a:pt x="1442442" y="0"/>
                </a:lnTo>
                <a:lnTo>
                  <a:pt x="1442442" y="1442442"/>
                </a:lnTo>
                <a:lnTo>
                  <a:pt x="0" y="1442442"/>
                </a:lnTo>
                <a:lnTo>
                  <a:pt x="0" y="0"/>
                </a:lnTo>
                <a:close/>
              </a:path>
            </a:pathLst>
          </a:custGeom>
          <a:blipFill>
            <a:blip r:embed="rId7">
              <a:alphaModFix amt="44999"/>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0">
            <a:off x="17185524" y="159443"/>
            <a:ext cx="793566" cy="793566"/>
          </a:xfrm>
          <a:custGeom>
            <a:avLst/>
            <a:gdLst/>
            <a:ahLst/>
            <a:cxnLst/>
            <a:rect r="r" b="b" t="t" l="l"/>
            <a:pathLst>
              <a:path h="793566" w="793566">
                <a:moveTo>
                  <a:pt x="0" y="0"/>
                </a:moveTo>
                <a:lnTo>
                  <a:pt x="793566" y="0"/>
                </a:lnTo>
                <a:lnTo>
                  <a:pt x="793566" y="793566"/>
                </a:lnTo>
                <a:lnTo>
                  <a:pt x="0" y="7935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8" id="18"/>
          <p:cNvSpPr txBox="true"/>
          <p:nvPr/>
        </p:nvSpPr>
        <p:spPr>
          <a:xfrm rot="0">
            <a:off x="13296962" y="225006"/>
            <a:ext cx="3705639" cy="381000"/>
          </a:xfrm>
          <a:prstGeom prst="rect">
            <a:avLst/>
          </a:prstGeom>
        </p:spPr>
        <p:txBody>
          <a:bodyPr anchor="t" rtlCol="false" tIns="0" lIns="0" bIns="0" rIns="0">
            <a:spAutoFit/>
          </a:bodyPr>
          <a:lstStyle/>
          <a:p>
            <a:pPr algn="r">
              <a:lnSpc>
                <a:spcPts val="2849"/>
              </a:lnSpc>
            </a:pPr>
            <a:r>
              <a:rPr lang="en-US" b="true" sz="2499">
                <a:solidFill>
                  <a:srgbClr val="000000"/>
                </a:solidFill>
                <a:latin typeface="Poppins Bold"/>
                <a:ea typeface="Poppins Bold"/>
                <a:cs typeface="Poppins Bold"/>
                <a:sym typeface="Poppins Bold"/>
              </a:rPr>
              <a:t>FinSecure Bank</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57250" y="1815141"/>
            <a:ext cx="7858125" cy="590551"/>
          </a:xfrm>
          <a:prstGeom prst="rect">
            <a:avLst/>
          </a:prstGeom>
        </p:spPr>
        <p:txBody>
          <a:bodyPr anchor="t" rtlCol="false" tIns="0" lIns="0" bIns="0" rIns="0">
            <a:spAutoFit/>
          </a:bodyPr>
          <a:lstStyle/>
          <a:p>
            <a:pPr algn="l">
              <a:lnSpc>
                <a:spcPts val="4949"/>
              </a:lnSpc>
            </a:pPr>
            <a:r>
              <a:rPr lang="en-US" b="true" sz="2749">
                <a:solidFill>
                  <a:srgbClr val="000000"/>
                </a:solidFill>
                <a:latin typeface="Arimo Bold"/>
                <a:ea typeface="Arimo Bold"/>
                <a:cs typeface="Arimo Bold"/>
                <a:sym typeface="Arimo Bold"/>
              </a:rPr>
              <a:t>Classification: Major Non-Conformity</a:t>
            </a:r>
          </a:p>
        </p:txBody>
      </p:sp>
      <p:sp>
        <p:nvSpPr>
          <p:cNvPr name="TextBox 3" id="3"/>
          <p:cNvSpPr txBox="true"/>
          <p:nvPr/>
        </p:nvSpPr>
        <p:spPr>
          <a:xfrm rot="0">
            <a:off x="857250" y="2611241"/>
            <a:ext cx="12950190" cy="1700994"/>
          </a:xfrm>
          <a:prstGeom prst="rect">
            <a:avLst/>
          </a:prstGeom>
        </p:spPr>
        <p:txBody>
          <a:bodyPr anchor="t" rtlCol="false" tIns="0" lIns="0" bIns="0" rIns="0">
            <a:spAutoFit/>
          </a:bodyPr>
          <a:lstStyle/>
          <a:p>
            <a:pPr algn="l">
              <a:lnSpc>
                <a:spcPts val="4050"/>
              </a:lnSpc>
            </a:pPr>
            <a:r>
              <a:rPr lang="en-US" b="true" sz="2250">
                <a:solidFill>
                  <a:srgbClr val="000000"/>
                </a:solidFill>
                <a:latin typeface="Arimo Bold"/>
                <a:ea typeface="Arimo Bold"/>
                <a:cs typeface="Arimo Bold"/>
                <a:sym typeface="Arimo Bold"/>
              </a:rPr>
              <a:t>Issue:</a:t>
            </a:r>
            <a:r>
              <a:rPr lang="en-US" sz="2250">
                <a:solidFill>
                  <a:srgbClr val="000000"/>
                </a:solidFill>
                <a:latin typeface="Arimo"/>
                <a:ea typeface="Arimo"/>
                <a:cs typeface="Arimo"/>
                <a:sym typeface="Arimo"/>
              </a:rPr>
              <a:t> During a technical configuration review of the cloud environment hosting sensitive customer data, it was discovered that two root administrative accounts and three senior developer accounts did not have Multi-Factor Authentication (MFA) enforced. Access relied solely on single-factor passwords.</a:t>
            </a:r>
          </a:p>
        </p:txBody>
      </p:sp>
      <p:sp>
        <p:nvSpPr>
          <p:cNvPr name="TextBox 4" id="4"/>
          <p:cNvSpPr txBox="true"/>
          <p:nvPr/>
        </p:nvSpPr>
        <p:spPr>
          <a:xfrm rot="0">
            <a:off x="857250" y="4288736"/>
            <a:ext cx="7858125" cy="662245"/>
          </a:xfrm>
          <a:prstGeom prst="rect">
            <a:avLst/>
          </a:prstGeom>
        </p:spPr>
        <p:txBody>
          <a:bodyPr anchor="t" rtlCol="false" tIns="0" lIns="0" bIns="0" rIns="0">
            <a:spAutoFit/>
          </a:bodyPr>
          <a:lstStyle/>
          <a:p>
            <a:pPr algn="l">
              <a:lnSpc>
                <a:spcPts val="4050"/>
              </a:lnSpc>
            </a:pPr>
            <a:r>
              <a:rPr lang="en-US" b="true" sz="2250">
                <a:solidFill>
                  <a:srgbClr val="000000"/>
                </a:solidFill>
                <a:latin typeface="Arimo Bold"/>
                <a:ea typeface="Arimo Bold"/>
                <a:cs typeface="Arimo Bold"/>
                <a:sym typeface="Arimo Bold"/>
              </a:rPr>
              <a:t>ISO Mapping:</a:t>
            </a:r>
            <a:r>
              <a:rPr lang="en-US" sz="2250">
                <a:solidFill>
                  <a:srgbClr val="000000"/>
                </a:solidFill>
                <a:latin typeface="Arimo"/>
                <a:ea typeface="Arimo"/>
                <a:cs typeface="Arimo"/>
                <a:sym typeface="Arimo"/>
              </a:rPr>
              <a:t> Annex A.8.5 (Secure Authentication)</a:t>
            </a:r>
          </a:p>
        </p:txBody>
      </p:sp>
      <p:sp>
        <p:nvSpPr>
          <p:cNvPr name="TextBox 5" id="5"/>
          <p:cNvSpPr txBox="true"/>
          <p:nvPr/>
        </p:nvSpPr>
        <p:spPr>
          <a:xfrm rot="0">
            <a:off x="857250" y="5000625"/>
            <a:ext cx="17153430" cy="1700994"/>
          </a:xfrm>
          <a:prstGeom prst="rect">
            <a:avLst/>
          </a:prstGeom>
        </p:spPr>
        <p:txBody>
          <a:bodyPr anchor="t" rtlCol="false" tIns="0" lIns="0" bIns="0" rIns="0">
            <a:spAutoFit/>
          </a:bodyPr>
          <a:lstStyle/>
          <a:p>
            <a:pPr algn="l">
              <a:lnSpc>
                <a:spcPts val="4050"/>
              </a:lnSpc>
            </a:pPr>
            <a:r>
              <a:rPr lang="en-US" b="true" sz="2250">
                <a:solidFill>
                  <a:srgbClr val="000000"/>
                </a:solidFill>
                <a:latin typeface="Arimo Bold"/>
                <a:ea typeface="Arimo Bold"/>
                <a:cs typeface="Arimo Bold"/>
                <a:sym typeface="Arimo Bold"/>
              </a:rPr>
              <a:t>Risk Impact:</a:t>
            </a:r>
            <a:r>
              <a:rPr lang="en-US" sz="2250">
                <a:solidFill>
                  <a:srgbClr val="000000"/>
                </a:solidFill>
                <a:latin typeface="Arimo"/>
                <a:ea typeface="Arimo"/>
                <a:cs typeface="Arimo"/>
                <a:sym typeface="Arimo"/>
              </a:rPr>
              <a:t> Critical risk of credential stuffing or brute-force attacks. If an administrative account is compromised, unauthorized entities could gain full access to the cloud backend, leading to massive customer data exfiltration, regulatory penalties from Bank Negara Malaysia and severe brand damage..</a:t>
            </a:r>
          </a:p>
        </p:txBody>
      </p:sp>
      <p:sp>
        <p:nvSpPr>
          <p:cNvPr name="TextBox 6" id="6"/>
          <p:cNvSpPr txBox="true"/>
          <p:nvPr/>
        </p:nvSpPr>
        <p:spPr>
          <a:xfrm rot="0">
            <a:off x="857250" y="457859"/>
            <a:ext cx="8007191" cy="923925"/>
          </a:xfrm>
          <a:prstGeom prst="rect">
            <a:avLst/>
          </a:prstGeom>
        </p:spPr>
        <p:txBody>
          <a:bodyPr anchor="t" rtlCol="false" tIns="0" lIns="0" bIns="0" rIns="0">
            <a:spAutoFit/>
          </a:bodyPr>
          <a:lstStyle/>
          <a:p>
            <a:pPr algn="l">
              <a:lnSpc>
                <a:spcPts val="7020"/>
              </a:lnSpc>
            </a:pPr>
            <a:r>
              <a:rPr lang="en-US" b="true" sz="5850">
                <a:solidFill>
                  <a:srgbClr val="000000"/>
                </a:solidFill>
                <a:latin typeface="Arimo Bold"/>
                <a:ea typeface="Arimo Bold"/>
                <a:cs typeface="Arimo Bold"/>
                <a:sym typeface="Arimo Bold"/>
              </a:rPr>
              <a:t>Finding 1: </a:t>
            </a:r>
            <a:r>
              <a:rPr lang="en-US" b="true" sz="5850">
                <a:solidFill>
                  <a:srgbClr val="73BDBD"/>
                </a:solidFill>
                <a:latin typeface="Arimo Bold"/>
                <a:ea typeface="Arimo Bold"/>
                <a:cs typeface="Arimo Bold"/>
                <a:sym typeface="Arimo Bold"/>
              </a:rPr>
              <a:t>MFA Failure</a:t>
            </a:r>
          </a:p>
        </p:txBody>
      </p:sp>
      <p:sp>
        <p:nvSpPr>
          <p:cNvPr name="TextBox 7" id="7"/>
          <p:cNvSpPr txBox="true"/>
          <p:nvPr/>
        </p:nvSpPr>
        <p:spPr>
          <a:xfrm rot="0">
            <a:off x="857250" y="6751263"/>
            <a:ext cx="16231543" cy="1181624"/>
          </a:xfrm>
          <a:prstGeom prst="rect">
            <a:avLst/>
          </a:prstGeom>
        </p:spPr>
        <p:txBody>
          <a:bodyPr anchor="t" rtlCol="false" tIns="0" lIns="0" bIns="0" rIns="0">
            <a:spAutoFit/>
          </a:bodyPr>
          <a:lstStyle/>
          <a:p>
            <a:pPr algn="l">
              <a:lnSpc>
                <a:spcPts val="4050"/>
              </a:lnSpc>
            </a:pPr>
            <a:r>
              <a:rPr lang="en-US" b="true" sz="2250">
                <a:solidFill>
                  <a:srgbClr val="000000"/>
                </a:solidFill>
                <a:latin typeface="Arimo Bold"/>
                <a:ea typeface="Arimo Bold"/>
                <a:cs typeface="Arimo Bold"/>
                <a:sym typeface="Arimo Bold"/>
              </a:rPr>
              <a:t>Corrective Actions: </a:t>
            </a:r>
            <a:r>
              <a:rPr lang="en-US" sz="2250">
                <a:solidFill>
                  <a:srgbClr val="000000"/>
                </a:solidFill>
                <a:latin typeface="Arimo"/>
                <a:ea typeface="Arimo"/>
                <a:cs typeface="Arimo"/>
                <a:sym typeface="Arimo"/>
              </a:rPr>
              <a:t>Mandate and enforce hardware or app-based MFA for all administrative and privileged cloud accounts immediately.</a:t>
            </a:r>
          </a:p>
        </p:txBody>
      </p:sp>
      <p:sp>
        <p:nvSpPr>
          <p:cNvPr name="TextBox 8" id="8"/>
          <p:cNvSpPr txBox="true"/>
          <p:nvPr/>
        </p:nvSpPr>
        <p:spPr>
          <a:xfrm rot="0">
            <a:off x="857250" y="7790012"/>
            <a:ext cx="16231543" cy="1181624"/>
          </a:xfrm>
          <a:prstGeom prst="rect">
            <a:avLst/>
          </a:prstGeom>
        </p:spPr>
        <p:txBody>
          <a:bodyPr anchor="t" rtlCol="false" tIns="0" lIns="0" bIns="0" rIns="0">
            <a:spAutoFit/>
          </a:bodyPr>
          <a:lstStyle/>
          <a:p>
            <a:pPr algn="l">
              <a:lnSpc>
                <a:spcPts val="4050"/>
              </a:lnSpc>
            </a:pPr>
            <a:r>
              <a:rPr lang="en-US" b="true" sz="2250">
                <a:solidFill>
                  <a:srgbClr val="000000"/>
                </a:solidFill>
                <a:latin typeface="Arimo Bold"/>
                <a:ea typeface="Arimo Bold"/>
                <a:cs typeface="Arimo Bold"/>
                <a:sym typeface="Arimo Bold"/>
              </a:rPr>
              <a:t>Preventive Control: </a:t>
            </a:r>
            <a:r>
              <a:rPr lang="en-US" sz="2250">
                <a:solidFill>
                  <a:srgbClr val="000000"/>
                </a:solidFill>
                <a:latin typeface="Arimo"/>
                <a:ea typeface="Arimo"/>
                <a:cs typeface="Arimo"/>
                <a:sym typeface="Arimo"/>
              </a:rPr>
              <a:t>Implement an automated Identity and Access Management (IAM) policy that blocks authentication attempts from accounts without active MFA.</a:t>
            </a:r>
          </a:p>
        </p:txBody>
      </p:sp>
      <p:sp>
        <p:nvSpPr>
          <p:cNvPr name="TextBox 9" id="9"/>
          <p:cNvSpPr txBox="true"/>
          <p:nvPr/>
        </p:nvSpPr>
        <p:spPr>
          <a:xfrm rot="0">
            <a:off x="857250" y="8828751"/>
            <a:ext cx="16231543" cy="662245"/>
          </a:xfrm>
          <a:prstGeom prst="rect">
            <a:avLst/>
          </a:prstGeom>
        </p:spPr>
        <p:txBody>
          <a:bodyPr anchor="t" rtlCol="false" tIns="0" lIns="0" bIns="0" rIns="0">
            <a:spAutoFit/>
          </a:bodyPr>
          <a:lstStyle/>
          <a:p>
            <a:pPr algn="l">
              <a:lnSpc>
                <a:spcPts val="4050"/>
              </a:lnSpc>
            </a:pPr>
            <a:r>
              <a:rPr lang="en-US" b="true" sz="2250">
                <a:solidFill>
                  <a:srgbClr val="000000"/>
                </a:solidFill>
                <a:latin typeface="Arimo Bold"/>
                <a:ea typeface="Arimo Bold"/>
                <a:cs typeface="Arimo Bold"/>
                <a:sym typeface="Arimo Bold"/>
              </a:rPr>
              <a:t>Priority Level: </a:t>
            </a:r>
            <a:r>
              <a:rPr lang="en-US" sz="2250">
                <a:solidFill>
                  <a:srgbClr val="000000"/>
                </a:solidFill>
                <a:latin typeface="Arimo"/>
                <a:ea typeface="Arimo"/>
                <a:cs typeface="Arimo"/>
                <a:sym typeface="Arimo"/>
              </a:rPr>
              <a:t>High</a:t>
            </a:r>
          </a:p>
        </p:txBody>
      </p:sp>
      <p:grpSp>
        <p:nvGrpSpPr>
          <p:cNvPr name="Group 10" id="10"/>
          <p:cNvGrpSpPr/>
          <p:nvPr/>
        </p:nvGrpSpPr>
        <p:grpSpPr>
          <a:xfrm rot="0">
            <a:off x="13807440" y="2515486"/>
            <a:ext cx="4286049" cy="2028710"/>
            <a:chOff x="0" y="0"/>
            <a:chExt cx="7022973" cy="3324174"/>
          </a:xfrm>
        </p:grpSpPr>
        <p:sp>
          <p:nvSpPr>
            <p:cNvPr name="Freeform 11" id="11" descr="Protect Your Accounts with MFA | Information Technology Services"/>
            <p:cNvSpPr/>
            <p:nvPr/>
          </p:nvSpPr>
          <p:spPr>
            <a:xfrm flipH="false" flipV="false" rot="0">
              <a:off x="0" y="0"/>
              <a:ext cx="7022973" cy="3324225"/>
            </a:xfrm>
            <a:custGeom>
              <a:avLst/>
              <a:gdLst/>
              <a:ahLst/>
              <a:cxnLst/>
              <a:rect r="r" b="b" t="t" l="l"/>
              <a:pathLst>
                <a:path h="3324225" w="7022973">
                  <a:moveTo>
                    <a:pt x="0" y="0"/>
                  </a:moveTo>
                  <a:lnTo>
                    <a:pt x="7022973" y="0"/>
                  </a:lnTo>
                  <a:lnTo>
                    <a:pt x="7022973" y="3324225"/>
                  </a:lnTo>
                  <a:lnTo>
                    <a:pt x="0" y="3324225"/>
                  </a:lnTo>
                  <a:lnTo>
                    <a:pt x="0" y="0"/>
                  </a:lnTo>
                  <a:close/>
                </a:path>
              </a:pathLst>
            </a:custGeom>
            <a:blipFill>
              <a:blip r:embed="rId3"/>
              <a:stretch>
                <a:fillRect l="-7544" t="-20154" r="-6702" b="-15010"/>
              </a:stretch>
            </a:blipFill>
          </p:spPr>
        </p:sp>
      </p:grpSp>
      <p:sp>
        <p:nvSpPr>
          <p:cNvPr name="Freeform 12" id="12"/>
          <p:cNvSpPr/>
          <p:nvPr/>
        </p:nvSpPr>
        <p:spPr>
          <a:xfrm flipH="true" flipV="false" rot="0">
            <a:off x="-2341491" y="6051085"/>
            <a:ext cx="24520492" cy="4402586"/>
          </a:xfrm>
          <a:custGeom>
            <a:avLst/>
            <a:gdLst/>
            <a:ahLst/>
            <a:cxnLst/>
            <a:rect r="r" b="b" t="t" l="l"/>
            <a:pathLst>
              <a:path h="4402586" w="24520492">
                <a:moveTo>
                  <a:pt x="24520492" y="0"/>
                </a:moveTo>
                <a:lnTo>
                  <a:pt x="0" y="0"/>
                </a:lnTo>
                <a:lnTo>
                  <a:pt x="0" y="4402586"/>
                </a:lnTo>
                <a:lnTo>
                  <a:pt x="24520492" y="4402586"/>
                </a:lnTo>
                <a:lnTo>
                  <a:pt x="24520492" y="0"/>
                </a:lnTo>
                <a:close/>
              </a:path>
            </a:pathLst>
          </a:custGeom>
          <a:blipFill>
            <a:blip r:embed="rId4">
              <a:alphaModFix amt="6000"/>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852149">
            <a:off x="16711258" y="-2182187"/>
            <a:ext cx="887655" cy="5727768"/>
            <a:chOff x="0" y="0"/>
            <a:chExt cx="233786" cy="1508548"/>
          </a:xfrm>
        </p:grpSpPr>
        <p:sp>
          <p:nvSpPr>
            <p:cNvPr name="Freeform 14" id="14"/>
            <p:cNvSpPr/>
            <p:nvPr/>
          </p:nvSpPr>
          <p:spPr>
            <a:xfrm flipH="false" flipV="false" rot="0">
              <a:off x="0" y="0"/>
              <a:ext cx="233786" cy="1508548"/>
            </a:xfrm>
            <a:custGeom>
              <a:avLst/>
              <a:gdLst/>
              <a:ahLst/>
              <a:cxnLst/>
              <a:rect r="r" b="b" t="t" l="l"/>
              <a:pathLst>
                <a:path h="1508548" w="233786">
                  <a:moveTo>
                    <a:pt x="0" y="0"/>
                  </a:moveTo>
                  <a:lnTo>
                    <a:pt x="233786" y="0"/>
                  </a:lnTo>
                  <a:lnTo>
                    <a:pt x="233786" y="1508548"/>
                  </a:lnTo>
                  <a:lnTo>
                    <a:pt x="0" y="1508548"/>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15" id="15"/>
            <p:cNvSpPr txBox="true"/>
            <p:nvPr/>
          </p:nvSpPr>
          <p:spPr>
            <a:xfrm>
              <a:off x="0" y="-57150"/>
              <a:ext cx="233786" cy="1565698"/>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5612650" y="235134"/>
            <a:ext cx="793566" cy="793566"/>
          </a:xfrm>
          <a:custGeom>
            <a:avLst/>
            <a:gdLst/>
            <a:ahLst/>
            <a:cxnLst/>
            <a:rect r="r" b="b" t="t" l="l"/>
            <a:pathLst>
              <a:path h="793566" w="793566">
                <a:moveTo>
                  <a:pt x="0" y="0"/>
                </a:moveTo>
                <a:lnTo>
                  <a:pt x="793565" y="0"/>
                </a:lnTo>
                <a:lnTo>
                  <a:pt x="793565" y="793566"/>
                </a:lnTo>
                <a:lnTo>
                  <a:pt x="0" y="793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11724087" y="300697"/>
            <a:ext cx="3705639" cy="381000"/>
          </a:xfrm>
          <a:prstGeom prst="rect">
            <a:avLst/>
          </a:prstGeom>
        </p:spPr>
        <p:txBody>
          <a:bodyPr anchor="t" rtlCol="false" tIns="0" lIns="0" bIns="0" rIns="0">
            <a:spAutoFit/>
          </a:bodyPr>
          <a:lstStyle/>
          <a:p>
            <a:pPr algn="r">
              <a:lnSpc>
                <a:spcPts val="2849"/>
              </a:lnSpc>
            </a:pPr>
            <a:r>
              <a:rPr lang="en-US" b="true" sz="2499">
                <a:solidFill>
                  <a:srgbClr val="000000"/>
                </a:solidFill>
                <a:latin typeface="Poppins Bold"/>
                <a:ea typeface="Poppins Bold"/>
                <a:cs typeface="Poppins Bold"/>
                <a:sym typeface="Poppins Bold"/>
              </a:rPr>
              <a:t>FinSecure Bank</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57250" y="1819380"/>
            <a:ext cx="7858125" cy="632461"/>
          </a:xfrm>
          <a:prstGeom prst="rect">
            <a:avLst/>
          </a:prstGeom>
        </p:spPr>
        <p:txBody>
          <a:bodyPr anchor="t" rtlCol="false" tIns="0" lIns="0" bIns="0" rIns="0">
            <a:spAutoFit/>
          </a:bodyPr>
          <a:lstStyle/>
          <a:p>
            <a:pPr algn="l">
              <a:lnSpc>
                <a:spcPts val="5309"/>
              </a:lnSpc>
            </a:pPr>
            <a:r>
              <a:rPr lang="en-US" b="true" sz="2949">
                <a:solidFill>
                  <a:srgbClr val="000000"/>
                </a:solidFill>
                <a:latin typeface="Arimo Bold"/>
                <a:ea typeface="Arimo Bold"/>
                <a:cs typeface="Arimo Bold"/>
                <a:sym typeface="Arimo Bold"/>
              </a:rPr>
              <a:t>Classification: Major Non-Conformity</a:t>
            </a:r>
          </a:p>
        </p:txBody>
      </p:sp>
      <p:sp>
        <p:nvSpPr>
          <p:cNvPr name="TextBox 3" id="3"/>
          <p:cNvSpPr txBox="true"/>
          <p:nvPr/>
        </p:nvSpPr>
        <p:spPr>
          <a:xfrm rot="0">
            <a:off x="857250" y="2571855"/>
            <a:ext cx="16411423" cy="1623060"/>
          </a:xfrm>
          <a:prstGeom prst="rect">
            <a:avLst/>
          </a:prstGeom>
        </p:spPr>
        <p:txBody>
          <a:bodyPr anchor="t" rtlCol="false" tIns="0" lIns="0" bIns="0" rIns="0">
            <a:spAutoFit/>
          </a:bodyPr>
          <a:lstStyle/>
          <a:p>
            <a:pPr algn="l">
              <a:lnSpc>
                <a:spcPts val="4409"/>
              </a:lnSpc>
            </a:pPr>
            <a:r>
              <a:rPr lang="en-US" b="true" sz="2449">
                <a:solidFill>
                  <a:srgbClr val="000000"/>
                </a:solidFill>
                <a:latin typeface="Arimo Bold"/>
                <a:ea typeface="Arimo Bold"/>
                <a:cs typeface="Arimo Bold"/>
                <a:sym typeface="Arimo Bold"/>
              </a:rPr>
              <a:t>Issue:</a:t>
            </a:r>
            <a:r>
              <a:rPr lang="en-US" sz="2449">
                <a:solidFill>
                  <a:srgbClr val="000000"/>
                </a:solidFill>
                <a:latin typeface="Arimo"/>
                <a:ea typeface="Arimo"/>
                <a:cs typeface="Arimo"/>
                <a:sym typeface="Arimo"/>
              </a:rPr>
              <a:t> The bank integrates with a new niche third-party payment gateway for cross-border transactions. However, there was no evidence of an information security risk assessment or a Right-to-Audit clause executed prior to signing the vendor contract..</a:t>
            </a:r>
          </a:p>
        </p:txBody>
      </p:sp>
      <p:sp>
        <p:nvSpPr>
          <p:cNvPr name="TextBox 4" id="4"/>
          <p:cNvSpPr txBox="true"/>
          <p:nvPr/>
        </p:nvSpPr>
        <p:spPr>
          <a:xfrm rot="0">
            <a:off x="857250" y="4166725"/>
            <a:ext cx="15988481" cy="518160"/>
          </a:xfrm>
          <a:prstGeom prst="rect">
            <a:avLst/>
          </a:prstGeom>
        </p:spPr>
        <p:txBody>
          <a:bodyPr anchor="t" rtlCol="false" tIns="0" lIns="0" bIns="0" rIns="0">
            <a:spAutoFit/>
          </a:bodyPr>
          <a:lstStyle/>
          <a:p>
            <a:pPr algn="l">
              <a:lnSpc>
                <a:spcPts val="4409"/>
              </a:lnSpc>
            </a:pPr>
            <a:r>
              <a:rPr lang="en-US" b="true" sz="2449">
                <a:solidFill>
                  <a:srgbClr val="000000"/>
                </a:solidFill>
                <a:latin typeface="Arimo Bold"/>
                <a:ea typeface="Arimo Bold"/>
                <a:cs typeface="Arimo Bold"/>
                <a:sym typeface="Arimo Bold"/>
              </a:rPr>
              <a:t>ISO Mapping:</a:t>
            </a:r>
            <a:r>
              <a:rPr lang="en-US" sz="2449">
                <a:solidFill>
                  <a:srgbClr val="000000"/>
                </a:solidFill>
                <a:latin typeface="Arimo"/>
                <a:ea typeface="Arimo"/>
                <a:cs typeface="Arimo"/>
                <a:sym typeface="Arimo"/>
              </a:rPr>
              <a:t> Annex A.5.19 (Supplier Relationships ) Clause 6.1.2 (Information security risk assessment).</a:t>
            </a:r>
          </a:p>
        </p:txBody>
      </p:sp>
      <p:sp>
        <p:nvSpPr>
          <p:cNvPr name="TextBox 5" id="5"/>
          <p:cNvSpPr txBox="true"/>
          <p:nvPr/>
        </p:nvSpPr>
        <p:spPr>
          <a:xfrm rot="0">
            <a:off x="857250" y="4742036"/>
            <a:ext cx="17130951" cy="1623060"/>
          </a:xfrm>
          <a:prstGeom prst="rect">
            <a:avLst/>
          </a:prstGeom>
        </p:spPr>
        <p:txBody>
          <a:bodyPr anchor="t" rtlCol="false" tIns="0" lIns="0" bIns="0" rIns="0">
            <a:spAutoFit/>
          </a:bodyPr>
          <a:lstStyle/>
          <a:p>
            <a:pPr algn="l">
              <a:lnSpc>
                <a:spcPts val="4409"/>
              </a:lnSpc>
            </a:pPr>
            <a:r>
              <a:rPr lang="en-US" b="true" sz="2449">
                <a:solidFill>
                  <a:srgbClr val="000000"/>
                </a:solidFill>
                <a:latin typeface="Arimo Bold"/>
                <a:ea typeface="Arimo Bold"/>
                <a:cs typeface="Arimo Bold"/>
                <a:sym typeface="Arimo Bold"/>
              </a:rPr>
              <a:t>Risk Impact:</a:t>
            </a:r>
            <a:r>
              <a:rPr lang="en-US" sz="2449">
                <a:solidFill>
                  <a:srgbClr val="000000"/>
                </a:solidFill>
                <a:latin typeface="Arimo"/>
                <a:ea typeface="Arimo"/>
                <a:cs typeface="Arimo"/>
                <a:sym typeface="Arimo"/>
              </a:rPr>
              <a:t> The bank cannot guarantee that the payment gateway complies with baseline security practices. A breach at the vendor level could compromise FinSecure Bank’s transactional data pipelines, resulting in financial fraud and supply-chain vulnerabilities.</a:t>
            </a:r>
          </a:p>
        </p:txBody>
      </p:sp>
      <p:sp>
        <p:nvSpPr>
          <p:cNvPr name="TextBox 6" id="6"/>
          <p:cNvSpPr txBox="true"/>
          <p:nvPr/>
        </p:nvSpPr>
        <p:spPr>
          <a:xfrm rot="0">
            <a:off x="786603" y="1094948"/>
            <a:ext cx="17018025" cy="705382"/>
          </a:xfrm>
          <a:prstGeom prst="rect">
            <a:avLst/>
          </a:prstGeom>
        </p:spPr>
        <p:txBody>
          <a:bodyPr anchor="t" rtlCol="false" tIns="0" lIns="0" bIns="0" rIns="0">
            <a:spAutoFit/>
          </a:bodyPr>
          <a:lstStyle/>
          <a:p>
            <a:pPr algn="l">
              <a:lnSpc>
                <a:spcPts val="5461"/>
              </a:lnSpc>
            </a:pPr>
            <a:r>
              <a:rPr lang="en-US" b="true" sz="4550">
                <a:solidFill>
                  <a:srgbClr val="000000"/>
                </a:solidFill>
                <a:latin typeface="Arimo Bold"/>
                <a:ea typeface="Arimo Bold"/>
                <a:cs typeface="Arimo Bold"/>
                <a:sym typeface="Arimo Bold"/>
              </a:rPr>
              <a:t>Finding 2: </a:t>
            </a:r>
            <a:r>
              <a:rPr lang="en-US" b="true" sz="4550">
                <a:solidFill>
                  <a:srgbClr val="73BDBD"/>
                </a:solidFill>
                <a:latin typeface="Arimo Bold"/>
                <a:ea typeface="Arimo Bold"/>
                <a:cs typeface="Arimo Bold"/>
                <a:sym typeface="Arimo Bold"/>
              </a:rPr>
              <a:t>Incomplete Third-Party Supplier Risk Assessments</a:t>
            </a:r>
          </a:p>
        </p:txBody>
      </p:sp>
      <p:sp>
        <p:nvSpPr>
          <p:cNvPr name="TextBox 7" id="7"/>
          <p:cNvSpPr txBox="true"/>
          <p:nvPr/>
        </p:nvSpPr>
        <p:spPr>
          <a:xfrm rot="0">
            <a:off x="786603" y="6403196"/>
            <a:ext cx="13903010" cy="1055371"/>
          </a:xfrm>
          <a:prstGeom prst="rect">
            <a:avLst/>
          </a:prstGeom>
        </p:spPr>
        <p:txBody>
          <a:bodyPr anchor="t" rtlCol="false" tIns="0" lIns="0" bIns="0" rIns="0">
            <a:spAutoFit/>
          </a:bodyPr>
          <a:lstStyle/>
          <a:p>
            <a:pPr algn="l">
              <a:lnSpc>
                <a:spcPts val="4319"/>
              </a:lnSpc>
            </a:pPr>
            <a:r>
              <a:rPr lang="en-US" b="true" sz="2399">
                <a:solidFill>
                  <a:srgbClr val="000000"/>
                </a:solidFill>
                <a:latin typeface="Arimo Bold"/>
                <a:ea typeface="Arimo Bold"/>
                <a:cs typeface="Arimo Bold"/>
                <a:sym typeface="Arimo Bold"/>
              </a:rPr>
              <a:t>Corrective Actions:</a:t>
            </a:r>
            <a:r>
              <a:rPr lang="en-US" sz="2399">
                <a:solidFill>
                  <a:srgbClr val="000000"/>
                </a:solidFill>
                <a:latin typeface="Arimo"/>
                <a:ea typeface="Arimo"/>
                <a:cs typeface="Arimo"/>
                <a:sym typeface="Arimo"/>
              </a:rPr>
              <a:t> Halt non-essential data transfers and issue a retroactive security questionnaire to the vendor, requiring proof of their  ISO 27001 certification.</a:t>
            </a:r>
          </a:p>
        </p:txBody>
      </p:sp>
      <p:sp>
        <p:nvSpPr>
          <p:cNvPr name="TextBox 8" id="8"/>
          <p:cNvSpPr txBox="true"/>
          <p:nvPr/>
        </p:nvSpPr>
        <p:spPr>
          <a:xfrm rot="0">
            <a:off x="857250" y="7566050"/>
            <a:ext cx="13625661" cy="1055371"/>
          </a:xfrm>
          <a:prstGeom prst="rect">
            <a:avLst/>
          </a:prstGeom>
        </p:spPr>
        <p:txBody>
          <a:bodyPr anchor="t" rtlCol="false" tIns="0" lIns="0" bIns="0" rIns="0">
            <a:spAutoFit/>
          </a:bodyPr>
          <a:lstStyle/>
          <a:p>
            <a:pPr algn="l">
              <a:lnSpc>
                <a:spcPts val="4319"/>
              </a:lnSpc>
            </a:pPr>
            <a:r>
              <a:rPr lang="en-US" b="true" sz="2399">
                <a:solidFill>
                  <a:srgbClr val="000000"/>
                </a:solidFill>
                <a:latin typeface="Arimo Bold"/>
                <a:ea typeface="Arimo Bold"/>
                <a:cs typeface="Arimo Bold"/>
                <a:sym typeface="Arimo Bold"/>
              </a:rPr>
              <a:t>Preventive Control: </a:t>
            </a:r>
            <a:r>
              <a:rPr lang="en-US" sz="2399">
                <a:solidFill>
                  <a:srgbClr val="000000"/>
                </a:solidFill>
                <a:latin typeface="Arimo"/>
                <a:ea typeface="Arimo"/>
                <a:cs typeface="Arimo"/>
                <a:sym typeface="Arimo"/>
              </a:rPr>
              <a:t>Update the Procurement Policy to legally prohibit the onboarding of any third-party IT vendor without a completed Security Risk Assessment signed off by the CISO.</a:t>
            </a:r>
          </a:p>
        </p:txBody>
      </p:sp>
      <p:sp>
        <p:nvSpPr>
          <p:cNvPr name="TextBox 9" id="9"/>
          <p:cNvSpPr txBox="true"/>
          <p:nvPr/>
        </p:nvSpPr>
        <p:spPr>
          <a:xfrm rot="0">
            <a:off x="786603" y="8646681"/>
            <a:ext cx="12515660" cy="512446"/>
          </a:xfrm>
          <a:prstGeom prst="rect">
            <a:avLst/>
          </a:prstGeom>
        </p:spPr>
        <p:txBody>
          <a:bodyPr anchor="t" rtlCol="false" tIns="0" lIns="0" bIns="0" rIns="0">
            <a:spAutoFit/>
          </a:bodyPr>
          <a:lstStyle/>
          <a:p>
            <a:pPr algn="l">
              <a:lnSpc>
                <a:spcPts val="4319"/>
              </a:lnSpc>
            </a:pPr>
            <a:r>
              <a:rPr lang="en-US" b="true" sz="2399">
                <a:solidFill>
                  <a:srgbClr val="000000"/>
                </a:solidFill>
                <a:latin typeface="Arimo Bold"/>
                <a:ea typeface="Arimo Bold"/>
                <a:cs typeface="Arimo Bold"/>
                <a:sym typeface="Arimo Bold"/>
              </a:rPr>
              <a:t>Priority Level: High</a:t>
            </a:r>
          </a:p>
        </p:txBody>
      </p:sp>
      <p:grpSp>
        <p:nvGrpSpPr>
          <p:cNvPr name="Group 10" id="10"/>
          <p:cNvGrpSpPr/>
          <p:nvPr/>
        </p:nvGrpSpPr>
        <p:grpSpPr>
          <a:xfrm rot="0">
            <a:off x="14899011" y="6698471"/>
            <a:ext cx="3388989" cy="3588529"/>
            <a:chOff x="0" y="0"/>
            <a:chExt cx="5944616" cy="6294628"/>
          </a:xfrm>
        </p:grpSpPr>
        <p:sp>
          <p:nvSpPr>
            <p:cNvPr name="Freeform 11" id="11"/>
            <p:cNvSpPr/>
            <p:nvPr/>
          </p:nvSpPr>
          <p:spPr>
            <a:xfrm flipH="false" flipV="false" rot="0">
              <a:off x="0" y="0"/>
              <a:ext cx="5944505" cy="6294633"/>
            </a:xfrm>
            <a:custGeom>
              <a:avLst/>
              <a:gdLst/>
              <a:ahLst/>
              <a:cxnLst/>
              <a:rect r="r" b="b" t="t" l="l"/>
              <a:pathLst>
                <a:path h="6294633" w="5944505">
                  <a:moveTo>
                    <a:pt x="5717413" y="0"/>
                  </a:moveTo>
                  <a:cubicBezTo>
                    <a:pt x="5878068" y="0"/>
                    <a:pt x="5976112" y="127127"/>
                    <a:pt x="5935218" y="282448"/>
                  </a:cubicBezTo>
                  <a:lnTo>
                    <a:pt x="4415282" y="6067552"/>
                  </a:lnTo>
                  <a:cubicBezTo>
                    <a:pt x="4374515" y="6222873"/>
                    <a:pt x="4212590" y="6322060"/>
                    <a:pt x="4055618" y="6287897"/>
                  </a:cubicBezTo>
                  <a:lnTo>
                    <a:pt x="285369" y="5466842"/>
                  </a:lnTo>
                  <a:cubicBezTo>
                    <a:pt x="128397" y="5432679"/>
                    <a:pt x="0" y="5273294"/>
                    <a:pt x="0" y="5112639"/>
                  </a:cubicBezTo>
                  <a:lnTo>
                    <a:pt x="0" y="292100"/>
                  </a:lnTo>
                  <a:cubicBezTo>
                    <a:pt x="0" y="131445"/>
                    <a:pt x="131445" y="0"/>
                    <a:pt x="292100" y="0"/>
                  </a:cubicBezTo>
                  <a:lnTo>
                    <a:pt x="5717413" y="0"/>
                  </a:lnTo>
                  <a:close/>
                </a:path>
              </a:pathLst>
            </a:custGeom>
            <a:blipFill>
              <a:blip r:embed="rId3"/>
              <a:stretch>
                <a:fillRect l="-47083" t="-11122" r="-29417" b="0"/>
              </a:stretch>
            </a:blipFill>
            <a:ln w="133350" cap="sq">
              <a:solidFill>
                <a:srgbClr val="FFFFFF"/>
              </a:solidFill>
              <a:prstDash val="solid"/>
              <a:miter/>
            </a:ln>
          </p:spPr>
        </p:sp>
      </p:grpSp>
      <p:sp>
        <p:nvSpPr>
          <p:cNvPr name="Freeform 12" id="12"/>
          <p:cNvSpPr/>
          <p:nvPr/>
        </p:nvSpPr>
        <p:spPr>
          <a:xfrm flipH="false" flipV="false" rot="0">
            <a:off x="17081710" y="216593"/>
            <a:ext cx="793566" cy="793566"/>
          </a:xfrm>
          <a:custGeom>
            <a:avLst/>
            <a:gdLst/>
            <a:ahLst/>
            <a:cxnLst/>
            <a:rect r="r" b="b" t="t" l="l"/>
            <a:pathLst>
              <a:path h="793566" w="793566">
                <a:moveTo>
                  <a:pt x="0" y="0"/>
                </a:moveTo>
                <a:lnTo>
                  <a:pt x="793565" y="0"/>
                </a:lnTo>
                <a:lnTo>
                  <a:pt x="793565" y="793566"/>
                </a:lnTo>
                <a:lnTo>
                  <a:pt x="0" y="7935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3302263" y="418113"/>
            <a:ext cx="3705639" cy="381000"/>
          </a:xfrm>
          <a:prstGeom prst="rect">
            <a:avLst/>
          </a:prstGeom>
        </p:spPr>
        <p:txBody>
          <a:bodyPr anchor="t" rtlCol="false" tIns="0" lIns="0" bIns="0" rIns="0">
            <a:spAutoFit/>
          </a:bodyPr>
          <a:lstStyle/>
          <a:p>
            <a:pPr algn="r">
              <a:lnSpc>
                <a:spcPts val="2849"/>
              </a:lnSpc>
            </a:pPr>
            <a:r>
              <a:rPr lang="en-US" b="true" sz="2499">
                <a:solidFill>
                  <a:srgbClr val="000000"/>
                </a:solidFill>
                <a:latin typeface="Poppins Bold"/>
                <a:ea typeface="Poppins Bold"/>
                <a:cs typeface="Poppins Bold"/>
                <a:sym typeface="Poppins Bold"/>
              </a:rPr>
              <a:t>FinSecure Bank</a:t>
            </a:r>
          </a:p>
        </p:txBody>
      </p:sp>
      <p:sp>
        <p:nvSpPr>
          <p:cNvPr name="Freeform 14" id="14"/>
          <p:cNvSpPr/>
          <p:nvPr/>
        </p:nvSpPr>
        <p:spPr>
          <a:xfrm flipH="true" flipV="false" rot="0">
            <a:off x="-2060087" y="6275561"/>
            <a:ext cx="24520492" cy="4402586"/>
          </a:xfrm>
          <a:custGeom>
            <a:avLst/>
            <a:gdLst/>
            <a:ahLst/>
            <a:cxnLst/>
            <a:rect r="r" b="b" t="t" l="l"/>
            <a:pathLst>
              <a:path h="4402586" w="24520492">
                <a:moveTo>
                  <a:pt x="24520491" y="0"/>
                </a:moveTo>
                <a:lnTo>
                  <a:pt x="0" y="0"/>
                </a:lnTo>
                <a:lnTo>
                  <a:pt x="0" y="4402586"/>
                </a:lnTo>
                <a:lnTo>
                  <a:pt x="24520491" y="4402586"/>
                </a:lnTo>
                <a:lnTo>
                  <a:pt x="24520491" y="0"/>
                </a:lnTo>
                <a:close/>
              </a:path>
            </a:pathLst>
          </a:custGeom>
          <a:blipFill>
            <a:blip r:embed="rId6">
              <a:alphaModFix amt="6000"/>
              <a:extLst>
                <a:ext uri="{96DAC541-7B7A-43D3-8B79-37D633B846F1}">
                  <asvg:svgBlip xmlns:asvg="http://schemas.microsoft.com/office/drawing/2016/SVG/main" r:embed="rId7"/>
                </a:ext>
              </a:extLst>
            </a:blip>
            <a:stretch>
              <a:fillRect l="0" t="0" r="0" b="0"/>
            </a:stretch>
          </a:blipFill>
        </p:spPr>
      </p:sp>
      <p:grpSp>
        <p:nvGrpSpPr>
          <p:cNvPr name="Group 15" id="15"/>
          <p:cNvGrpSpPr/>
          <p:nvPr/>
        </p:nvGrpSpPr>
        <p:grpSpPr>
          <a:xfrm rot="-1168322">
            <a:off x="16824845" y="-5871928"/>
            <a:ext cx="887655" cy="8696949"/>
            <a:chOff x="0" y="0"/>
            <a:chExt cx="233786" cy="2290554"/>
          </a:xfrm>
        </p:grpSpPr>
        <p:sp>
          <p:nvSpPr>
            <p:cNvPr name="Freeform 16" id="16"/>
            <p:cNvSpPr/>
            <p:nvPr/>
          </p:nvSpPr>
          <p:spPr>
            <a:xfrm flipH="false" flipV="false" rot="0">
              <a:off x="0" y="0"/>
              <a:ext cx="233786" cy="2290554"/>
            </a:xfrm>
            <a:custGeom>
              <a:avLst/>
              <a:gdLst/>
              <a:ahLst/>
              <a:cxnLst/>
              <a:rect r="r" b="b" t="t" l="l"/>
              <a:pathLst>
                <a:path h="2290554" w="233786">
                  <a:moveTo>
                    <a:pt x="0" y="0"/>
                  </a:moveTo>
                  <a:lnTo>
                    <a:pt x="233786" y="0"/>
                  </a:lnTo>
                  <a:lnTo>
                    <a:pt x="233786" y="2290554"/>
                  </a:lnTo>
                  <a:lnTo>
                    <a:pt x="0" y="2290554"/>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17" id="17"/>
            <p:cNvSpPr txBox="true"/>
            <p:nvPr/>
          </p:nvSpPr>
          <p:spPr>
            <a:xfrm>
              <a:off x="0" y="-57150"/>
              <a:ext cx="233786" cy="2347704"/>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71512" y="498157"/>
            <a:ext cx="9935528" cy="757714"/>
          </a:xfrm>
          <a:prstGeom prst="rect">
            <a:avLst/>
          </a:prstGeom>
        </p:spPr>
        <p:txBody>
          <a:bodyPr anchor="t" rtlCol="false" tIns="0" lIns="0" bIns="0" rIns="0">
            <a:spAutoFit/>
          </a:bodyPr>
          <a:lstStyle/>
          <a:p>
            <a:pPr algn="l">
              <a:lnSpc>
                <a:spcPts val="5759"/>
              </a:lnSpc>
            </a:pPr>
            <a:r>
              <a:rPr lang="en-US" b="true" sz="4800">
                <a:solidFill>
                  <a:srgbClr val="000000"/>
                </a:solidFill>
                <a:latin typeface="Arimo Bold"/>
                <a:ea typeface="Arimo Bold"/>
                <a:cs typeface="Arimo Bold"/>
                <a:sym typeface="Arimo Bold"/>
              </a:rPr>
              <a:t>Finding 3: </a:t>
            </a:r>
            <a:r>
              <a:rPr lang="en-US" b="true" sz="4800">
                <a:solidFill>
                  <a:srgbClr val="73BDBD"/>
                </a:solidFill>
                <a:latin typeface="Arimo Bold"/>
                <a:ea typeface="Arimo Bold"/>
                <a:cs typeface="Arimo Bold"/>
                <a:sym typeface="Arimo Bold"/>
              </a:rPr>
              <a:t>IAM Offboarding</a:t>
            </a:r>
          </a:p>
        </p:txBody>
      </p:sp>
      <p:sp>
        <p:nvSpPr>
          <p:cNvPr name="TextBox 3" id="3"/>
          <p:cNvSpPr txBox="true"/>
          <p:nvPr/>
        </p:nvSpPr>
        <p:spPr>
          <a:xfrm rot="0">
            <a:off x="671512" y="1305487"/>
            <a:ext cx="7429500" cy="569596"/>
          </a:xfrm>
          <a:prstGeom prst="rect">
            <a:avLst/>
          </a:prstGeom>
        </p:spPr>
        <p:txBody>
          <a:bodyPr anchor="t" rtlCol="false" tIns="0" lIns="0" bIns="0" rIns="0">
            <a:spAutoFit/>
          </a:bodyPr>
          <a:lstStyle/>
          <a:p>
            <a:pPr algn="l">
              <a:lnSpc>
                <a:spcPts val="4769"/>
              </a:lnSpc>
            </a:pPr>
            <a:r>
              <a:rPr lang="en-US" b="true" sz="2649">
                <a:solidFill>
                  <a:srgbClr val="000000"/>
                </a:solidFill>
                <a:latin typeface="Arimo Bold"/>
                <a:ea typeface="Arimo Bold"/>
                <a:cs typeface="Arimo Bold"/>
                <a:sym typeface="Arimo Bold"/>
              </a:rPr>
              <a:t>Classification: Minor Non-Conformity</a:t>
            </a:r>
          </a:p>
        </p:txBody>
      </p:sp>
      <p:sp>
        <p:nvSpPr>
          <p:cNvPr name="TextBox 4" id="4"/>
          <p:cNvSpPr txBox="true"/>
          <p:nvPr/>
        </p:nvSpPr>
        <p:spPr>
          <a:xfrm rot="0">
            <a:off x="672693" y="1932794"/>
            <a:ext cx="9530876" cy="2175510"/>
          </a:xfrm>
          <a:prstGeom prst="rect">
            <a:avLst/>
          </a:prstGeom>
        </p:spPr>
        <p:txBody>
          <a:bodyPr anchor="t" rtlCol="false" tIns="0" lIns="0" bIns="0" rIns="0">
            <a:spAutoFit/>
          </a:bodyPr>
          <a:lstStyle/>
          <a:p>
            <a:pPr algn="l">
              <a:lnSpc>
                <a:spcPts val="4409"/>
              </a:lnSpc>
            </a:pPr>
            <a:r>
              <a:rPr lang="en-US" b="true" sz="2449">
                <a:solidFill>
                  <a:srgbClr val="000000"/>
                </a:solidFill>
                <a:latin typeface="Arimo Bold"/>
                <a:ea typeface="Arimo Bold"/>
                <a:cs typeface="Arimo Bold"/>
                <a:sym typeface="Arimo Bold"/>
              </a:rPr>
              <a:t>Issue:</a:t>
            </a:r>
            <a:r>
              <a:rPr lang="en-US" sz="2449">
                <a:solidFill>
                  <a:srgbClr val="000000"/>
                </a:solidFill>
                <a:latin typeface="Arimo"/>
                <a:ea typeface="Arimo"/>
                <a:cs typeface="Arimo"/>
                <a:sym typeface="Arimo"/>
              </a:rPr>
              <a:t> HR offboarding logs against active Active Directory accounts revealed that employees who resigned from the bank 30 to 45 days ago still possessed active network and web banking backend access credentials.</a:t>
            </a:r>
          </a:p>
        </p:txBody>
      </p:sp>
      <p:sp>
        <p:nvSpPr>
          <p:cNvPr name="TextBox 5" id="5"/>
          <p:cNvSpPr txBox="true"/>
          <p:nvPr/>
        </p:nvSpPr>
        <p:spPr>
          <a:xfrm rot="0">
            <a:off x="672693" y="4035600"/>
            <a:ext cx="8916881" cy="518160"/>
          </a:xfrm>
          <a:prstGeom prst="rect">
            <a:avLst/>
          </a:prstGeom>
        </p:spPr>
        <p:txBody>
          <a:bodyPr anchor="t" rtlCol="false" tIns="0" lIns="0" bIns="0" rIns="0">
            <a:spAutoFit/>
          </a:bodyPr>
          <a:lstStyle/>
          <a:p>
            <a:pPr algn="l">
              <a:lnSpc>
                <a:spcPts val="4409"/>
              </a:lnSpc>
            </a:pPr>
            <a:r>
              <a:rPr lang="en-US" b="true" sz="2449">
                <a:solidFill>
                  <a:srgbClr val="000000"/>
                </a:solidFill>
                <a:latin typeface="Arimo Bold"/>
                <a:ea typeface="Arimo Bold"/>
                <a:cs typeface="Arimo Bold"/>
                <a:sym typeface="Arimo Bold"/>
              </a:rPr>
              <a:t>ISO Mapping:</a:t>
            </a:r>
            <a:r>
              <a:rPr lang="en-US" sz="2449">
                <a:solidFill>
                  <a:srgbClr val="000000"/>
                </a:solidFill>
                <a:latin typeface="Arimo"/>
                <a:ea typeface="Arimo"/>
                <a:cs typeface="Arimo"/>
                <a:sym typeface="Arimo"/>
              </a:rPr>
              <a:t> Annex A.7.6 (Termination Responsibilities)</a:t>
            </a:r>
          </a:p>
        </p:txBody>
      </p:sp>
      <p:sp>
        <p:nvSpPr>
          <p:cNvPr name="TextBox 6" id="6"/>
          <p:cNvSpPr txBox="true"/>
          <p:nvPr/>
        </p:nvSpPr>
        <p:spPr>
          <a:xfrm rot="0">
            <a:off x="672693" y="4662507"/>
            <a:ext cx="9530876" cy="1623060"/>
          </a:xfrm>
          <a:prstGeom prst="rect">
            <a:avLst/>
          </a:prstGeom>
        </p:spPr>
        <p:txBody>
          <a:bodyPr anchor="t" rtlCol="false" tIns="0" lIns="0" bIns="0" rIns="0">
            <a:spAutoFit/>
          </a:bodyPr>
          <a:lstStyle/>
          <a:p>
            <a:pPr algn="l">
              <a:lnSpc>
                <a:spcPts val="4409"/>
              </a:lnSpc>
            </a:pPr>
            <a:r>
              <a:rPr lang="en-US" b="true" sz="2449">
                <a:solidFill>
                  <a:srgbClr val="000000"/>
                </a:solidFill>
                <a:latin typeface="Arimo Bold"/>
                <a:ea typeface="Arimo Bold"/>
                <a:cs typeface="Arimo Bold"/>
                <a:sym typeface="Arimo Bold"/>
              </a:rPr>
              <a:t>Risk Impact:</a:t>
            </a:r>
            <a:r>
              <a:rPr lang="en-US" sz="2449">
                <a:solidFill>
                  <a:srgbClr val="000000"/>
                </a:solidFill>
                <a:latin typeface="Arimo"/>
                <a:ea typeface="Arimo"/>
                <a:cs typeface="Arimo"/>
                <a:sym typeface="Arimo"/>
              </a:rPr>
              <a:t> Medium risk of insider threat or unauthorized systems access. Former employees could potentially log in remotely to alter configurations or download internal data assets.</a:t>
            </a:r>
          </a:p>
        </p:txBody>
      </p:sp>
      <p:grpSp>
        <p:nvGrpSpPr>
          <p:cNvPr name="Group 7" id="7"/>
          <p:cNvGrpSpPr/>
          <p:nvPr/>
        </p:nvGrpSpPr>
        <p:grpSpPr>
          <a:xfrm rot="0">
            <a:off x="10607040" y="0"/>
            <a:ext cx="7680960" cy="10287000"/>
            <a:chOff x="0" y="0"/>
            <a:chExt cx="10241280" cy="13716000"/>
          </a:xfrm>
        </p:grpSpPr>
        <p:sp>
          <p:nvSpPr>
            <p:cNvPr name="Freeform 8" id="8" descr="image.png"/>
            <p:cNvSpPr/>
            <p:nvPr/>
          </p:nvSpPr>
          <p:spPr>
            <a:xfrm flipH="false" flipV="false" rot="0">
              <a:off x="0" y="0"/>
              <a:ext cx="10241280" cy="13716000"/>
            </a:xfrm>
            <a:custGeom>
              <a:avLst/>
              <a:gdLst/>
              <a:ahLst/>
              <a:cxnLst/>
              <a:rect r="r" b="b" t="t" l="l"/>
              <a:pathLst>
                <a:path h="13716000" w="10241280">
                  <a:moveTo>
                    <a:pt x="0" y="0"/>
                  </a:moveTo>
                  <a:lnTo>
                    <a:pt x="10241280" y="0"/>
                  </a:lnTo>
                  <a:lnTo>
                    <a:pt x="10241280" y="13716000"/>
                  </a:lnTo>
                  <a:lnTo>
                    <a:pt x="0" y="13716000"/>
                  </a:lnTo>
                  <a:lnTo>
                    <a:pt x="0" y="0"/>
                  </a:lnTo>
                  <a:close/>
                </a:path>
              </a:pathLst>
            </a:custGeom>
            <a:blipFill>
              <a:blip r:embed="rId3"/>
              <a:stretch>
                <a:fillRect l="-3534" t="0" r="-15513" b="0"/>
              </a:stretch>
            </a:blipFill>
          </p:spPr>
        </p:sp>
      </p:grpSp>
      <p:sp>
        <p:nvSpPr>
          <p:cNvPr name="TextBox 9" id="9"/>
          <p:cNvSpPr txBox="true"/>
          <p:nvPr/>
        </p:nvSpPr>
        <p:spPr>
          <a:xfrm rot="0">
            <a:off x="645795" y="6266345"/>
            <a:ext cx="9755027" cy="1024890"/>
          </a:xfrm>
          <a:prstGeom prst="rect">
            <a:avLst/>
          </a:prstGeom>
        </p:spPr>
        <p:txBody>
          <a:bodyPr anchor="t" rtlCol="false" tIns="0" lIns="0" bIns="0" rIns="0">
            <a:spAutoFit/>
          </a:bodyPr>
          <a:lstStyle/>
          <a:p>
            <a:pPr algn="l">
              <a:lnSpc>
                <a:spcPts val="4139"/>
              </a:lnSpc>
            </a:pPr>
            <a:r>
              <a:rPr lang="en-US" b="true" sz="2299">
                <a:solidFill>
                  <a:srgbClr val="000000"/>
                </a:solidFill>
                <a:latin typeface="Arimo Bold"/>
                <a:ea typeface="Arimo Bold"/>
                <a:cs typeface="Arimo Bold"/>
                <a:sym typeface="Arimo Bold"/>
              </a:rPr>
              <a:t>Corrective Actions: </a:t>
            </a:r>
            <a:r>
              <a:rPr lang="en-US" sz="2299">
                <a:solidFill>
                  <a:srgbClr val="000000"/>
                </a:solidFill>
                <a:latin typeface="Arimo"/>
                <a:ea typeface="Arimo"/>
                <a:cs typeface="Arimo"/>
                <a:sym typeface="Arimo"/>
              </a:rPr>
              <a:t>Deprovision and disable all identified stale user accounts immediately.</a:t>
            </a:r>
          </a:p>
        </p:txBody>
      </p:sp>
      <p:sp>
        <p:nvSpPr>
          <p:cNvPr name="TextBox 10" id="10"/>
          <p:cNvSpPr txBox="true"/>
          <p:nvPr/>
        </p:nvSpPr>
        <p:spPr>
          <a:xfrm rot="0">
            <a:off x="645795" y="7319229"/>
            <a:ext cx="9961245" cy="2072640"/>
          </a:xfrm>
          <a:prstGeom prst="rect">
            <a:avLst/>
          </a:prstGeom>
        </p:spPr>
        <p:txBody>
          <a:bodyPr anchor="t" rtlCol="false" tIns="0" lIns="0" bIns="0" rIns="0">
            <a:spAutoFit/>
          </a:bodyPr>
          <a:lstStyle/>
          <a:p>
            <a:pPr algn="l">
              <a:lnSpc>
                <a:spcPts val="4139"/>
              </a:lnSpc>
            </a:pPr>
            <a:r>
              <a:rPr lang="en-US" b="true" sz="2299">
                <a:solidFill>
                  <a:srgbClr val="000000"/>
                </a:solidFill>
                <a:latin typeface="Arimo Bold"/>
                <a:ea typeface="Arimo Bold"/>
                <a:cs typeface="Arimo Bold"/>
                <a:sym typeface="Arimo Bold"/>
              </a:rPr>
              <a:t>Preventive Control: </a:t>
            </a:r>
            <a:r>
              <a:rPr lang="en-US" sz="2299">
                <a:solidFill>
                  <a:srgbClr val="000000"/>
                </a:solidFill>
                <a:latin typeface="Arimo"/>
                <a:ea typeface="Arimo"/>
                <a:cs typeface="Arimo"/>
                <a:sym typeface="Arimo"/>
              </a:rPr>
              <a:t>Create a synchronized, automated workflow between the HR Management System and Active Directory so that marking an employee as "Terminated" automatically suspends all IT access keys of their final day.</a:t>
            </a:r>
          </a:p>
        </p:txBody>
      </p:sp>
      <p:sp>
        <p:nvSpPr>
          <p:cNvPr name="TextBox 11" id="11"/>
          <p:cNvSpPr txBox="true"/>
          <p:nvPr/>
        </p:nvSpPr>
        <p:spPr>
          <a:xfrm rot="0">
            <a:off x="672693" y="9458544"/>
            <a:ext cx="9755027" cy="501015"/>
          </a:xfrm>
          <a:prstGeom prst="rect">
            <a:avLst/>
          </a:prstGeom>
        </p:spPr>
        <p:txBody>
          <a:bodyPr anchor="t" rtlCol="false" tIns="0" lIns="0" bIns="0" rIns="0">
            <a:spAutoFit/>
          </a:bodyPr>
          <a:lstStyle/>
          <a:p>
            <a:pPr algn="l">
              <a:lnSpc>
                <a:spcPts val="4139"/>
              </a:lnSpc>
            </a:pPr>
            <a:r>
              <a:rPr lang="en-US" b="true" sz="2299">
                <a:solidFill>
                  <a:srgbClr val="000000"/>
                </a:solidFill>
                <a:latin typeface="Arimo Bold"/>
                <a:ea typeface="Arimo Bold"/>
                <a:cs typeface="Arimo Bold"/>
                <a:sym typeface="Arimo Bold"/>
              </a:rPr>
              <a:t>Priority Level: Medium</a:t>
            </a:r>
            <a:r>
              <a:rPr lang="en-US" sz="2299">
                <a:solidFill>
                  <a:srgbClr val="000000"/>
                </a:solidFill>
                <a:latin typeface="Arimo"/>
                <a:ea typeface="Arimo"/>
                <a:cs typeface="Arimo"/>
                <a:sym typeface="Arimo"/>
              </a:rPr>
              <a:t>.</a:t>
            </a:r>
          </a:p>
        </p:txBody>
      </p:sp>
      <p:sp>
        <p:nvSpPr>
          <p:cNvPr name="Freeform 12" id="12"/>
          <p:cNvSpPr/>
          <p:nvPr/>
        </p:nvSpPr>
        <p:spPr>
          <a:xfrm flipH="false" flipV="false" rot="0">
            <a:off x="17081710" y="216593"/>
            <a:ext cx="793566" cy="793566"/>
          </a:xfrm>
          <a:custGeom>
            <a:avLst/>
            <a:gdLst/>
            <a:ahLst/>
            <a:cxnLst/>
            <a:rect r="r" b="b" t="t" l="l"/>
            <a:pathLst>
              <a:path h="793566" w="793566">
                <a:moveTo>
                  <a:pt x="0" y="0"/>
                </a:moveTo>
                <a:lnTo>
                  <a:pt x="793565" y="0"/>
                </a:lnTo>
                <a:lnTo>
                  <a:pt x="793565" y="793566"/>
                </a:lnTo>
                <a:lnTo>
                  <a:pt x="0" y="7935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3302263" y="418113"/>
            <a:ext cx="3705639" cy="381000"/>
          </a:xfrm>
          <a:prstGeom prst="rect">
            <a:avLst/>
          </a:prstGeom>
        </p:spPr>
        <p:txBody>
          <a:bodyPr anchor="t" rtlCol="false" tIns="0" lIns="0" bIns="0" rIns="0">
            <a:spAutoFit/>
          </a:bodyPr>
          <a:lstStyle/>
          <a:p>
            <a:pPr algn="r">
              <a:lnSpc>
                <a:spcPts val="2849"/>
              </a:lnSpc>
            </a:pPr>
            <a:r>
              <a:rPr lang="en-US" b="true" sz="2499">
                <a:solidFill>
                  <a:srgbClr val="000000"/>
                </a:solidFill>
                <a:latin typeface="Poppins Bold"/>
                <a:ea typeface="Poppins Bold"/>
                <a:cs typeface="Poppins Bold"/>
                <a:sym typeface="Poppins Bold"/>
              </a:rPr>
              <a:t>FinSecure Bank</a:t>
            </a:r>
          </a:p>
        </p:txBody>
      </p:sp>
      <p:sp>
        <p:nvSpPr>
          <p:cNvPr name="Freeform 14" id="14"/>
          <p:cNvSpPr/>
          <p:nvPr/>
        </p:nvSpPr>
        <p:spPr>
          <a:xfrm flipH="true" flipV="false" rot="0">
            <a:off x="-465337" y="5884414"/>
            <a:ext cx="24520492" cy="4402586"/>
          </a:xfrm>
          <a:custGeom>
            <a:avLst/>
            <a:gdLst/>
            <a:ahLst/>
            <a:cxnLst/>
            <a:rect r="r" b="b" t="t" l="l"/>
            <a:pathLst>
              <a:path h="4402586" w="24520492">
                <a:moveTo>
                  <a:pt x="24520492" y="0"/>
                </a:moveTo>
                <a:lnTo>
                  <a:pt x="0" y="0"/>
                </a:lnTo>
                <a:lnTo>
                  <a:pt x="0" y="4402586"/>
                </a:lnTo>
                <a:lnTo>
                  <a:pt x="24520492" y="4402586"/>
                </a:lnTo>
                <a:lnTo>
                  <a:pt x="24520492" y="0"/>
                </a:lnTo>
                <a:close/>
              </a:path>
            </a:pathLst>
          </a:custGeom>
          <a:blipFill>
            <a:blip r:embed="rId6">
              <a:alphaModFix amt="6000"/>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20040" y="269558"/>
            <a:ext cx="10538460" cy="757714"/>
          </a:xfrm>
          <a:prstGeom prst="rect">
            <a:avLst/>
          </a:prstGeom>
        </p:spPr>
        <p:txBody>
          <a:bodyPr anchor="t" rtlCol="false" tIns="0" lIns="0" bIns="0" rIns="0">
            <a:spAutoFit/>
          </a:bodyPr>
          <a:lstStyle/>
          <a:p>
            <a:pPr algn="l">
              <a:lnSpc>
                <a:spcPts val="5759"/>
              </a:lnSpc>
            </a:pPr>
            <a:r>
              <a:rPr lang="en-US" b="true" sz="4800">
                <a:solidFill>
                  <a:srgbClr val="000000"/>
                </a:solidFill>
                <a:latin typeface="Arimo Bold"/>
                <a:ea typeface="Arimo Bold"/>
                <a:cs typeface="Arimo Bold"/>
                <a:sym typeface="Arimo Bold"/>
              </a:rPr>
              <a:t>Finding 4: </a:t>
            </a:r>
            <a:r>
              <a:rPr lang="en-US" b="true" sz="4800">
                <a:solidFill>
                  <a:srgbClr val="73BDBD"/>
                </a:solidFill>
                <a:latin typeface="Arimo Bold"/>
                <a:ea typeface="Arimo Bold"/>
                <a:cs typeface="Arimo Bold"/>
                <a:sym typeface="Arimo Bold"/>
              </a:rPr>
              <a:t>Data Classification</a:t>
            </a:r>
          </a:p>
        </p:txBody>
      </p:sp>
      <p:sp>
        <p:nvSpPr>
          <p:cNvPr name="TextBox 3" id="3"/>
          <p:cNvSpPr txBox="true"/>
          <p:nvPr/>
        </p:nvSpPr>
        <p:spPr>
          <a:xfrm rot="0">
            <a:off x="514350" y="1069829"/>
            <a:ext cx="7429500" cy="590551"/>
          </a:xfrm>
          <a:prstGeom prst="rect">
            <a:avLst/>
          </a:prstGeom>
        </p:spPr>
        <p:txBody>
          <a:bodyPr anchor="t" rtlCol="false" tIns="0" lIns="0" bIns="0" rIns="0">
            <a:spAutoFit/>
          </a:bodyPr>
          <a:lstStyle/>
          <a:p>
            <a:pPr algn="l">
              <a:lnSpc>
                <a:spcPts val="4949"/>
              </a:lnSpc>
            </a:pPr>
            <a:r>
              <a:rPr lang="en-US" b="true" sz="2749">
                <a:solidFill>
                  <a:srgbClr val="000000"/>
                </a:solidFill>
                <a:latin typeface="Arimo Bold"/>
                <a:ea typeface="Arimo Bold"/>
                <a:cs typeface="Arimo Bold"/>
                <a:sym typeface="Arimo Bold"/>
              </a:rPr>
              <a:t>Classification: Minor Non-Conformity</a:t>
            </a:r>
          </a:p>
        </p:txBody>
      </p:sp>
      <p:sp>
        <p:nvSpPr>
          <p:cNvPr name="TextBox 4" id="4"/>
          <p:cNvSpPr txBox="true"/>
          <p:nvPr/>
        </p:nvSpPr>
        <p:spPr>
          <a:xfrm rot="0">
            <a:off x="511609" y="1841316"/>
            <a:ext cx="7975435" cy="1070610"/>
          </a:xfrm>
          <a:prstGeom prst="rect">
            <a:avLst/>
          </a:prstGeom>
        </p:spPr>
        <p:txBody>
          <a:bodyPr anchor="t" rtlCol="false" tIns="0" lIns="0" bIns="0" rIns="0">
            <a:spAutoFit/>
          </a:bodyPr>
          <a:lstStyle/>
          <a:p>
            <a:pPr algn="l">
              <a:lnSpc>
                <a:spcPts val="4409"/>
              </a:lnSpc>
            </a:pPr>
            <a:r>
              <a:rPr lang="en-US" b="true" sz="2449">
                <a:solidFill>
                  <a:srgbClr val="000000"/>
                </a:solidFill>
                <a:latin typeface="Arimo Bold"/>
                <a:ea typeface="Arimo Bold"/>
                <a:cs typeface="Arimo Bold"/>
                <a:sym typeface="Arimo Bold"/>
              </a:rPr>
              <a:t>Issue:</a:t>
            </a:r>
            <a:r>
              <a:rPr lang="en-US" sz="2449">
                <a:solidFill>
                  <a:srgbClr val="000000"/>
                </a:solidFill>
                <a:latin typeface="Arimo"/>
                <a:ea typeface="Arimo"/>
                <a:cs typeface="Arimo"/>
                <a:sym typeface="Arimo"/>
              </a:rPr>
              <a:t> AWS S3 buckets containing transaction logs lacked mandatory classification metadata tags.</a:t>
            </a:r>
          </a:p>
        </p:txBody>
      </p:sp>
      <p:sp>
        <p:nvSpPr>
          <p:cNvPr name="TextBox 5" id="5"/>
          <p:cNvSpPr txBox="true"/>
          <p:nvPr/>
        </p:nvSpPr>
        <p:spPr>
          <a:xfrm rot="0">
            <a:off x="455982" y="3092901"/>
            <a:ext cx="8455299" cy="518160"/>
          </a:xfrm>
          <a:prstGeom prst="rect">
            <a:avLst/>
          </a:prstGeom>
        </p:spPr>
        <p:txBody>
          <a:bodyPr anchor="t" rtlCol="false" tIns="0" lIns="0" bIns="0" rIns="0">
            <a:spAutoFit/>
          </a:bodyPr>
          <a:lstStyle/>
          <a:p>
            <a:pPr algn="l">
              <a:lnSpc>
                <a:spcPts val="4409"/>
              </a:lnSpc>
            </a:pPr>
            <a:r>
              <a:rPr lang="en-US" b="true" sz="2449">
                <a:solidFill>
                  <a:srgbClr val="000000"/>
                </a:solidFill>
                <a:latin typeface="Arimo Bold"/>
                <a:ea typeface="Arimo Bold"/>
                <a:cs typeface="Arimo Bold"/>
                <a:sym typeface="Arimo Bold"/>
              </a:rPr>
              <a:t>ISO Mapping:</a:t>
            </a:r>
            <a:r>
              <a:rPr lang="en-US" sz="2449">
                <a:solidFill>
                  <a:srgbClr val="000000"/>
                </a:solidFill>
                <a:latin typeface="Arimo"/>
                <a:ea typeface="Arimo"/>
                <a:cs typeface="Arimo"/>
                <a:sym typeface="Arimo"/>
              </a:rPr>
              <a:t> Annex A.5.12 (Classification of Information</a:t>
            </a:r>
            <a:r>
              <a:rPr lang="en-US" sz="2449">
                <a:solidFill>
                  <a:srgbClr val="DAFFDE"/>
                </a:solidFill>
                <a:latin typeface="Arimo"/>
                <a:ea typeface="Arimo"/>
                <a:cs typeface="Arimo"/>
                <a:sym typeface="Arimo"/>
              </a:rPr>
              <a:t>)</a:t>
            </a:r>
          </a:p>
        </p:txBody>
      </p:sp>
      <p:sp>
        <p:nvSpPr>
          <p:cNvPr name="TextBox 6" id="6"/>
          <p:cNvSpPr txBox="true"/>
          <p:nvPr/>
        </p:nvSpPr>
        <p:spPr>
          <a:xfrm rot="0">
            <a:off x="433731" y="3792037"/>
            <a:ext cx="8654642" cy="2175510"/>
          </a:xfrm>
          <a:prstGeom prst="rect">
            <a:avLst/>
          </a:prstGeom>
        </p:spPr>
        <p:txBody>
          <a:bodyPr anchor="t" rtlCol="false" tIns="0" lIns="0" bIns="0" rIns="0">
            <a:spAutoFit/>
          </a:bodyPr>
          <a:lstStyle/>
          <a:p>
            <a:pPr algn="l">
              <a:lnSpc>
                <a:spcPts val="4409"/>
              </a:lnSpc>
            </a:pPr>
            <a:r>
              <a:rPr lang="en-US" b="true" sz="2449">
                <a:solidFill>
                  <a:srgbClr val="000000"/>
                </a:solidFill>
                <a:latin typeface="Arimo Bold"/>
                <a:ea typeface="Arimo Bold"/>
                <a:cs typeface="Arimo Bold"/>
                <a:sym typeface="Arimo Bold"/>
              </a:rPr>
              <a:t>Risk Impact:</a:t>
            </a:r>
            <a:r>
              <a:rPr lang="en-US" sz="2449">
                <a:solidFill>
                  <a:srgbClr val="000000"/>
                </a:solidFill>
                <a:latin typeface="Arimo"/>
                <a:ea typeface="Arimo"/>
                <a:cs typeface="Arimo"/>
                <a:sym typeface="Arimo"/>
              </a:rPr>
              <a:t> Without explicit classification tags, automated data loss prevention (DLP) tools cannot accurately detect and prevent sensitive data leaks, increasing the probability of accidental public exposure.</a:t>
            </a:r>
          </a:p>
        </p:txBody>
      </p:sp>
      <p:grpSp>
        <p:nvGrpSpPr>
          <p:cNvPr name="Group 7" id="7"/>
          <p:cNvGrpSpPr/>
          <p:nvPr/>
        </p:nvGrpSpPr>
        <p:grpSpPr>
          <a:xfrm rot="0">
            <a:off x="9178290" y="0"/>
            <a:ext cx="9144000" cy="10287000"/>
            <a:chOff x="0" y="0"/>
            <a:chExt cx="12192000" cy="13716000"/>
          </a:xfrm>
        </p:grpSpPr>
        <p:sp>
          <p:nvSpPr>
            <p:cNvPr name="Freeform 8" id="8" descr="image.png"/>
            <p:cNvSpPr/>
            <p:nvPr/>
          </p:nvSpPr>
          <p:spPr>
            <a:xfrm flipH="false" flipV="false" rot="0">
              <a:off x="0" y="0"/>
              <a:ext cx="12192000" cy="13716000"/>
            </a:xfrm>
            <a:custGeom>
              <a:avLst/>
              <a:gdLst/>
              <a:ahLst/>
              <a:cxnLst/>
              <a:rect r="r" b="b" t="t" l="l"/>
              <a:pathLst>
                <a:path h="13716000" w="12192000">
                  <a:moveTo>
                    <a:pt x="0" y="0"/>
                  </a:moveTo>
                  <a:lnTo>
                    <a:pt x="12192000" y="0"/>
                  </a:lnTo>
                  <a:lnTo>
                    <a:pt x="12192000" y="13716000"/>
                  </a:lnTo>
                  <a:lnTo>
                    <a:pt x="0" y="13716000"/>
                  </a:lnTo>
                  <a:lnTo>
                    <a:pt x="0" y="0"/>
                  </a:lnTo>
                  <a:close/>
                </a:path>
              </a:pathLst>
            </a:custGeom>
            <a:blipFill>
              <a:blip r:embed="rId3"/>
              <a:stretch>
                <a:fillRect l="0" t="0" r="0" b="0"/>
              </a:stretch>
            </a:blipFill>
          </p:spPr>
        </p:sp>
      </p:grpSp>
      <p:sp>
        <p:nvSpPr>
          <p:cNvPr name="TextBox 9" id="9"/>
          <p:cNvSpPr txBox="true"/>
          <p:nvPr/>
        </p:nvSpPr>
        <p:spPr>
          <a:xfrm rot="0">
            <a:off x="455982" y="6013737"/>
            <a:ext cx="8744559" cy="1024890"/>
          </a:xfrm>
          <a:prstGeom prst="rect">
            <a:avLst/>
          </a:prstGeom>
        </p:spPr>
        <p:txBody>
          <a:bodyPr anchor="t" rtlCol="false" tIns="0" lIns="0" bIns="0" rIns="0">
            <a:spAutoFit/>
          </a:bodyPr>
          <a:lstStyle/>
          <a:p>
            <a:pPr algn="l">
              <a:lnSpc>
                <a:spcPts val="4139"/>
              </a:lnSpc>
            </a:pPr>
            <a:r>
              <a:rPr lang="en-US" b="true" sz="2299">
                <a:solidFill>
                  <a:srgbClr val="000000"/>
                </a:solidFill>
                <a:latin typeface="Arimo Bold"/>
                <a:ea typeface="Arimo Bold"/>
                <a:cs typeface="Arimo Bold"/>
                <a:sym typeface="Arimo Bold"/>
              </a:rPr>
              <a:t>Corrective Actions: </a:t>
            </a:r>
            <a:r>
              <a:rPr lang="en-US" sz="2299">
                <a:solidFill>
                  <a:srgbClr val="000000"/>
                </a:solidFill>
                <a:latin typeface="Arimo"/>
                <a:ea typeface="Arimo"/>
                <a:cs typeface="Arimo"/>
                <a:sym typeface="Arimo"/>
              </a:rPr>
              <a:t>Manually review and apply correct metadata classification tags to the identified cloud buckets.</a:t>
            </a:r>
          </a:p>
        </p:txBody>
      </p:sp>
      <p:sp>
        <p:nvSpPr>
          <p:cNvPr name="TextBox 10" id="10"/>
          <p:cNvSpPr txBox="true"/>
          <p:nvPr/>
        </p:nvSpPr>
        <p:spPr>
          <a:xfrm rot="0">
            <a:off x="411480" y="7060559"/>
            <a:ext cx="8744559" cy="2072640"/>
          </a:xfrm>
          <a:prstGeom prst="rect">
            <a:avLst/>
          </a:prstGeom>
        </p:spPr>
        <p:txBody>
          <a:bodyPr anchor="t" rtlCol="false" tIns="0" lIns="0" bIns="0" rIns="0">
            <a:spAutoFit/>
          </a:bodyPr>
          <a:lstStyle/>
          <a:p>
            <a:pPr algn="l">
              <a:lnSpc>
                <a:spcPts val="4139"/>
              </a:lnSpc>
            </a:pPr>
            <a:r>
              <a:rPr lang="en-US" b="true" sz="2299">
                <a:solidFill>
                  <a:srgbClr val="000000"/>
                </a:solidFill>
                <a:latin typeface="Arimo Bold"/>
                <a:ea typeface="Arimo Bold"/>
                <a:cs typeface="Arimo Bold"/>
                <a:sym typeface="Arimo Bold"/>
              </a:rPr>
              <a:t>Preventive Control: </a:t>
            </a:r>
            <a:r>
              <a:rPr lang="en-US" sz="2299">
                <a:solidFill>
                  <a:srgbClr val="000000"/>
                </a:solidFill>
                <a:latin typeface="Arimo"/>
                <a:ea typeface="Arimo"/>
                <a:cs typeface="Arimo"/>
                <a:sym typeface="Arimo"/>
              </a:rPr>
              <a:t>Deploy infrastructure-as-code (IaC) guardrails that automatically reject the creation of any new cloud storage asset if data classification tags are missing from the deployment script.</a:t>
            </a:r>
          </a:p>
        </p:txBody>
      </p:sp>
      <p:sp>
        <p:nvSpPr>
          <p:cNvPr name="TextBox 11" id="11"/>
          <p:cNvSpPr txBox="true"/>
          <p:nvPr/>
        </p:nvSpPr>
        <p:spPr>
          <a:xfrm rot="0">
            <a:off x="433731" y="9105900"/>
            <a:ext cx="8766810" cy="501015"/>
          </a:xfrm>
          <a:prstGeom prst="rect">
            <a:avLst/>
          </a:prstGeom>
        </p:spPr>
        <p:txBody>
          <a:bodyPr anchor="t" rtlCol="false" tIns="0" lIns="0" bIns="0" rIns="0">
            <a:spAutoFit/>
          </a:bodyPr>
          <a:lstStyle/>
          <a:p>
            <a:pPr algn="l">
              <a:lnSpc>
                <a:spcPts val="4139"/>
              </a:lnSpc>
            </a:pPr>
            <a:r>
              <a:rPr lang="en-US" b="true" sz="2299">
                <a:solidFill>
                  <a:srgbClr val="000000"/>
                </a:solidFill>
                <a:latin typeface="Arimo Bold"/>
                <a:ea typeface="Arimo Bold"/>
                <a:cs typeface="Arimo Bold"/>
                <a:sym typeface="Arimo Bold"/>
              </a:rPr>
              <a:t>Priority Level: Medium</a:t>
            </a:r>
            <a:r>
              <a:rPr lang="en-US" sz="2299">
                <a:solidFill>
                  <a:srgbClr val="000000"/>
                </a:solidFill>
                <a:latin typeface="Arimo"/>
                <a:ea typeface="Arimo"/>
                <a:cs typeface="Arimo"/>
                <a:sym typeface="Arimo"/>
              </a:rPr>
              <a:t>.</a:t>
            </a:r>
          </a:p>
        </p:txBody>
      </p:sp>
      <p:sp>
        <p:nvSpPr>
          <p:cNvPr name="Freeform 12" id="12"/>
          <p:cNvSpPr/>
          <p:nvPr/>
        </p:nvSpPr>
        <p:spPr>
          <a:xfrm flipH="true" flipV="false" rot="0">
            <a:off x="0" y="5884414"/>
            <a:ext cx="24520492" cy="4402586"/>
          </a:xfrm>
          <a:custGeom>
            <a:avLst/>
            <a:gdLst/>
            <a:ahLst/>
            <a:cxnLst/>
            <a:rect r="r" b="b" t="t" l="l"/>
            <a:pathLst>
              <a:path h="4402586" w="24520492">
                <a:moveTo>
                  <a:pt x="24520492" y="0"/>
                </a:moveTo>
                <a:lnTo>
                  <a:pt x="0" y="0"/>
                </a:lnTo>
                <a:lnTo>
                  <a:pt x="0" y="4402586"/>
                </a:lnTo>
                <a:lnTo>
                  <a:pt x="24520492" y="4402586"/>
                </a:lnTo>
                <a:lnTo>
                  <a:pt x="24520492" y="0"/>
                </a:lnTo>
                <a:close/>
              </a:path>
            </a:pathLst>
          </a:custGeom>
          <a:blipFill>
            <a:blip r:embed="rId4">
              <a:alphaModFix amt="6000"/>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7081710" y="216593"/>
            <a:ext cx="793566" cy="793566"/>
          </a:xfrm>
          <a:custGeom>
            <a:avLst/>
            <a:gdLst/>
            <a:ahLst/>
            <a:cxnLst/>
            <a:rect r="r" b="b" t="t" l="l"/>
            <a:pathLst>
              <a:path h="793566" w="793566">
                <a:moveTo>
                  <a:pt x="0" y="0"/>
                </a:moveTo>
                <a:lnTo>
                  <a:pt x="793565" y="0"/>
                </a:lnTo>
                <a:lnTo>
                  <a:pt x="793565" y="793566"/>
                </a:lnTo>
                <a:lnTo>
                  <a:pt x="0" y="793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13302263" y="418113"/>
            <a:ext cx="3705639" cy="381000"/>
          </a:xfrm>
          <a:prstGeom prst="rect">
            <a:avLst/>
          </a:prstGeom>
        </p:spPr>
        <p:txBody>
          <a:bodyPr anchor="t" rtlCol="false" tIns="0" lIns="0" bIns="0" rIns="0">
            <a:spAutoFit/>
          </a:bodyPr>
          <a:lstStyle/>
          <a:p>
            <a:pPr algn="r">
              <a:lnSpc>
                <a:spcPts val="2849"/>
              </a:lnSpc>
            </a:pPr>
            <a:r>
              <a:rPr lang="en-US" b="true" sz="2499">
                <a:solidFill>
                  <a:srgbClr val="000000"/>
                </a:solidFill>
                <a:latin typeface="Poppins Bold"/>
                <a:ea typeface="Poppins Bold"/>
                <a:cs typeface="Poppins Bold"/>
                <a:sym typeface="Poppins Bold"/>
              </a:rPr>
              <a:t>FinSecure Bank</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643562" y="1382906"/>
            <a:ext cx="7858125" cy="590551"/>
          </a:xfrm>
          <a:prstGeom prst="rect">
            <a:avLst/>
          </a:prstGeom>
        </p:spPr>
        <p:txBody>
          <a:bodyPr anchor="t" rtlCol="false" tIns="0" lIns="0" bIns="0" rIns="0">
            <a:spAutoFit/>
          </a:bodyPr>
          <a:lstStyle/>
          <a:p>
            <a:pPr algn="l">
              <a:lnSpc>
                <a:spcPts val="4949"/>
              </a:lnSpc>
            </a:pPr>
            <a:r>
              <a:rPr lang="en-US" b="true" sz="2749">
                <a:solidFill>
                  <a:srgbClr val="000000"/>
                </a:solidFill>
                <a:latin typeface="Arimo Bold"/>
                <a:ea typeface="Arimo Bold"/>
                <a:cs typeface="Arimo Bold"/>
                <a:sym typeface="Arimo Bold"/>
              </a:rPr>
              <a:t>Classification: Observation (OFI)</a:t>
            </a:r>
          </a:p>
        </p:txBody>
      </p:sp>
      <p:sp>
        <p:nvSpPr>
          <p:cNvPr name="TextBox 3" id="3"/>
          <p:cNvSpPr txBox="true"/>
          <p:nvPr/>
        </p:nvSpPr>
        <p:spPr>
          <a:xfrm rot="0">
            <a:off x="5643562" y="1959030"/>
            <a:ext cx="12644438" cy="2369821"/>
          </a:xfrm>
          <a:prstGeom prst="rect">
            <a:avLst/>
          </a:prstGeom>
        </p:spPr>
        <p:txBody>
          <a:bodyPr anchor="t" rtlCol="false" tIns="0" lIns="0" bIns="0" rIns="0">
            <a:spAutoFit/>
          </a:bodyPr>
          <a:lstStyle/>
          <a:p>
            <a:pPr algn="l">
              <a:lnSpc>
                <a:spcPts val="4769"/>
              </a:lnSpc>
            </a:pPr>
            <a:r>
              <a:rPr lang="en-US" b="true" sz="2649">
                <a:solidFill>
                  <a:srgbClr val="000000"/>
                </a:solidFill>
                <a:latin typeface="Arimo Bold"/>
                <a:ea typeface="Arimo Bold"/>
                <a:cs typeface="Arimo Bold"/>
                <a:sym typeface="Arimo Bold"/>
              </a:rPr>
              <a:t>Issue:</a:t>
            </a:r>
            <a:r>
              <a:rPr lang="en-US" sz="2649">
                <a:solidFill>
                  <a:srgbClr val="000000"/>
                </a:solidFill>
                <a:latin typeface="Arimo"/>
                <a:ea typeface="Arimo"/>
                <a:cs typeface="Arimo"/>
                <a:sym typeface="Arimo"/>
              </a:rPr>
              <a:t> The Information Asset Register for FinSecure Bank’s mobile application infrastructure was complete and accurate, but it had not been formally reviewed or updated in the last 11 months. The internal policy requires a semi-annual (6-month) review.</a:t>
            </a:r>
          </a:p>
        </p:txBody>
      </p:sp>
      <p:sp>
        <p:nvSpPr>
          <p:cNvPr name="TextBox 4" id="4"/>
          <p:cNvSpPr txBox="true"/>
          <p:nvPr/>
        </p:nvSpPr>
        <p:spPr>
          <a:xfrm rot="0">
            <a:off x="5643562" y="4246520"/>
            <a:ext cx="7858125" cy="569596"/>
          </a:xfrm>
          <a:prstGeom prst="rect">
            <a:avLst/>
          </a:prstGeom>
        </p:spPr>
        <p:txBody>
          <a:bodyPr anchor="t" rtlCol="false" tIns="0" lIns="0" bIns="0" rIns="0">
            <a:spAutoFit/>
          </a:bodyPr>
          <a:lstStyle/>
          <a:p>
            <a:pPr algn="l">
              <a:lnSpc>
                <a:spcPts val="4769"/>
              </a:lnSpc>
            </a:pPr>
            <a:r>
              <a:rPr lang="en-US" b="true" sz="2649">
                <a:solidFill>
                  <a:srgbClr val="000000"/>
                </a:solidFill>
                <a:latin typeface="Arimo Bold"/>
                <a:ea typeface="Arimo Bold"/>
                <a:cs typeface="Arimo Bold"/>
                <a:sym typeface="Arimo Bold"/>
              </a:rPr>
              <a:t>ISO Mapping:</a:t>
            </a:r>
            <a:r>
              <a:rPr lang="en-US" sz="2649">
                <a:solidFill>
                  <a:srgbClr val="000000"/>
                </a:solidFill>
                <a:latin typeface="Arimo"/>
                <a:ea typeface="Arimo"/>
                <a:cs typeface="Arimo"/>
                <a:sym typeface="Arimo"/>
              </a:rPr>
              <a:t> Annex A.5.9 (Inventory of Assets)</a:t>
            </a:r>
          </a:p>
        </p:txBody>
      </p:sp>
      <p:sp>
        <p:nvSpPr>
          <p:cNvPr name="TextBox 5" id="5"/>
          <p:cNvSpPr txBox="true"/>
          <p:nvPr/>
        </p:nvSpPr>
        <p:spPr>
          <a:xfrm rot="0">
            <a:off x="5643562" y="4913816"/>
            <a:ext cx="12201525" cy="1769746"/>
          </a:xfrm>
          <a:prstGeom prst="rect">
            <a:avLst/>
          </a:prstGeom>
        </p:spPr>
        <p:txBody>
          <a:bodyPr anchor="t" rtlCol="false" tIns="0" lIns="0" bIns="0" rIns="0">
            <a:spAutoFit/>
          </a:bodyPr>
          <a:lstStyle/>
          <a:p>
            <a:pPr algn="l">
              <a:lnSpc>
                <a:spcPts val="4769"/>
              </a:lnSpc>
            </a:pPr>
            <a:r>
              <a:rPr lang="en-US" b="true" sz="2649">
                <a:solidFill>
                  <a:srgbClr val="000000"/>
                </a:solidFill>
                <a:latin typeface="Arimo Bold"/>
                <a:ea typeface="Arimo Bold"/>
                <a:cs typeface="Arimo Bold"/>
                <a:sym typeface="Arimo Bold"/>
              </a:rPr>
              <a:t>Risk Impact:</a:t>
            </a:r>
            <a:r>
              <a:rPr lang="en-US" sz="2649">
                <a:solidFill>
                  <a:srgbClr val="000000"/>
                </a:solidFill>
                <a:latin typeface="Arimo"/>
                <a:ea typeface="Arimo"/>
                <a:cs typeface="Arimo"/>
                <a:sym typeface="Arimo"/>
              </a:rPr>
              <a:t> Low operational risk. If asset reviews lag, newly spun-up software microservices or hardware assets might go undocumented, leading to blind spots in future security patching cycles.</a:t>
            </a:r>
          </a:p>
        </p:txBody>
      </p:sp>
      <p:grpSp>
        <p:nvGrpSpPr>
          <p:cNvPr name="Group 6" id="6"/>
          <p:cNvGrpSpPr/>
          <p:nvPr/>
        </p:nvGrpSpPr>
        <p:grpSpPr>
          <a:xfrm rot="0">
            <a:off x="174308" y="2853261"/>
            <a:ext cx="4972050" cy="4972050"/>
            <a:chOff x="0" y="0"/>
            <a:chExt cx="6629400" cy="6629400"/>
          </a:xfrm>
        </p:grpSpPr>
        <p:sp>
          <p:nvSpPr>
            <p:cNvPr name="Freeform 7" id="7" descr="image.png"/>
            <p:cNvSpPr/>
            <p:nvPr/>
          </p:nvSpPr>
          <p:spPr>
            <a:xfrm flipH="false" flipV="false" rot="0">
              <a:off x="0" y="0"/>
              <a:ext cx="6629400" cy="6629400"/>
            </a:xfrm>
            <a:custGeom>
              <a:avLst/>
              <a:gdLst/>
              <a:ahLst/>
              <a:cxnLst/>
              <a:rect r="r" b="b" t="t" l="l"/>
              <a:pathLst>
                <a:path h="6629400" w="6629400">
                  <a:moveTo>
                    <a:pt x="0" y="0"/>
                  </a:moveTo>
                  <a:lnTo>
                    <a:pt x="6629400" y="0"/>
                  </a:lnTo>
                  <a:lnTo>
                    <a:pt x="6629400" y="6629400"/>
                  </a:lnTo>
                  <a:lnTo>
                    <a:pt x="0" y="6629400"/>
                  </a:lnTo>
                  <a:lnTo>
                    <a:pt x="0" y="0"/>
                  </a:lnTo>
                  <a:close/>
                </a:path>
              </a:pathLst>
            </a:custGeom>
            <a:blipFill>
              <a:blip r:embed="rId3"/>
              <a:stretch>
                <a:fillRect l="0" t="0" r="0" b="0"/>
              </a:stretch>
            </a:blipFill>
          </p:spPr>
        </p:sp>
      </p:grpSp>
      <p:sp>
        <p:nvSpPr>
          <p:cNvPr name="TextBox 8" id="8"/>
          <p:cNvSpPr txBox="true"/>
          <p:nvPr/>
        </p:nvSpPr>
        <p:spPr>
          <a:xfrm rot="0">
            <a:off x="442912" y="430530"/>
            <a:ext cx="17402175" cy="938346"/>
          </a:xfrm>
          <a:prstGeom prst="rect">
            <a:avLst/>
          </a:prstGeom>
        </p:spPr>
        <p:txBody>
          <a:bodyPr anchor="t" rtlCol="false" tIns="0" lIns="0" bIns="0" rIns="0">
            <a:spAutoFit/>
          </a:bodyPr>
          <a:lstStyle/>
          <a:p>
            <a:pPr algn="l">
              <a:lnSpc>
                <a:spcPts val="7020"/>
              </a:lnSpc>
            </a:pPr>
            <a:r>
              <a:rPr lang="en-US" b="true" sz="5850">
                <a:solidFill>
                  <a:srgbClr val="000000"/>
                </a:solidFill>
                <a:latin typeface="Arimo Bold"/>
                <a:ea typeface="Arimo Bold"/>
                <a:cs typeface="Arimo Bold"/>
                <a:sym typeface="Arimo Bold"/>
              </a:rPr>
              <a:t>Finding 5: </a:t>
            </a:r>
            <a:r>
              <a:rPr lang="en-US" b="true" sz="5850">
                <a:solidFill>
                  <a:srgbClr val="73BDBD"/>
                </a:solidFill>
                <a:latin typeface="Arimo Bold"/>
                <a:ea typeface="Arimo Bold"/>
                <a:cs typeface="Arimo Bold"/>
                <a:sym typeface="Arimo Bold"/>
              </a:rPr>
              <a:t>Outdated Asset Register Review Cycle</a:t>
            </a:r>
          </a:p>
        </p:txBody>
      </p:sp>
      <p:sp>
        <p:nvSpPr>
          <p:cNvPr name="TextBox 9" id="9"/>
          <p:cNvSpPr txBox="true"/>
          <p:nvPr/>
        </p:nvSpPr>
        <p:spPr>
          <a:xfrm rot="0">
            <a:off x="5560695" y="6739461"/>
            <a:ext cx="12192952" cy="1085851"/>
          </a:xfrm>
          <a:prstGeom prst="rect">
            <a:avLst/>
          </a:prstGeom>
        </p:spPr>
        <p:txBody>
          <a:bodyPr anchor="t" rtlCol="false" tIns="0" lIns="0" bIns="0" rIns="0">
            <a:spAutoFit/>
          </a:bodyPr>
          <a:lstStyle/>
          <a:p>
            <a:pPr algn="l">
              <a:lnSpc>
                <a:spcPts val="4499"/>
              </a:lnSpc>
            </a:pPr>
            <a:r>
              <a:rPr lang="en-US" b="true" sz="2499">
                <a:solidFill>
                  <a:srgbClr val="000000"/>
                </a:solidFill>
                <a:latin typeface="Arimo Bold"/>
                <a:ea typeface="Arimo Bold"/>
                <a:cs typeface="Arimo Bold"/>
                <a:sym typeface="Arimo Bold"/>
              </a:rPr>
              <a:t>Corrective Actions: </a:t>
            </a:r>
            <a:r>
              <a:rPr lang="en-US" sz="2499">
                <a:solidFill>
                  <a:srgbClr val="000000"/>
                </a:solidFill>
                <a:latin typeface="Arimo"/>
                <a:ea typeface="Arimo"/>
                <a:cs typeface="Arimo"/>
                <a:sym typeface="Arimo"/>
              </a:rPr>
              <a:t>Conduct a formal review and sign-off of the current Information Asset Register by the asset owners.</a:t>
            </a:r>
          </a:p>
        </p:txBody>
      </p:sp>
      <p:sp>
        <p:nvSpPr>
          <p:cNvPr name="TextBox 10" id="10"/>
          <p:cNvSpPr txBox="true"/>
          <p:nvPr/>
        </p:nvSpPr>
        <p:spPr>
          <a:xfrm rot="0">
            <a:off x="5560695" y="7787211"/>
            <a:ext cx="12461557" cy="1085851"/>
          </a:xfrm>
          <a:prstGeom prst="rect">
            <a:avLst/>
          </a:prstGeom>
        </p:spPr>
        <p:txBody>
          <a:bodyPr anchor="t" rtlCol="false" tIns="0" lIns="0" bIns="0" rIns="0">
            <a:spAutoFit/>
          </a:bodyPr>
          <a:lstStyle/>
          <a:p>
            <a:pPr algn="l">
              <a:lnSpc>
                <a:spcPts val="4499"/>
              </a:lnSpc>
            </a:pPr>
            <a:r>
              <a:rPr lang="en-US" b="true" sz="2499">
                <a:solidFill>
                  <a:srgbClr val="000000"/>
                </a:solidFill>
                <a:latin typeface="Arimo Bold"/>
                <a:ea typeface="Arimo Bold"/>
                <a:cs typeface="Arimo Bold"/>
                <a:sym typeface="Arimo Bold"/>
              </a:rPr>
              <a:t>Preventive Control: </a:t>
            </a:r>
            <a:r>
              <a:rPr lang="en-US" sz="2499">
                <a:solidFill>
                  <a:srgbClr val="000000"/>
                </a:solidFill>
                <a:latin typeface="Arimo"/>
                <a:ea typeface="Arimo"/>
                <a:cs typeface="Arimo"/>
                <a:sym typeface="Arimo"/>
              </a:rPr>
              <a:t>Setup automated calendar reminders and email alerts triggered by the compliance platform 30 days before the 6-month review deadline expires...</a:t>
            </a:r>
          </a:p>
        </p:txBody>
      </p:sp>
      <p:sp>
        <p:nvSpPr>
          <p:cNvPr name="TextBox 11" id="11"/>
          <p:cNvSpPr txBox="true"/>
          <p:nvPr/>
        </p:nvSpPr>
        <p:spPr>
          <a:xfrm rot="0">
            <a:off x="5560695" y="9105900"/>
            <a:ext cx="11698605" cy="523876"/>
          </a:xfrm>
          <a:prstGeom prst="rect">
            <a:avLst/>
          </a:prstGeom>
        </p:spPr>
        <p:txBody>
          <a:bodyPr anchor="t" rtlCol="false" tIns="0" lIns="0" bIns="0" rIns="0">
            <a:spAutoFit/>
          </a:bodyPr>
          <a:lstStyle/>
          <a:p>
            <a:pPr algn="l">
              <a:lnSpc>
                <a:spcPts val="4499"/>
              </a:lnSpc>
            </a:pPr>
            <a:r>
              <a:rPr lang="en-US" b="true" sz="2499">
                <a:solidFill>
                  <a:srgbClr val="000000"/>
                </a:solidFill>
                <a:latin typeface="Arimo Bold"/>
                <a:ea typeface="Arimo Bold"/>
                <a:cs typeface="Arimo Bold"/>
                <a:sym typeface="Arimo Bold"/>
              </a:rPr>
              <a:t>Priority Level: Low</a:t>
            </a:r>
            <a:r>
              <a:rPr lang="en-US" sz="2499">
                <a:solidFill>
                  <a:srgbClr val="000000"/>
                </a:solidFill>
                <a:latin typeface="Arimo"/>
                <a:ea typeface="Arimo"/>
                <a:cs typeface="Arimo"/>
                <a:sym typeface="Arimo"/>
              </a:rPr>
              <a:t>.</a:t>
            </a:r>
          </a:p>
        </p:txBody>
      </p:sp>
      <p:sp>
        <p:nvSpPr>
          <p:cNvPr name="Freeform 12" id="12"/>
          <p:cNvSpPr/>
          <p:nvPr/>
        </p:nvSpPr>
        <p:spPr>
          <a:xfrm flipH="true" flipV="false" rot="0">
            <a:off x="-5524948" y="5884414"/>
            <a:ext cx="24520492" cy="4402586"/>
          </a:xfrm>
          <a:custGeom>
            <a:avLst/>
            <a:gdLst/>
            <a:ahLst/>
            <a:cxnLst/>
            <a:rect r="r" b="b" t="t" l="l"/>
            <a:pathLst>
              <a:path h="4402586" w="24520492">
                <a:moveTo>
                  <a:pt x="24520492" y="0"/>
                </a:moveTo>
                <a:lnTo>
                  <a:pt x="0" y="0"/>
                </a:lnTo>
                <a:lnTo>
                  <a:pt x="0" y="4402586"/>
                </a:lnTo>
                <a:lnTo>
                  <a:pt x="24520492" y="4402586"/>
                </a:lnTo>
                <a:lnTo>
                  <a:pt x="24520492" y="0"/>
                </a:lnTo>
                <a:close/>
              </a:path>
            </a:pathLst>
          </a:custGeom>
          <a:blipFill>
            <a:blip r:embed="rId4">
              <a:alphaModFix amt="6000"/>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7051522" y="9258300"/>
            <a:ext cx="793566" cy="793566"/>
          </a:xfrm>
          <a:custGeom>
            <a:avLst/>
            <a:gdLst/>
            <a:ahLst/>
            <a:cxnLst/>
            <a:rect r="r" b="b" t="t" l="l"/>
            <a:pathLst>
              <a:path h="793566" w="793566">
                <a:moveTo>
                  <a:pt x="0" y="0"/>
                </a:moveTo>
                <a:lnTo>
                  <a:pt x="793566" y="0"/>
                </a:lnTo>
                <a:lnTo>
                  <a:pt x="793566" y="793566"/>
                </a:lnTo>
                <a:lnTo>
                  <a:pt x="0" y="793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13272075" y="9459820"/>
            <a:ext cx="3705639" cy="381000"/>
          </a:xfrm>
          <a:prstGeom prst="rect">
            <a:avLst/>
          </a:prstGeom>
        </p:spPr>
        <p:txBody>
          <a:bodyPr anchor="t" rtlCol="false" tIns="0" lIns="0" bIns="0" rIns="0">
            <a:spAutoFit/>
          </a:bodyPr>
          <a:lstStyle/>
          <a:p>
            <a:pPr algn="r">
              <a:lnSpc>
                <a:spcPts val="2849"/>
              </a:lnSpc>
            </a:pPr>
            <a:r>
              <a:rPr lang="en-US" b="true" sz="2499">
                <a:solidFill>
                  <a:srgbClr val="000000"/>
                </a:solidFill>
                <a:latin typeface="Poppins Bold"/>
                <a:ea typeface="Poppins Bold"/>
                <a:cs typeface="Poppins Bold"/>
                <a:sym typeface="Poppins Bold"/>
              </a:rPr>
              <a:t>FinSecure Bank</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855406" y="3164680"/>
          <a:ext cx="16535400" cy="5257800"/>
        </p:xfrm>
        <a:graphic>
          <a:graphicData uri="http://schemas.openxmlformats.org/drawingml/2006/table">
            <a:tbl>
              <a:tblPr/>
              <a:tblGrid>
                <a:gridCol w="1518238"/>
                <a:gridCol w="6294283"/>
                <a:gridCol w="3603176"/>
                <a:gridCol w="3466347"/>
                <a:gridCol w="1653356"/>
              </a:tblGrid>
              <a:tr h="876294">
                <a:tc>
                  <a:txBody>
                    <a:bodyPr anchor="t" rtlCol="false"/>
                    <a:lstStyle/>
                    <a:p>
                      <a:pPr algn="ctr">
                        <a:lnSpc>
                          <a:spcPts val="2700"/>
                        </a:lnSpc>
                        <a:defRPr/>
                      </a:pPr>
                      <a:r>
                        <a:rPr lang="en-US" b="true" sz="2250">
                          <a:solidFill>
                            <a:srgbClr val="000000"/>
                          </a:solidFill>
                          <a:latin typeface="Arial Bold"/>
                          <a:ea typeface="Arial Bold"/>
                          <a:cs typeface="Arial Bold"/>
                          <a:sym typeface="Arial Bold"/>
                        </a:rPr>
                        <a:t>ID</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93CDDD"/>
                    </a:solidFill>
                  </a:tcPr>
                </a:tc>
                <a:tc>
                  <a:txBody>
                    <a:bodyPr anchor="t" rtlCol="false"/>
                    <a:lstStyle/>
                    <a:p>
                      <a:pPr algn="ctr">
                        <a:lnSpc>
                          <a:spcPts val="2700"/>
                        </a:lnSpc>
                        <a:defRPr/>
                      </a:pPr>
                      <a:r>
                        <a:rPr lang="en-US" b="true" sz="2250">
                          <a:solidFill>
                            <a:srgbClr val="000000"/>
                          </a:solidFill>
                          <a:latin typeface="Arial Bold"/>
                          <a:ea typeface="Arial Bold"/>
                          <a:cs typeface="Arial Bold"/>
                          <a:sym typeface="Arial Bold"/>
                        </a:rPr>
                        <a:t>Key Finding</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93CDDD"/>
                    </a:solidFill>
                  </a:tcPr>
                </a:tc>
                <a:tc>
                  <a:txBody>
                    <a:bodyPr anchor="t" rtlCol="false"/>
                    <a:lstStyle/>
                    <a:p>
                      <a:pPr algn="ctr">
                        <a:lnSpc>
                          <a:spcPts val="2700"/>
                        </a:lnSpc>
                        <a:defRPr/>
                      </a:pPr>
                      <a:r>
                        <a:rPr lang="en-US" b="true" sz="2250">
                          <a:solidFill>
                            <a:srgbClr val="000000"/>
                          </a:solidFill>
                          <a:latin typeface="Arial Bold"/>
                          <a:ea typeface="Arial Bold"/>
                          <a:cs typeface="Arial Bold"/>
                          <a:sym typeface="Arial Bold"/>
                        </a:rPr>
                        <a:t>ISO Mapping</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93CDDD"/>
                    </a:solidFill>
                  </a:tcPr>
                </a:tc>
                <a:tc>
                  <a:txBody>
                    <a:bodyPr anchor="t" rtlCol="false"/>
                    <a:lstStyle/>
                    <a:p>
                      <a:pPr algn="ctr">
                        <a:lnSpc>
                          <a:spcPts val="2700"/>
                        </a:lnSpc>
                        <a:defRPr/>
                      </a:pPr>
                      <a:r>
                        <a:rPr lang="en-US" b="true" sz="2250">
                          <a:solidFill>
                            <a:srgbClr val="000000"/>
                          </a:solidFill>
                          <a:latin typeface="Arial Bold"/>
                          <a:ea typeface="Arial Bold"/>
                          <a:cs typeface="Arial Bold"/>
                          <a:sym typeface="Arial Bold"/>
                        </a:rPr>
                        <a:t>Class</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93CDDD"/>
                    </a:solidFill>
                  </a:tcPr>
                </a:tc>
                <a:tc>
                  <a:txBody>
                    <a:bodyPr anchor="t" rtlCol="false"/>
                    <a:lstStyle/>
                    <a:p>
                      <a:pPr algn="ctr">
                        <a:lnSpc>
                          <a:spcPts val="2700"/>
                        </a:lnSpc>
                        <a:defRPr/>
                      </a:pPr>
                      <a:r>
                        <a:rPr lang="en-US" b="true" sz="2250">
                          <a:solidFill>
                            <a:srgbClr val="000000"/>
                          </a:solidFill>
                          <a:latin typeface="Arial Bold"/>
                          <a:ea typeface="Arial Bold"/>
                          <a:cs typeface="Arial Bold"/>
                          <a:sym typeface="Arial Bold"/>
                        </a:rPr>
                        <a:t>Risk Level</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93CDDD"/>
                    </a:solidFill>
                  </a:tcPr>
                </a:tc>
              </a:tr>
              <a:tr h="876294">
                <a:tc>
                  <a:txBody>
                    <a:bodyPr anchor="t" rtlCol="false"/>
                    <a:lstStyle/>
                    <a:p>
                      <a:pPr algn="ctr">
                        <a:lnSpc>
                          <a:spcPts val="2700"/>
                        </a:lnSpc>
                        <a:defRPr/>
                      </a:pPr>
                      <a:r>
                        <a:rPr lang="en-US" sz="2250">
                          <a:solidFill>
                            <a:srgbClr val="000000"/>
                          </a:solidFill>
                          <a:latin typeface="Arial"/>
                          <a:ea typeface="Arial"/>
                          <a:cs typeface="Arial"/>
                          <a:sym typeface="Arial"/>
                        </a:rPr>
                        <a:t>F1</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F1F5"/>
                    </a:solidFill>
                  </a:tcPr>
                </a:tc>
                <a:tc>
                  <a:txBody>
                    <a:bodyPr anchor="t" rtlCol="false"/>
                    <a:lstStyle/>
                    <a:p>
                      <a:pPr algn="ctr">
                        <a:lnSpc>
                          <a:spcPts val="2700"/>
                        </a:lnSpc>
                        <a:defRPr/>
                      </a:pPr>
                      <a:r>
                        <a:rPr lang="en-US" sz="2250">
                          <a:solidFill>
                            <a:srgbClr val="000000"/>
                          </a:solidFill>
                          <a:latin typeface="Arial"/>
                          <a:ea typeface="Arial"/>
                          <a:cs typeface="Arial"/>
                          <a:sym typeface="Arial"/>
                        </a:rPr>
                        <a:t>MFA Failure</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F1F5"/>
                    </a:solidFill>
                  </a:tcPr>
                </a:tc>
                <a:tc>
                  <a:txBody>
                    <a:bodyPr anchor="t" rtlCol="false"/>
                    <a:lstStyle/>
                    <a:p>
                      <a:pPr algn="ctr">
                        <a:lnSpc>
                          <a:spcPts val="2700"/>
                        </a:lnSpc>
                        <a:defRPr/>
                      </a:pPr>
                      <a:r>
                        <a:rPr lang="en-US" sz="2250">
                          <a:solidFill>
                            <a:srgbClr val="000000"/>
                          </a:solidFill>
                          <a:latin typeface="Arial"/>
                          <a:ea typeface="Arial"/>
                          <a:cs typeface="Arial"/>
                          <a:sym typeface="Arial"/>
                        </a:rPr>
                        <a:t>Annex A.8.5</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F1F5"/>
                    </a:solidFill>
                  </a:tcPr>
                </a:tc>
                <a:tc>
                  <a:txBody>
                    <a:bodyPr anchor="t" rtlCol="false"/>
                    <a:lstStyle/>
                    <a:p>
                      <a:pPr algn="ctr">
                        <a:lnSpc>
                          <a:spcPts val="2700"/>
                        </a:lnSpc>
                        <a:defRPr/>
                      </a:pPr>
                      <a:r>
                        <a:rPr lang="en-US" b="true" sz="2250">
                          <a:solidFill>
                            <a:srgbClr val="000000"/>
                          </a:solidFill>
                          <a:latin typeface="Arial Bold"/>
                          <a:ea typeface="Arial Bold"/>
                          <a:cs typeface="Arial Bold"/>
                          <a:sym typeface="Arial Bold"/>
                        </a:rPr>
                        <a:t>Major Non-Conformity</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F1F5"/>
                    </a:solidFill>
                  </a:tcPr>
                </a:tc>
                <a:tc>
                  <a:txBody>
                    <a:bodyPr anchor="t" rtlCol="false"/>
                    <a:lstStyle/>
                    <a:p>
                      <a:pPr algn="ctr">
                        <a:lnSpc>
                          <a:spcPts val="2700"/>
                        </a:lnSpc>
                        <a:defRPr/>
                      </a:pPr>
                      <a:r>
                        <a:rPr lang="en-US" sz="2250">
                          <a:solidFill>
                            <a:srgbClr val="FF0000"/>
                          </a:solidFill>
                          <a:latin typeface="Arial"/>
                          <a:ea typeface="Arial"/>
                          <a:cs typeface="Arial"/>
                          <a:sym typeface="Arial"/>
                        </a:rPr>
                        <a:t>High</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F1F5"/>
                    </a:solidFill>
                  </a:tcPr>
                </a:tc>
              </a:tr>
              <a:tr h="876294">
                <a:tc>
                  <a:txBody>
                    <a:bodyPr anchor="t" rtlCol="false"/>
                    <a:lstStyle/>
                    <a:p>
                      <a:pPr algn="ctr">
                        <a:lnSpc>
                          <a:spcPts val="2700"/>
                        </a:lnSpc>
                        <a:defRPr/>
                      </a:pPr>
                      <a:r>
                        <a:rPr lang="en-US" sz="2250">
                          <a:solidFill>
                            <a:srgbClr val="000000"/>
                          </a:solidFill>
                          <a:latin typeface="Arial"/>
                          <a:ea typeface="Arial"/>
                          <a:cs typeface="Arial"/>
                          <a:sym typeface="Arial"/>
                        </a:rPr>
                        <a:t>F2</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2700"/>
                        </a:lnSpc>
                        <a:defRPr/>
                      </a:pPr>
                      <a:r>
                        <a:rPr lang="en-US" sz="2250">
                          <a:solidFill>
                            <a:srgbClr val="000000"/>
                          </a:solidFill>
                          <a:latin typeface="Arial"/>
                          <a:ea typeface="Arial"/>
                          <a:cs typeface="Arial"/>
                          <a:sym typeface="Arial"/>
                        </a:rPr>
                        <a:t>Incomplete Third-Party Supplier Risk Assessments</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2700"/>
                        </a:lnSpc>
                        <a:defRPr/>
                      </a:pPr>
                      <a:r>
                        <a:rPr lang="en-US" sz="2250">
                          <a:solidFill>
                            <a:srgbClr val="000000"/>
                          </a:solidFill>
                          <a:latin typeface="Arial"/>
                          <a:ea typeface="Arial"/>
                          <a:cs typeface="Arial"/>
                          <a:sym typeface="Arial"/>
                        </a:rPr>
                        <a:t> Annex A.5.19 &amp; </a:t>
                      </a:r>
                      <a:endParaRPr lang="en-US" sz="1100"/>
                    </a:p>
                    <a:p>
                      <a:pPr algn="ctr">
                        <a:lnSpc>
                          <a:spcPts val="2700"/>
                        </a:lnSpc>
                      </a:pPr>
                      <a:r>
                        <a:rPr lang="en-US" sz="2250">
                          <a:solidFill>
                            <a:srgbClr val="000000"/>
                          </a:solidFill>
                          <a:latin typeface="Arial"/>
                          <a:ea typeface="Arial"/>
                          <a:cs typeface="Arial"/>
                          <a:sym typeface="Arial"/>
                        </a:rPr>
                        <a:t>Clause 6.1.2</a:t>
                      </a:r>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2700"/>
                        </a:lnSpc>
                        <a:defRPr/>
                      </a:pPr>
                      <a:r>
                        <a:rPr lang="en-US" b="true" sz="2250">
                          <a:solidFill>
                            <a:srgbClr val="000000"/>
                          </a:solidFill>
                          <a:latin typeface="Arial Bold"/>
                          <a:ea typeface="Arial Bold"/>
                          <a:cs typeface="Arial Bold"/>
                          <a:sym typeface="Arial Bold"/>
                        </a:rPr>
                        <a:t>Major Non-Conformity</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2700"/>
                        </a:lnSpc>
                        <a:defRPr/>
                      </a:pPr>
                      <a:r>
                        <a:rPr lang="en-US" sz="2250">
                          <a:solidFill>
                            <a:srgbClr val="FF0000"/>
                          </a:solidFill>
                          <a:latin typeface="Arial"/>
                          <a:ea typeface="Arial"/>
                          <a:cs typeface="Arial"/>
                          <a:sym typeface="Arial"/>
                        </a:rPr>
                        <a:t>High</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876294">
                <a:tc>
                  <a:txBody>
                    <a:bodyPr anchor="t" rtlCol="false"/>
                    <a:lstStyle/>
                    <a:p>
                      <a:pPr algn="ctr">
                        <a:lnSpc>
                          <a:spcPts val="2700"/>
                        </a:lnSpc>
                        <a:defRPr/>
                      </a:pPr>
                      <a:r>
                        <a:rPr lang="en-US" sz="2250">
                          <a:solidFill>
                            <a:srgbClr val="000000"/>
                          </a:solidFill>
                          <a:latin typeface="Arial"/>
                          <a:ea typeface="Arial"/>
                          <a:cs typeface="Arial"/>
                          <a:sym typeface="Arial"/>
                        </a:rPr>
                        <a:t>F3</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F1F5"/>
                    </a:solidFill>
                  </a:tcPr>
                </a:tc>
                <a:tc>
                  <a:txBody>
                    <a:bodyPr anchor="t" rtlCol="false"/>
                    <a:lstStyle/>
                    <a:p>
                      <a:pPr algn="ctr">
                        <a:lnSpc>
                          <a:spcPts val="2700"/>
                        </a:lnSpc>
                        <a:defRPr/>
                      </a:pPr>
                      <a:r>
                        <a:rPr lang="en-US" sz="2250">
                          <a:solidFill>
                            <a:srgbClr val="000000"/>
                          </a:solidFill>
                          <a:latin typeface="Arial"/>
                          <a:ea typeface="Arial"/>
                          <a:cs typeface="Arial"/>
                          <a:sym typeface="Arial"/>
                        </a:rPr>
                        <a:t>Delayed IAM Offboarding</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F1F5"/>
                    </a:solidFill>
                  </a:tcPr>
                </a:tc>
                <a:tc>
                  <a:txBody>
                    <a:bodyPr anchor="t" rtlCol="false"/>
                    <a:lstStyle/>
                    <a:p>
                      <a:pPr algn="ctr">
                        <a:lnSpc>
                          <a:spcPts val="2700"/>
                        </a:lnSpc>
                        <a:defRPr/>
                      </a:pPr>
                      <a:r>
                        <a:rPr lang="en-US" sz="2250">
                          <a:solidFill>
                            <a:srgbClr val="000000"/>
                          </a:solidFill>
                          <a:latin typeface="Arial"/>
                          <a:ea typeface="Arial"/>
                          <a:cs typeface="Arial"/>
                          <a:sym typeface="Arial"/>
                        </a:rPr>
                        <a:t>Annex A.7.6</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F1F5"/>
                    </a:solidFill>
                  </a:tcPr>
                </a:tc>
                <a:tc>
                  <a:txBody>
                    <a:bodyPr anchor="t" rtlCol="false"/>
                    <a:lstStyle/>
                    <a:p>
                      <a:pPr algn="ctr">
                        <a:lnSpc>
                          <a:spcPts val="2700"/>
                        </a:lnSpc>
                        <a:defRPr/>
                      </a:pPr>
                      <a:r>
                        <a:rPr lang="en-US" b="true" sz="2250">
                          <a:solidFill>
                            <a:srgbClr val="000000"/>
                          </a:solidFill>
                          <a:latin typeface="Arial Bold"/>
                          <a:ea typeface="Arial Bold"/>
                          <a:cs typeface="Arial Bold"/>
                          <a:sym typeface="Arial Bold"/>
                        </a:rPr>
                        <a:t>Minor Non-Conformity</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F1F5"/>
                    </a:solidFill>
                  </a:tcPr>
                </a:tc>
                <a:tc>
                  <a:txBody>
                    <a:bodyPr anchor="t" rtlCol="false"/>
                    <a:lstStyle/>
                    <a:p>
                      <a:pPr algn="ctr">
                        <a:lnSpc>
                          <a:spcPts val="2700"/>
                        </a:lnSpc>
                        <a:defRPr/>
                      </a:pPr>
                      <a:r>
                        <a:rPr lang="en-US" sz="2250">
                          <a:solidFill>
                            <a:srgbClr val="FACC15"/>
                          </a:solidFill>
                          <a:latin typeface="Arial"/>
                          <a:ea typeface="Arial"/>
                          <a:cs typeface="Arial"/>
                          <a:sym typeface="Arial"/>
                        </a:rPr>
                        <a:t>Med</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F1F5"/>
                    </a:solidFill>
                  </a:tcPr>
                </a:tc>
              </a:tr>
              <a:tr h="876294">
                <a:tc>
                  <a:txBody>
                    <a:bodyPr anchor="t" rtlCol="false"/>
                    <a:lstStyle/>
                    <a:p>
                      <a:pPr algn="ctr">
                        <a:lnSpc>
                          <a:spcPts val="2700"/>
                        </a:lnSpc>
                        <a:defRPr/>
                      </a:pPr>
                      <a:r>
                        <a:rPr lang="en-US" sz="2250">
                          <a:solidFill>
                            <a:srgbClr val="000000"/>
                          </a:solidFill>
                          <a:latin typeface="Arial"/>
                          <a:ea typeface="Arial"/>
                          <a:cs typeface="Arial"/>
                          <a:sym typeface="Arial"/>
                        </a:rPr>
                        <a:t>F4</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2700"/>
                        </a:lnSpc>
                        <a:defRPr/>
                      </a:pPr>
                      <a:r>
                        <a:rPr lang="en-US" sz="2250">
                          <a:solidFill>
                            <a:srgbClr val="000000"/>
                          </a:solidFill>
                          <a:latin typeface="Arial"/>
                          <a:ea typeface="Arial"/>
                          <a:cs typeface="Arial"/>
                          <a:sym typeface="Arial"/>
                        </a:rPr>
                        <a:t>Data Classification</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2700"/>
                        </a:lnSpc>
                        <a:defRPr/>
                      </a:pPr>
                      <a:r>
                        <a:rPr lang="en-US" sz="2250">
                          <a:solidFill>
                            <a:srgbClr val="000000"/>
                          </a:solidFill>
                          <a:latin typeface="Arial"/>
                          <a:ea typeface="Arial"/>
                          <a:cs typeface="Arial"/>
                          <a:sym typeface="Arial"/>
                        </a:rPr>
                        <a:t>Annex A.5.12</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2700"/>
                        </a:lnSpc>
                        <a:defRPr/>
                      </a:pPr>
                      <a:r>
                        <a:rPr lang="en-US" b="true" sz="2250">
                          <a:solidFill>
                            <a:srgbClr val="000000"/>
                          </a:solidFill>
                          <a:latin typeface="Arial Bold"/>
                          <a:ea typeface="Arial Bold"/>
                          <a:cs typeface="Arial Bold"/>
                          <a:sym typeface="Arial Bold"/>
                        </a:rPr>
                        <a:t>Minor Non-Conformity</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2700"/>
                        </a:lnSpc>
                        <a:defRPr/>
                      </a:pPr>
                      <a:r>
                        <a:rPr lang="en-US" sz="2250">
                          <a:solidFill>
                            <a:srgbClr val="FACC15"/>
                          </a:solidFill>
                          <a:latin typeface="Arial"/>
                          <a:ea typeface="Arial"/>
                          <a:cs typeface="Arial"/>
                          <a:sym typeface="Arial"/>
                        </a:rPr>
                        <a:t>Med</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876331">
                <a:tc>
                  <a:txBody>
                    <a:bodyPr anchor="t" rtlCol="false"/>
                    <a:lstStyle/>
                    <a:p>
                      <a:pPr algn="ctr">
                        <a:lnSpc>
                          <a:spcPts val="2700"/>
                        </a:lnSpc>
                        <a:defRPr/>
                      </a:pPr>
                      <a:r>
                        <a:rPr lang="en-US" sz="2250">
                          <a:solidFill>
                            <a:srgbClr val="000000"/>
                          </a:solidFill>
                          <a:latin typeface="Arial"/>
                          <a:ea typeface="Arial"/>
                          <a:cs typeface="Arial"/>
                          <a:sym typeface="Arial"/>
                        </a:rPr>
                        <a:t>F5</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F1F5"/>
                    </a:solidFill>
                  </a:tcPr>
                </a:tc>
                <a:tc>
                  <a:txBody>
                    <a:bodyPr anchor="t" rtlCol="false"/>
                    <a:lstStyle/>
                    <a:p>
                      <a:pPr algn="ctr">
                        <a:lnSpc>
                          <a:spcPts val="2700"/>
                        </a:lnSpc>
                        <a:defRPr/>
                      </a:pPr>
                      <a:r>
                        <a:rPr lang="en-US" sz="2250">
                          <a:solidFill>
                            <a:srgbClr val="000000"/>
                          </a:solidFill>
                          <a:latin typeface="Arial"/>
                          <a:ea typeface="Arial"/>
                          <a:cs typeface="Arial"/>
                          <a:sym typeface="Arial"/>
                        </a:rPr>
                        <a:t>Outdated Asset Register Review Cycle</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F1F5"/>
                    </a:solidFill>
                  </a:tcPr>
                </a:tc>
                <a:tc>
                  <a:txBody>
                    <a:bodyPr anchor="t" rtlCol="false"/>
                    <a:lstStyle/>
                    <a:p>
                      <a:pPr algn="ctr">
                        <a:lnSpc>
                          <a:spcPts val="2700"/>
                        </a:lnSpc>
                        <a:defRPr/>
                      </a:pPr>
                      <a:r>
                        <a:rPr lang="en-US" sz="2250">
                          <a:solidFill>
                            <a:srgbClr val="000000"/>
                          </a:solidFill>
                          <a:latin typeface="Arial"/>
                          <a:ea typeface="Arial"/>
                          <a:cs typeface="Arial"/>
                          <a:sym typeface="Arial"/>
                        </a:rPr>
                        <a:t>Annex A.5.9</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F1F5"/>
                    </a:solidFill>
                  </a:tcPr>
                </a:tc>
                <a:tc>
                  <a:txBody>
                    <a:bodyPr anchor="t" rtlCol="false"/>
                    <a:lstStyle/>
                    <a:p>
                      <a:pPr algn="ctr">
                        <a:lnSpc>
                          <a:spcPts val="2700"/>
                        </a:lnSpc>
                        <a:defRPr/>
                      </a:pPr>
                      <a:r>
                        <a:rPr lang="en-US" b="true" sz="2250">
                          <a:solidFill>
                            <a:srgbClr val="000000"/>
                          </a:solidFill>
                          <a:latin typeface="Arial Bold"/>
                          <a:ea typeface="Arial Bold"/>
                          <a:cs typeface="Arial Bold"/>
                          <a:sym typeface="Arial Bold"/>
                        </a:rPr>
                        <a:t>Observation</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F1F5"/>
                    </a:solidFill>
                  </a:tcPr>
                </a:tc>
                <a:tc>
                  <a:txBody>
                    <a:bodyPr anchor="t" rtlCol="false"/>
                    <a:lstStyle/>
                    <a:p>
                      <a:pPr algn="ctr">
                        <a:lnSpc>
                          <a:spcPts val="2700"/>
                        </a:lnSpc>
                        <a:defRPr/>
                      </a:pPr>
                      <a:r>
                        <a:rPr lang="en-US" sz="2250">
                          <a:solidFill>
                            <a:srgbClr val="60A5FA"/>
                          </a:solidFill>
                          <a:latin typeface="Arial"/>
                          <a:ea typeface="Arial"/>
                          <a:cs typeface="Arial"/>
                          <a:sym typeface="Arial"/>
                        </a:rPr>
                        <a:t>Low</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9F1F5"/>
                    </a:solidFill>
                  </a:tcPr>
                </a:tc>
              </a:tr>
            </a:tbl>
          </a:graphicData>
        </a:graphic>
      </p:graphicFrame>
      <p:grpSp>
        <p:nvGrpSpPr>
          <p:cNvPr name="Group 3" id="3"/>
          <p:cNvGrpSpPr/>
          <p:nvPr/>
        </p:nvGrpSpPr>
        <p:grpSpPr>
          <a:xfrm rot="0">
            <a:off x="857250" y="4929188"/>
            <a:ext cx="1520057" cy="14288"/>
            <a:chOff x="0" y="0"/>
            <a:chExt cx="2026742" cy="19050"/>
          </a:xfrm>
        </p:grpSpPr>
        <p:sp>
          <p:nvSpPr>
            <p:cNvPr name="Freeform 4" id="4"/>
            <p:cNvSpPr/>
            <p:nvPr/>
          </p:nvSpPr>
          <p:spPr>
            <a:xfrm flipH="false" flipV="false" rot="0">
              <a:off x="0" y="0"/>
              <a:ext cx="2026793" cy="19050"/>
            </a:xfrm>
            <a:custGeom>
              <a:avLst/>
              <a:gdLst/>
              <a:ahLst/>
              <a:cxnLst/>
              <a:rect r="r" b="b" t="t" l="l"/>
              <a:pathLst>
                <a:path h="19050" w="2026793">
                  <a:moveTo>
                    <a:pt x="0" y="0"/>
                  </a:moveTo>
                  <a:lnTo>
                    <a:pt x="2026793" y="0"/>
                  </a:lnTo>
                  <a:lnTo>
                    <a:pt x="2026793" y="19050"/>
                  </a:lnTo>
                  <a:lnTo>
                    <a:pt x="0" y="19050"/>
                  </a:lnTo>
                  <a:close/>
                </a:path>
              </a:pathLst>
            </a:custGeom>
            <a:solidFill>
              <a:srgbClr val="333333"/>
            </a:solidFill>
          </p:spPr>
        </p:sp>
      </p:grpSp>
      <p:grpSp>
        <p:nvGrpSpPr>
          <p:cNvPr name="Group 5" id="5"/>
          <p:cNvGrpSpPr/>
          <p:nvPr/>
        </p:nvGrpSpPr>
        <p:grpSpPr>
          <a:xfrm rot="0">
            <a:off x="2377307" y="4929188"/>
            <a:ext cx="6753968" cy="14288"/>
            <a:chOff x="0" y="0"/>
            <a:chExt cx="9005291" cy="19050"/>
          </a:xfrm>
        </p:grpSpPr>
        <p:sp>
          <p:nvSpPr>
            <p:cNvPr name="Freeform 6" id="6"/>
            <p:cNvSpPr/>
            <p:nvPr/>
          </p:nvSpPr>
          <p:spPr>
            <a:xfrm flipH="false" flipV="false" rot="0">
              <a:off x="0" y="0"/>
              <a:ext cx="9005316" cy="19050"/>
            </a:xfrm>
            <a:custGeom>
              <a:avLst/>
              <a:gdLst/>
              <a:ahLst/>
              <a:cxnLst/>
              <a:rect r="r" b="b" t="t" l="l"/>
              <a:pathLst>
                <a:path h="19050" w="9005316">
                  <a:moveTo>
                    <a:pt x="0" y="0"/>
                  </a:moveTo>
                  <a:lnTo>
                    <a:pt x="9005316" y="0"/>
                  </a:lnTo>
                  <a:lnTo>
                    <a:pt x="9005316" y="19050"/>
                  </a:lnTo>
                  <a:lnTo>
                    <a:pt x="0" y="19050"/>
                  </a:lnTo>
                  <a:close/>
                </a:path>
              </a:pathLst>
            </a:custGeom>
            <a:solidFill>
              <a:srgbClr val="333333"/>
            </a:solidFill>
          </p:spPr>
        </p:sp>
      </p:grpSp>
      <p:grpSp>
        <p:nvGrpSpPr>
          <p:cNvPr name="Group 7" id="7"/>
          <p:cNvGrpSpPr/>
          <p:nvPr/>
        </p:nvGrpSpPr>
        <p:grpSpPr>
          <a:xfrm rot="0">
            <a:off x="9131275" y="4929188"/>
            <a:ext cx="3962552" cy="14288"/>
            <a:chOff x="0" y="0"/>
            <a:chExt cx="5283403" cy="19050"/>
          </a:xfrm>
        </p:grpSpPr>
        <p:sp>
          <p:nvSpPr>
            <p:cNvPr name="Freeform 8" id="8"/>
            <p:cNvSpPr/>
            <p:nvPr/>
          </p:nvSpPr>
          <p:spPr>
            <a:xfrm flipH="false" flipV="false" rot="0">
              <a:off x="0" y="0"/>
              <a:ext cx="5283454" cy="19050"/>
            </a:xfrm>
            <a:custGeom>
              <a:avLst/>
              <a:gdLst/>
              <a:ahLst/>
              <a:cxnLst/>
              <a:rect r="r" b="b" t="t" l="l"/>
              <a:pathLst>
                <a:path h="19050" w="5283454">
                  <a:moveTo>
                    <a:pt x="0" y="0"/>
                  </a:moveTo>
                  <a:lnTo>
                    <a:pt x="5283454" y="0"/>
                  </a:lnTo>
                  <a:lnTo>
                    <a:pt x="5283454" y="19050"/>
                  </a:lnTo>
                  <a:lnTo>
                    <a:pt x="0" y="19050"/>
                  </a:lnTo>
                  <a:close/>
                </a:path>
              </a:pathLst>
            </a:custGeom>
            <a:solidFill>
              <a:srgbClr val="333333"/>
            </a:solidFill>
          </p:spPr>
        </p:sp>
      </p:grpSp>
      <p:grpSp>
        <p:nvGrpSpPr>
          <p:cNvPr name="Group 9" id="9"/>
          <p:cNvGrpSpPr/>
          <p:nvPr/>
        </p:nvGrpSpPr>
        <p:grpSpPr>
          <a:xfrm rot="0">
            <a:off x="13093827" y="4929188"/>
            <a:ext cx="2342702" cy="14288"/>
            <a:chOff x="0" y="0"/>
            <a:chExt cx="3123603" cy="19050"/>
          </a:xfrm>
        </p:grpSpPr>
        <p:sp>
          <p:nvSpPr>
            <p:cNvPr name="Freeform 10" id="10"/>
            <p:cNvSpPr/>
            <p:nvPr/>
          </p:nvSpPr>
          <p:spPr>
            <a:xfrm flipH="false" flipV="false" rot="0">
              <a:off x="0" y="0"/>
              <a:ext cx="3123565" cy="19050"/>
            </a:xfrm>
            <a:custGeom>
              <a:avLst/>
              <a:gdLst/>
              <a:ahLst/>
              <a:cxnLst/>
              <a:rect r="r" b="b" t="t" l="l"/>
              <a:pathLst>
                <a:path h="19050" w="3123565">
                  <a:moveTo>
                    <a:pt x="0" y="0"/>
                  </a:moveTo>
                  <a:lnTo>
                    <a:pt x="3123565" y="0"/>
                  </a:lnTo>
                  <a:lnTo>
                    <a:pt x="3123565" y="19050"/>
                  </a:lnTo>
                  <a:lnTo>
                    <a:pt x="0" y="19050"/>
                  </a:lnTo>
                  <a:close/>
                </a:path>
              </a:pathLst>
            </a:custGeom>
            <a:solidFill>
              <a:srgbClr val="333333"/>
            </a:solidFill>
          </p:spPr>
        </p:sp>
      </p:grpSp>
      <p:grpSp>
        <p:nvGrpSpPr>
          <p:cNvPr name="Group 11" id="11"/>
          <p:cNvGrpSpPr/>
          <p:nvPr/>
        </p:nvGrpSpPr>
        <p:grpSpPr>
          <a:xfrm rot="0">
            <a:off x="15436529" y="4929188"/>
            <a:ext cx="1994221" cy="14288"/>
            <a:chOff x="0" y="0"/>
            <a:chExt cx="2658961" cy="19050"/>
          </a:xfrm>
        </p:grpSpPr>
        <p:sp>
          <p:nvSpPr>
            <p:cNvPr name="Freeform 12" id="12"/>
            <p:cNvSpPr/>
            <p:nvPr/>
          </p:nvSpPr>
          <p:spPr>
            <a:xfrm flipH="false" flipV="false" rot="0">
              <a:off x="0" y="0"/>
              <a:ext cx="2658999" cy="19050"/>
            </a:xfrm>
            <a:custGeom>
              <a:avLst/>
              <a:gdLst/>
              <a:ahLst/>
              <a:cxnLst/>
              <a:rect r="r" b="b" t="t" l="l"/>
              <a:pathLst>
                <a:path h="19050" w="2658999">
                  <a:moveTo>
                    <a:pt x="0" y="0"/>
                  </a:moveTo>
                  <a:lnTo>
                    <a:pt x="2658999" y="0"/>
                  </a:lnTo>
                  <a:lnTo>
                    <a:pt x="2658999" y="19050"/>
                  </a:lnTo>
                  <a:lnTo>
                    <a:pt x="0" y="19050"/>
                  </a:lnTo>
                  <a:close/>
                </a:path>
              </a:pathLst>
            </a:custGeom>
            <a:solidFill>
              <a:srgbClr val="333333"/>
            </a:solidFill>
          </p:spPr>
        </p:sp>
      </p:grpSp>
      <p:grpSp>
        <p:nvGrpSpPr>
          <p:cNvPr name="Group 13" id="13"/>
          <p:cNvGrpSpPr/>
          <p:nvPr/>
        </p:nvGrpSpPr>
        <p:grpSpPr>
          <a:xfrm rot="0">
            <a:off x="857250" y="5800725"/>
            <a:ext cx="1520057" cy="14288"/>
            <a:chOff x="0" y="0"/>
            <a:chExt cx="2026742" cy="19050"/>
          </a:xfrm>
        </p:grpSpPr>
        <p:sp>
          <p:nvSpPr>
            <p:cNvPr name="Freeform 14" id="14"/>
            <p:cNvSpPr/>
            <p:nvPr/>
          </p:nvSpPr>
          <p:spPr>
            <a:xfrm flipH="false" flipV="false" rot="0">
              <a:off x="0" y="0"/>
              <a:ext cx="2026793" cy="19050"/>
            </a:xfrm>
            <a:custGeom>
              <a:avLst/>
              <a:gdLst/>
              <a:ahLst/>
              <a:cxnLst/>
              <a:rect r="r" b="b" t="t" l="l"/>
              <a:pathLst>
                <a:path h="19050" w="2026793">
                  <a:moveTo>
                    <a:pt x="0" y="0"/>
                  </a:moveTo>
                  <a:lnTo>
                    <a:pt x="2026793" y="0"/>
                  </a:lnTo>
                  <a:lnTo>
                    <a:pt x="2026793" y="19050"/>
                  </a:lnTo>
                  <a:lnTo>
                    <a:pt x="0" y="19050"/>
                  </a:lnTo>
                  <a:close/>
                </a:path>
              </a:pathLst>
            </a:custGeom>
            <a:solidFill>
              <a:srgbClr val="333333"/>
            </a:solidFill>
          </p:spPr>
        </p:sp>
      </p:grpSp>
      <p:grpSp>
        <p:nvGrpSpPr>
          <p:cNvPr name="Group 15" id="15"/>
          <p:cNvGrpSpPr/>
          <p:nvPr/>
        </p:nvGrpSpPr>
        <p:grpSpPr>
          <a:xfrm rot="0">
            <a:off x="2377307" y="5800725"/>
            <a:ext cx="6753968" cy="14288"/>
            <a:chOff x="0" y="0"/>
            <a:chExt cx="9005291" cy="19050"/>
          </a:xfrm>
        </p:grpSpPr>
        <p:sp>
          <p:nvSpPr>
            <p:cNvPr name="Freeform 16" id="16"/>
            <p:cNvSpPr/>
            <p:nvPr/>
          </p:nvSpPr>
          <p:spPr>
            <a:xfrm flipH="false" flipV="false" rot="0">
              <a:off x="0" y="0"/>
              <a:ext cx="9005316" cy="19050"/>
            </a:xfrm>
            <a:custGeom>
              <a:avLst/>
              <a:gdLst/>
              <a:ahLst/>
              <a:cxnLst/>
              <a:rect r="r" b="b" t="t" l="l"/>
              <a:pathLst>
                <a:path h="19050" w="9005316">
                  <a:moveTo>
                    <a:pt x="0" y="0"/>
                  </a:moveTo>
                  <a:lnTo>
                    <a:pt x="9005316" y="0"/>
                  </a:lnTo>
                  <a:lnTo>
                    <a:pt x="9005316" y="19050"/>
                  </a:lnTo>
                  <a:lnTo>
                    <a:pt x="0" y="19050"/>
                  </a:lnTo>
                  <a:close/>
                </a:path>
              </a:pathLst>
            </a:custGeom>
            <a:solidFill>
              <a:srgbClr val="333333"/>
            </a:solidFill>
          </p:spPr>
        </p:sp>
      </p:grpSp>
      <p:grpSp>
        <p:nvGrpSpPr>
          <p:cNvPr name="Group 17" id="17"/>
          <p:cNvGrpSpPr/>
          <p:nvPr/>
        </p:nvGrpSpPr>
        <p:grpSpPr>
          <a:xfrm rot="0">
            <a:off x="9131275" y="5800725"/>
            <a:ext cx="3962552" cy="14288"/>
            <a:chOff x="0" y="0"/>
            <a:chExt cx="5283403" cy="19050"/>
          </a:xfrm>
        </p:grpSpPr>
        <p:sp>
          <p:nvSpPr>
            <p:cNvPr name="Freeform 18" id="18"/>
            <p:cNvSpPr/>
            <p:nvPr/>
          </p:nvSpPr>
          <p:spPr>
            <a:xfrm flipH="false" flipV="false" rot="0">
              <a:off x="0" y="0"/>
              <a:ext cx="5283454" cy="19050"/>
            </a:xfrm>
            <a:custGeom>
              <a:avLst/>
              <a:gdLst/>
              <a:ahLst/>
              <a:cxnLst/>
              <a:rect r="r" b="b" t="t" l="l"/>
              <a:pathLst>
                <a:path h="19050" w="5283454">
                  <a:moveTo>
                    <a:pt x="0" y="0"/>
                  </a:moveTo>
                  <a:lnTo>
                    <a:pt x="5283454" y="0"/>
                  </a:lnTo>
                  <a:lnTo>
                    <a:pt x="5283454" y="19050"/>
                  </a:lnTo>
                  <a:lnTo>
                    <a:pt x="0" y="19050"/>
                  </a:lnTo>
                  <a:close/>
                </a:path>
              </a:pathLst>
            </a:custGeom>
            <a:solidFill>
              <a:srgbClr val="333333"/>
            </a:solidFill>
          </p:spPr>
        </p:sp>
      </p:grpSp>
      <p:grpSp>
        <p:nvGrpSpPr>
          <p:cNvPr name="Group 19" id="19"/>
          <p:cNvGrpSpPr/>
          <p:nvPr/>
        </p:nvGrpSpPr>
        <p:grpSpPr>
          <a:xfrm rot="0">
            <a:off x="13093827" y="5800725"/>
            <a:ext cx="2342702" cy="14288"/>
            <a:chOff x="0" y="0"/>
            <a:chExt cx="3123603" cy="19050"/>
          </a:xfrm>
        </p:grpSpPr>
        <p:sp>
          <p:nvSpPr>
            <p:cNvPr name="Freeform 20" id="20"/>
            <p:cNvSpPr/>
            <p:nvPr/>
          </p:nvSpPr>
          <p:spPr>
            <a:xfrm flipH="false" flipV="false" rot="0">
              <a:off x="0" y="0"/>
              <a:ext cx="3123565" cy="19050"/>
            </a:xfrm>
            <a:custGeom>
              <a:avLst/>
              <a:gdLst/>
              <a:ahLst/>
              <a:cxnLst/>
              <a:rect r="r" b="b" t="t" l="l"/>
              <a:pathLst>
                <a:path h="19050" w="3123565">
                  <a:moveTo>
                    <a:pt x="0" y="0"/>
                  </a:moveTo>
                  <a:lnTo>
                    <a:pt x="3123565" y="0"/>
                  </a:lnTo>
                  <a:lnTo>
                    <a:pt x="3123565" y="19050"/>
                  </a:lnTo>
                  <a:lnTo>
                    <a:pt x="0" y="19050"/>
                  </a:lnTo>
                  <a:close/>
                </a:path>
              </a:pathLst>
            </a:custGeom>
            <a:solidFill>
              <a:srgbClr val="333333"/>
            </a:solidFill>
          </p:spPr>
        </p:sp>
      </p:grpSp>
      <p:grpSp>
        <p:nvGrpSpPr>
          <p:cNvPr name="Group 21" id="21"/>
          <p:cNvGrpSpPr/>
          <p:nvPr/>
        </p:nvGrpSpPr>
        <p:grpSpPr>
          <a:xfrm rot="0">
            <a:off x="15436529" y="5800725"/>
            <a:ext cx="1994221" cy="14288"/>
            <a:chOff x="0" y="0"/>
            <a:chExt cx="2658961" cy="19050"/>
          </a:xfrm>
        </p:grpSpPr>
        <p:sp>
          <p:nvSpPr>
            <p:cNvPr name="Freeform 22" id="22"/>
            <p:cNvSpPr/>
            <p:nvPr/>
          </p:nvSpPr>
          <p:spPr>
            <a:xfrm flipH="false" flipV="false" rot="0">
              <a:off x="0" y="0"/>
              <a:ext cx="2658999" cy="19050"/>
            </a:xfrm>
            <a:custGeom>
              <a:avLst/>
              <a:gdLst/>
              <a:ahLst/>
              <a:cxnLst/>
              <a:rect r="r" b="b" t="t" l="l"/>
              <a:pathLst>
                <a:path h="19050" w="2658999">
                  <a:moveTo>
                    <a:pt x="0" y="0"/>
                  </a:moveTo>
                  <a:lnTo>
                    <a:pt x="2658999" y="0"/>
                  </a:lnTo>
                  <a:lnTo>
                    <a:pt x="2658999" y="19050"/>
                  </a:lnTo>
                  <a:lnTo>
                    <a:pt x="0" y="19050"/>
                  </a:lnTo>
                  <a:close/>
                </a:path>
              </a:pathLst>
            </a:custGeom>
            <a:solidFill>
              <a:srgbClr val="333333"/>
            </a:solidFill>
          </p:spPr>
        </p:sp>
      </p:grpSp>
      <p:grpSp>
        <p:nvGrpSpPr>
          <p:cNvPr name="Group 23" id="23"/>
          <p:cNvGrpSpPr/>
          <p:nvPr/>
        </p:nvGrpSpPr>
        <p:grpSpPr>
          <a:xfrm rot="0">
            <a:off x="857250" y="6672262"/>
            <a:ext cx="1520057" cy="14288"/>
            <a:chOff x="0" y="0"/>
            <a:chExt cx="2026742" cy="19050"/>
          </a:xfrm>
        </p:grpSpPr>
        <p:sp>
          <p:nvSpPr>
            <p:cNvPr name="Freeform 24" id="24"/>
            <p:cNvSpPr/>
            <p:nvPr/>
          </p:nvSpPr>
          <p:spPr>
            <a:xfrm flipH="false" flipV="false" rot="0">
              <a:off x="0" y="0"/>
              <a:ext cx="2026793" cy="19050"/>
            </a:xfrm>
            <a:custGeom>
              <a:avLst/>
              <a:gdLst/>
              <a:ahLst/>
              <a:cxnLst/>
              <a:rect r="r" b="b" t="t" l="l"/>
              <a:pathLst>
                <a:path h="19050" w="2026793">
                  <a:moveTo>
                    <a:pt x="0" y="0"/>
                  </a:moveTo>
                  <a:lnTo>
                    <a:pt x="2026793" y="0"/>
                  </a:lnTo>
                  <a:lnTo>
                    <a:pt x="2026793" y="19050"/>
                  </a:lnTo>
                  <a:lnTo>
                    <a:pt x="0" y="19050"/>
                  </a:lnTo>
                  <a:close/>
                </a:path>
              </a:pathLst>
            </a:custGeom>
            <a:solidFill>
              <a:srgbClr val="333333"/>
            </a:solidFill>
          </p:spPr>
        </p:sp>
      </p:grpSp>
      <p:grpSp>
        <p:nvGrpSpPr>
          <p:cNvPr name="Group 25" id="25"/>
          <p:cNvGrpSpPr/>
          <p:nvPr/>
        </p:nvGrpSpPr>
        <p:grpSpPr>
          <a:xfrm rot="0">
            <a:off x="2377307" y="6672262"/>
            <a:ext cx="6753968" cy="14288"/>
            <a:chOff x="0" y="0"/>
            <a:chExt cx="9005291" cy="19050"/>
          </a:xfrm>
        </p:grpSpPr>
        <p:sp>
          <p:nvSpPr>
            <p:cNvPr name="Freeform 26" id="26"/>
            <p:cNvSpPr/>
            <p:nvPr/>
          </p:nvSpPr>
          <p:spPr>
            <a:xfrm flipH="false" flipV="false" rot="0">
              <a:off x="0" y="0"/>
              <a:ext cx="9005316" cy="19050"/>
            </a:xfrm>
            <a:custGeom>
              <a:avLst/>
              <a:gdLst/>
              <a:ahLst/>
              <a:cxnLst/>
              <a:rect r="r" b="b" t="t" l="l"/>
              <a:pathLst>
                <a:path h="19050" w="9005316">
                  <a:moveTo>
                    <a:pt x="0" y="0"/>
                  </a:moveTo>
                  <a:lnTo>
                    <a:pt x="9005316" y="0"/>
                  </a:lnTo>
                  <a:lnTo>
                    <a:pt x="9005316" y="19050"/>
                  </a:lnTo>
                  <a:lnTo>
                    <a:pt x="0" y="19050"/>
                  </a:lnTo>
                  <a:close/>
                </a:path>
              </a:pathLst>
            </a:custGeom>
            <a:solidFill>
              <a:srgbClr val="333333"/>
            </a:solidFill>
          </p:spPr>
        </p:sp>
      </p:grpSp>
      <p:grpSp>
        <p:nvGrpSpPr>
          <p:cNvPr name="Group 27" id="27"/>
          <p:cNvGrpSpPr/>
          <p:nvPr/>
        </p:nvGrpSpPr>
        <p:grpSpPr>
          <a:xfrm rot="0">
            <a:off x="9131275" y="6672262"/>
            <a:ext cx="3962552" cy="14288"/>
            <a:chOff x="0" y="0"/>
            <a:chExt cx="5283403" cy="19050"/>
          </a:xfrm>
        </p:grpSpPr>
        <p:sp>
          <p:nvSpPr>
            <p:cNvPr name="Freeform 28" id="28"/>
            <p:cNvSpPr/>
            <p:nvPr/>
          </p:nvSpPr>
          <p:spPr>
            <a:xfrm flipH="false" flipV="false" rot="0">
              <a:off x="0" y="0"/>
              <a:ext cx="5283454" cy="19050"/>
            </a:xfrm>
            <a:custGeom>
              <a:avLst/>
              <a:gdLst/>
              <a:ahLst/>
              <a:cxnLst/>
              <a:rect r="r" b="b" t="t" l="l"/>
              <a:pathLst>
                <a:path h="19050" w="5283454">
                  <a:moveTo>
                    <a:pt x="0" y="0"/>
                  </a:moveTo>
                  <a:lnTo>
                    <a:pt x="5283454" y="0"/>
                  </a:lnTo>
                  <a:lnTo>
                    <a:pt x="5283454" y="19050"/>
                  </a:lnTo>
                  <a:lnTo>
                    <a:pt x="0" y="19050"/>
                  </a:lnTo>
                  <a:close/>
                </a:path>
              </a:pathLst>
            </a:custGeom>
            <a:solidFill>
              <a:srgbClr val="333333"/>
            </a:solidFill>
          </p:spPr>
        </p:sp>
      </p:grpSp>
      <p:grpSp>
        <p:nvGrpSpPr>
          <p:cNvPr name="Group 29" id="29"/>
          <p:cNvGrpSpPr/>
          <p:nvPr/>
        </p:nvGrpSpPr>
        <p:grpSpPr>
          <a:xfrm rot="0">
            <a:off x="13093827" y="6672262"/>
            <a:ext cx="2342702" cy="14288"/>
            <a:chOff x="0" y="0"/>
            <a:chExt cx="3123603" cy="19050"/>
          </a:xfrm>
        </p:grpSpPr>
        <p:sp>
          <p:nvSpPr>
            <p:cNvPr name="Freeform 30" id="30"/>
            <p:cNvSpPr/>
            <p:nvPr/>
          </p:nvSpPr>
          <p:spPr>
            <a:xfrm flipH="false" flipV="false" rot="0">
              <a:off x="0" y="0"/>
              <a:ext cx="3123565" cy="19050"/>
            </a:xfrm>
            <a:custGeom>
              <a:avLst/>
              <a:gdLst/>
              <a:ahLst/>
              <a:cxnLst/>
              <a:rect r="r" b="b" t="t" l="l"/>
              <a:pathLst>
                <a:path h="19050" w="3123565">
                  <a:moveTo>
                    <a:pt x="0" y="0"/>
                  </a:moveTo>
                  <a:lnTo>
                    <a:pt x="3123565" y="0"/>
                  </a:lnTo>
                  <a:lnTo>
                    <a:pt x="3123565" y="19050"/>
                  </a:lnTo>
                  <a:lnTo>
                    <a:pt x="0" y="19050"/>
                  </a:lnTo>
                  <a:close/>
                </a:path>
              </a:pathLst>
            </a:custGeom>
            <a:solidFill>
              <a:srgbClr val="333333"/>
            </a:solidFill>
          </p:spPr>
        </p:sp>
      </p:grpSp>
      <p:grpSp>
        <p:nvGrpSpPr>
          <p:cNvPr name="Group 31" id="31"/>
          <p:cNvGrpSpPr/>
          <p:nvPr/>
        </p:nvGrpSpPr>
        <p:grpSpPr>
          <a:xfrm rot="0">
            <a:off x="15436529" y="6672262"/>
            <a:ext cx="1994221" cy="14288"/>
            <a:chOff x="0" y="0"/>
            <a:chExt cx="2658961" cy="19050"/>
          </a:xfrm>
        </p:grpSpPr>
        <p:sp>
          <p:nvSpPr>
            <p:cNvPr name="Freeform 32" id="32"/>
            <p:cNvSpPr/>
            <p:nvPr/>
          </p:nvSpPr>
          <p:spPr>
            <a:xfrm flipH="false" flipV="false" rot="0">
              <a:off x="0" y="0"/>
              <a:ext cx="2658999" cy="19050"/>
            </a:xfrm>
            <a:custGeom>
              <a:avLst/>
              <a:gdLst/>
              <a:ahLst/>
              <a:cxnLst/>
              <a:rect r="r" b="b" t="t" l="l"/>
              <a:pathLst>
                <a:path h="19050" w="2658999">
                  <a:moveTo>
                    <a:pt x="0" y="0"/>
                  </a:moveTo>
                  <a:lnTo>
                    <a:pt x="2658999" y="0"/>
                  </a:lnTo>
                  <a:lnTo>
                    <a:pt x="2658999" y="19050"/>
                  </a:lnTo>
                  <a:lnTo>
                    <a:pt x="0" y="19050"/>
                  </a:lnTo>
                  <a:close/>
                </a:path>
              </a:pathLst>
            </a:custGeom>
            <a:solidFill>
              <a:srgbClr val="333333"/>
            </a:solidFill>
          </p:spPr>
        </p:sp>
      </p:grpSp>
      <p:grpSp>
        <p:nvGrpSpPr>
          <p:cNvPr name="Group 33" id="33"/>
          <p:cNvGrpSpPr/>
          <p:nvPr/>
        </p:nvGrpSpPr>
        <p:grpSpPr>
          <a:xfrm rot="0">
            <a:off x="857250" y="7543800"/>
            <a:ext cx="1520057" cy="14288"/>
            <a:chOff x="0" y="0"/>
            <a:chExt cx="2026742" cy="19050"/>
          </a:xfrm>
        </p:grpSpPr>
        <p:sp>
          <p:nvSpPr>
            <p:cNvPr name="Freeform 34" id="34"/>
            <p:cNvSpPr/>
            <p:nvPr/>
          </p:nvSpPr>
          <p:spPr>
            <a:xfrm flipH="false" flipV="false" rot="0">
              <a:off x="0" y="0"/>
              <a:ext cx="2026793" cy="19050"/>
            </a:xfrm>
            <a:custGeom>
              <a:avLst/>
              <a:gdLst/>
              <a:ahLst/>
              <a:cxnLst/>
              <a:rect r="r" b="b" t="t" l="l"/>
              <a:pathLst>
                <a:path h="19050" w="2026793">
                  <a:moveTo>
                    <a:pt x="0" y="0"/>
                  </a:moveTo>
                  <a:lnTo>
                    <a:pt x="2026793" y="0"/>
                  </a:lnTo>
                  <a:lnTo>
                    <a:pt x="2026793" y="19050"/>
                  </a:lnTo>
                  <a:lnTo>
                    <a:pt x="0" y="19050"/>
                  </a:lnTo>
                  <a:close/>
                </a:path>
              </a:pathLst>
            </a:custGeom>
            <a:solidFill>
              <a:srgbClr val="333333"/>
            </a:solidFill>
          </p:spPr>
        </p:sp>
      </p:grpSp>
      <p:grpSp>
        <p:nvGrpSpPr>
          <p:cNvPr name="Group 35" id="35"/>
          <p:cNvGrpSpPr/>
          <p:nvPr/>
        </p:nvGrpSpPr>
        <p:grpSpPr>
          <a:xfrm rot="0">
            <a:off x="2377307" y="7543800"/>
            <a:ext cx="6753968" cy="14288"/>
            <a:chOff x="0" y="0"/>
            <a:chExt cx="9005291" cy="19050"/>
          </a:xfrm>
        </p:grpSpPr>
        <p:sp>
          <p:nvSpPr>
            <p:cNvPr name="Freeform 36" id="36"/>
            <p:cNvSpPr/>
            <p:nvPr/>
          </p:nvSpPr>
          <p:spPr>
            <a:xfrm flipH="false" flipV="false" rot="0">
              <a:off x="0" y="0"/>
              <a:ext cx="9005316" cy="19050"/>
            </a:xfrm>
            <a:custGeom>
              <a:avLst/>
              <a:gdLst/>
              <a:ahLst/>
              <a:cxnLst/>
              <a:rect r="r" b="b" t="t" l="l"/>
              <a:pathLst>
                <a:path h="19050" w="9005316">
                  <a:moveTo>
                    <a:pt x="0" y="0"/>
                  </a:moveTo>
                  <a:lnTo>
                    <a:pt x="9005316" y="0"/>
                  </a:lnTo>
                  <a:lnTo>
                    <a:pt x="9005316" y="19050"/>
                  </a:lnTo>
                  <a:lnTo>
                    <a:pt x="0" y="19050"/>
                  </a:lnTo>
                  <a:close/>
                </a:path>
              </a:pathLst>
            </a:custGeom>
            <a:solidFill>
              <a:srgbClr val="333333"/>
            </a:solidFill>
          </p:spPr>
        </p:sp>
      </p:grpSp>
      <p:grpSp>
        <p:nvGrpSpPr>
          <p:cNvPr name="Group 37" id="37"/>
          <p:cNvGrpSpPr/>
          <p:nvPr/>
        </p:nvGrpSpPr>
        <p:grpSpPr>
          <a:xfrm rot="0">
            <a:off x="9131275" y="7543800"/>
            <a:ext cx="3962552" cy="14288"/>
            <a:chOff x="0" y="0"/>
            <a:chExt cx="5283403" cy="19050"/>
          </a:xfrm>
        </p:grpSpPr>
        <p:sp>
          <p:nvSpPr>
            <p:cNvPr name="Freeform 38" id="38"/>
            <p:cNvSpPr/>
            <p:nvPr/>
          </p:nvSpPr>
          <p:spPr>
            <a:xfrm flipH="false" flipV="false" rot="0">
              <a:off x="0" y="0"/>
              <a:ext cx="5283454" cy="19050"/>
            </a:xfrm>
            <a:custGeom>
              <a:avLst/>
              <a:gdLst/>
              <a:ahLst/>
              <a:cxnLst/>
              <a:rect r="r" b="b" t="t" l="l"/>
              <a:pathLst>
                <a:path h="19050" w="5283454">
                  <a:moveTo>
                    <a:pt x="0" y="0"/>
                  </a:moveTo>
                  <a:lnTo>
                    <a:pt x="5283454" y="0"/>
                  </a:lnTo>
                  <a:lnTo>
                    <a:pt x="5283454" y="19050"/>
                  </a:lnTo>
                  <a:lnTo>
                    <a:pt x="0" y="19050"/>
                  </a:lnTo>
                  <a:close/>
                </a:path>
              </a:pathLst>
            </a:custGeom>
            <a:solidFill>
              <a:srgbClr val="333333"/>
            </a:solidFill>
          </p:spPr>
        </p:sp>
      </p:grpSp>
      <p:grpSp>
        <p:nvGrpSpPr>
          <p:cNvPr name="Group 39" id="39"/>
          <p:cNvGrpSpPr/>
          <p:nvPr/>
        </p:nvGrpSpPr>
        <p:grpSpPr>
          <a:xfrm rot="0">
            <a:off x="13093827" y="7543800"/>
            <a:ext cx="2342702" cy="14288"/>
            <a:chOff x="0" y="0"/>
            <a:chExt cx="3123603" cy="19050"/>
          </a:xfrm>
        </p:grpSpPr>
        <p:sp>
          <p:nvSpPr>
            <p:cNvPr name="Freeform 40" id="40"/>
            <p:cNvSpPr/>
            <p:nvPr/>
          </p:nvSpPr>
          <p:spPr>
            <a:xfrm flipH="false" flipV="false" rot="0">
              <a:off x="0" y="0"/>
              <a:ext cx="3123565" cy="19050"/>
            </a:xfrm>
            <a:custGeom>
              <a:avLst/>
              <a:gdLst/>
              <a:ahLst/>
              <a:cxnLst/>
              <a:rect r="r" b="b" t="t" l="l"/>
              <a:pathLst>
                <a:path h="19050" w="3123565">
                  <a:moveTo>
                    <a:pt x="0" y="0"/>
                  </a:moveTo>
                  <a:lnTo>
                    <a:pt x="3123565" y="0"/>
                  </a:lnTo>
                  <a:lnTo>
                    <a:pt x="3123565" y="19050"/>
                  </a:lnTo>
                  <a:lnTo>
                    <a:pt x="0" y="19050"/>
                  </a:lnTo>
                  <a:close/>
                </a:path>
              </a:pathLst>
            </a:custGeom>
            <a:solidFill>
              <a:srgbClr val="333333"/>
            </a:solidFill>
          </p:spPr>
        </p:sp>
      </p:grpSp>
      <p:grpSp>
        <p:nvGrpSpPr>
          <p:cNvPr name="Group 41" id="41"/>
          <p:cNvGrpSpPr/>
          <p:nvPr/>
        </p:nvGrpSpPr>
        <p:grpSpPr>
          <a:xfrm rot="0">
            <a:off x="15436529" y="7543800"/>
            <a:ext cx="1994221" cy="14288"/>
            <a:chOff x="0" y="0"/>
            <a:chExt cx="2658961" cy="19050"/>
          </a:xfrm>
        </p:grpSpPr>
        <p:sp>
          <p:nvSpPr>
            <p:cNvPr name="Freeform 42" id="42"/>
            <p:cNvSpPr/>
            <p:nvPr/>
          </p:nvSpPr>
          <p:spPr>
            <a:xfrm flipH="false" flipV="false" rot="0">
              <a:off x="0" y="0"/>
              <a:ext cx="2658999" cy="19050"/>
            </a:xfrm>
            <a:custGeom>
              <a:avLst/>
              <a:gdLst/>
              <a:ahLst/>
              <a:cxnLst/>
              <a:rect r="r" b="b" t="t" l="l"/>
              <a:pathLst>
                <a:path h="19050" w="2658999">
                  <a:moveTo>
                    <a:pt x="0" y="0"/>
                  </a:moveTo>
                  <a:lnTo>
                    <a:pt x="2658999" y="0"/>
                  </a:lnTo>
                  <a:lnTo>
                    <a:pt x="2658999" y="19050"/>
                  </a:lnTo>
                  <a:lnTo>
                    <a:pt x="0" y="19050"/>
                  </a:lnTo>
                  <a:close/>
                </a:path>
              </a:pathLst>
            </a:custGeom>
            <a:solidFill>
              <a:srgbClr val="333333"/>
            </a:solidFill>
          </p:spPr>
        </p:sp>
      </p:grpSp>
      <p:grpSp>
        <p:nvGrpSpPr>
          <p:cNvPr name="Group 43" id="43"/>
          <p:cNvGrpSpPr/>
          <p:nvPr/>
        </p:nvGrpSpPr>
        <p:grpSpPr>
          <a:xfrm rot="0">
            <a:off x="857250" y="8415338"/>
            <a:ext cx="1520057" cy="14288"/>
            <a:chOff x="0" y="0"/>
            <a:chExt cx="2026742" cy="19050"/>
          </a:xfrm>
        </p:grpSpPr>
        <p:sp>
          <p:nvSpPr>
            <p:cNvPr name="Freeform 44" id="44"/>
            <p:cNvSpPr/>
            <p:nvPr/>
          </p:nvSpPr>
          <p:spPr>
            <a:xfrm flipH="false" flipV="false" rot="0">
              <a:off x="0" y="0"/>
              <a:ext cx="2026793" cy="19050"/>
            </a:xfrm>
            <a:custGeom>
              <a:avLst/>
              <a:gdLst/>
              <a:ahLst/>
              <a:cxnLst/>
              <a:rect r="r" b="b" t="t" l="l"/>
              <a:pathLst>
                <a:path h="19050" w="2026793">
                  <a:moveTo>
                    <a:pt x="0" y="0"/>
                  </a:moveTo>
                  <a:lnTo>
                    <a:pt x="2026793" y="0"/>
                  </a:lnTo>
                  <a:lnTo>
                    <a:pt x="2026793" y="19050"/>
                  </a:lnTo>
                  <a:lnTo>
                    <a:pt x="0" y="19050"/>
                  </a:lnTo>
                  <a:close/>
                </a:path>
              </a:pathLst>
            </a:custGeom>
            <a:solidFill>
              <a:srgbClr val="333333"/>
            </a:solidFill>
          </p:spPr>
        </p:sp>
      </p:grpSp>
      <p:grpSp>
        <p:nvGrpSpPr>
          <p:cNvPr name="Group 45" id="45"/>
          <p:cNvGrpSpPr/>
          <p:nvPr/>
        </p:nvGrpSpPr>
        <p:grpSpPr>
          <a:xfrm rot="0">
            <a:off x="2377307" y="8415338"/>
            <a:ext cx="6753968" cy="14288"/>
            <a:chOff x="0" y="0"/>
            <a:chExt cx="9005291" cy="19050"/>
          </a:xfrm>
        </p:grpSpPr>
        <p:sp>
          <p:nvSpPr>
            <p:cNvPr name="Freeform 46" id="46"/>
            <p:cNvSpPr/>
            <p:nvPr/>
          </p:nvSpPr>
          <p:spPr>
            <a:xfrm flipH="false" flipV="false" rot="0">
              <a:off x="0" y="0"/>
              <a:ext cx="9005316" cy="19050"/>
            </a:xfrm>
            <a:custGeom>
              <a:avLst/>
              <a:gdLst/>
              <a:ahLst/>
              <a:cxnLst/>
              <a:rect r="r" b="b" t="t" l="l"/>
              <a:pathLst>
                <a:path h="19050" w="9005316">
                  <a:moveTo>
                    <a:pt x="0" y="0"/>
                  </a:moveTo>
                  <a:lnTo>
                    <a:pt x="9005316" y="0"/>
                  </a:lnTo>
                  <a:lnTo>
                    <a:pt x="9005316" y="19050"/>
                  </a:lnTo>
                  <a:lnTo>
                    <a:pt x="0" y="19050"/>
                  </a:lnTo>
                  <a:close/>
                </a:path>
              </a:pathLst>
            </a:custGeom>
            <a:solidFill>
              <a:srgbClr val="333333"/>
            </a:solidFill>
          </p:spPr>
        </p:sp>
      </p:grpSp>
      <p:grpSp>
        <p:nvGrpSpPr>
          <p:cNvPr name="Group 47" id="47"/>
          <p:cNvGrpSpPr/>
          <p:nvPr/>
        </p:nvGrpSpPr>
        <p:grpSpPr>
          <a:xfrm rot="0">
            <a:off x="9131275" y="8415338"/>
            <a:ext cx="3962552" cy="14288"/>
            <a:chOff x="0" y="0"/>
            <a:chExt cx="5283403" cy="19050"/>
          </a:xfrm>
        </p:grpSpPr>
        <p:sp>
          <p:nvSpPr>
            <p:cNvPr name="Freeform 48" id="48"/>
            <p:cNvSpPr/>
            <p:nvPr/>
          </p:nvSpPr>
          <p:spPr>
            <a:xfrm flipH="false" flipV="false" rot="0">
              <a:off x="0" y="0"/>
              <a:ext cx="5283454" cy="19050"/>
            </a:xfrm>
            <a:custGeom>
              <a:avLst/>
              <a:gdLst/>
              <a:ahLst/>
              <a:cxnLst/>
              <a:rect r="r" b="b" t="t" l="l"/>
              <a:pathLst>
                <a:path h="19050" w="5283454">
                  <a:moveTo>
                    <a:pt x="0" y="0"/>
                  </a:moveTo>
                  <a:lnTo>
                    <a:pt x="5283454" y="0"/>
                  </a:lnTo>
                  <a:lnTo>
                    <a:pt x="5283454" y="19050"/>
                  </a:lnTo>
                  <a:lnTo>
                    <a:pt x="0" y="19050"/>
                  </a:lnTo>
                  <a:close/>
                </a:path>
              </a:pathLst>
            </a:custGeom>
            <a:solidFill>
              <a:srgbClr val="333333"/>
            </a:solidFill>
          </p:spPr>
        </p:sp>
      </p:grpSp>
      <p:grpSp>
        <p:nvGrpSpPr>
          <p:cNvPr name="Group 49" id="49"/>
          <p:cNvGrpSpPr/>
          <p:nvPr/>
        </p:nvGrpSpPr>
        <p:grpSpPr>
          <a:xfrm rot="0">
            <a:off x="13093827" y="8415338"/>
            <a:ext cx="2342702" cy="14288"/>
            <a:chOff x="0" y="0"/>
            <a:chExt cx="3123603" cy="19050"/>
          </a:xfrm>
        </p:grpSpPr>
        <p:sp>
          <p:nvSpPr>
            <p:cNvPr name="Freeform 50" id="50"/>
            <p:cNvSpPr/>
            <p:nvPr/>
          </p:nvSpPr>
          <p:spPr>
            <a:xfrm flipH="false" flipV="false" rot="0">
              <a:off x="0" y="0"/>
              <a:ext cx="3123565" cy="19050"/>
            </a:xfrm>
            <a:custGeom>
              <a:avLst/>
              <a:gdLst/>
              <a:ahLst/>
              <a:cxnLst/>
              <a:rect r="r" b="b" t="t" l="l"/>
              <a:pathLst>
                <a:path h="19050" w="3123565">
                  <a:moveTo>
                    <a:pt x="0" y="0"/>
                  </a:moveTo>
                  <a:lnTo>
                    <a:pt x="3123565" y="0"/>
                  </a:lnTo>
                  <a:lnTo>
                    <a:pt x="3123565" y="19050"/>
                  </a:lnTo>
                  <a:lnTo>
                    <a:pt x="0" y="19050"/>
                  </a:lnTo>
                  <a:close/>
                </a:path>
              </a:pathLst>
            </a:custGeom>
            <a:solidFill>
              <a:srgbClr val="333333"/>
            </a:solidFill>
          </p:spPr>
        </p:sp>
      </p:grpSp>
      <p:grpSp>
        <p:nvGrpSpPr>
          <p:cNvPr name="Group 51" id="51"/>
          <p:cNvGrpSpPr/>
          <p:nvPr/>
        </p:nvGrpSpPr>
        <p:grpSpPr>
          <a:xfrm rot="0">
            <a:off x="15436529" y="8415338"/>
            <a:ext cx="1994221" cy="14288"/>
            <a:chOff x="0" y="0"/>
            <a:chExt cx="2658961" cy="19050"/>
          </a:xfrm>
        </p:grpSpPr>
        <p:sp>
          <p:nvSpPr>
            <p:cNvPr name="Freeform 52" id="52"/>
            <p:cNvSpPr/>
            <p:nvPr/>
          </p:nvSpPr>
          <p:spPr>
            <a:xfrm flipH="false" flipV="false" rot="0">
              <a:off x="0" y="0"/>
              <a:ext cx="2658999" cy="19050"/>
            </a:xfrm>
            <a:custGeom>
              <a:avLst/>
              <a:gdLst/>
              <a:ahLst/>
              <a:cxnLst/>
              <a:rect r="r" b="b" t="t" l="l"/>
              <a:pathLst>
                <a:path h="19050" w="2658999">
                  <a:moveTo>
                    <a:pt x="0" y="0"/>
                  </a:moveTo>
                  <a:lnTo>
                    <a:pt x="2658999" y="0"/>
                  </a:lnTo>
                  <a:lnTo>
                    <a:pt x="2658999" y="19050"/>
                  </a:lnTo>
                  <a:lnTo>
                    <a:pt x="0" y="19050"/>
                  </a:lnTo>
                  <a:close/>
                </a:path>
              </a:pathLst>
            </a:custGeom>
            <a:solidFill>
              <a:srgbClr val="333333"/>
            </a:solidFill>
          </p:spPr>
        </p:sp>
      </p:grpSp>
      <p:sp>
        <p:nvSpPr>
          <p:cNvPr name="TextBox 53" id="53"/>
          <p:cNvSpPr txBox="true"/>
          <p:nvPr/>
        </p:nvSpPr>
        <p:spPr>
          <a:xfrm rot="0">
            <a:off x="857250" y="819150"/>
            <a:ext cx="9328666" cy="923925"/>
          </a:xfrm>
          <a:prstGeom prst="rect">
            <a:avLst/>
          </a:prstGeom>
        </p:spPr>
        <p:txBody>
          <a:bodyPr anchor="t" rtlCol="false" tIns="0" lIns="0" bIns="0" rIns="0">
            <a:spAutoFit/>
          </a:bodyPr>
          <a:lstStyle/>
          <a:p>
            <a:pPr algn="l">
              <a:lnSpc>
                <a:spcPts val="7020"/>
              </a:lnSpc>
            </a:pPr>
            <a:r>
              <a:rPr lang="en-US" b="true" sz="5850">
                <a:solidFill>
                  <a:srgbClr val="73BDBD"/>
                </a:solidFill>
                <a:latin typeface="Arimo Bold"/>
                <a:ea typeface="Arimo Bold"/>
                <a:cs typeface="Arimo Bold"/>
                <a:sym typeface="Arimo Bold"/>
              </a:rPr>
              <a:t>KEY FINDINGS SUMMARY</a:t>
            </a:r>
          </a:p>
        </p:txBody>
      </p:sp>
      <p:sp>
        <p:nvSpPr>
          <p:cNvPr name="Freeform 54" id="54"/>
          <p:cNvSpPr/>
          <p:nvPr/>
        </p:nvSpPr>
        <p:spPr>
          <a:xfrm flipH="true" flipV="false" rot="0">
            <a:off x="-412019" y="6137442"/>
            <a:ext cx="24520492" cy="4402586"/>
          </a:xfrm>
          <a:custGeom>
            <a:avLst/>
            <a:gdLst/>
            <a:ahLst/>
            <a:cxnLst/>
            <a:rect r="r" b="b" t="t" l="l"/>
            <a:pathLst>
              <a:path h="4402586" w="24520492">
                <a:moveTo>
                  <a:pt x="24520492" y="0"/>
                </a:moveTo>
                <a:lnTo>
                  <a:pt x="0" y="0"/>
                </a:lnTo>
                <a:lnTo>
                  <a:pt x="0" y="4402586"/>
                </a:lnTo>
                <a:lnTo>
                  <a:pt x="24520492" y="4402586"/>
                </a:lnTo>
                <a:lnTo>
                  <a:pt x="24520492" y="0"/>
                </a:lnTo>
                <a:close/>
              </a:path>
            </a:pathLst>
          </a:custGeom>
          <a:blipFill>
            <a:blip r:embed="rId3">
              <a:alphaModFix amt="6000"/>
              <a:extLst>
                <a:ext uri="{96DAC541-7B7A-43D3-8B79-37D633B846F1}">
                  <asvg:svgBlip xmlns:asvg="http://schemas.microsoft.com/office/drawing/2016/SVG/main" r:embed="rId4"/>
                </a:ext>
              </a:extLst>
            </a:blip>
            <a:stretch>
              <a:fillRect l="0" t="0" r="0" b="0"/>
            </a:stretch>
          </a:blipFill>
        </p:spPr>
      </p:sp>
      <p:sp>
        <p:nvSpPr>
          <p:cNvPr name="Freeform 55" id="55"/>
          <p:cNvSpPr/>
          <p:nvPr/>
        </p:nvSpPr>
        <p:spPr>
          <a:xfrm flipH="false" flipV="false" rot="0">
            <a:off x="17081710" y="216593"/>
            <a:ext cx="793566" cy="793566"/>
          </a:xfrm>
          <a:custGeom>
            <a:avLst/>
            <a:gdLst/>
            <a:ahLst/>
            <a:cxnLst/>
            <a:rect r="r" b="b" t="t" l="l"/>
            <a:pathLst>
              <a:path h="793566" w="793566">
                <a:moveTo>
                  <a:pt x="0" y="0"/>
                </a:moveTo>
                <a:lnTo>
                  <a:pt x="793565" y="0"/>
                </a:lnTo>
                <a:lnTo>
                  <a:pt x="793565" y="793566"/>
                </a:lnTo>
                <a:lnTo>
                  <a:pt x="0" y="7935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6" id="56"/>
          <p:cNvSpPr txBox="true"/>
          <p:nvPr/>
        </p:nvSpPr>
        <p:spPr>
          <a:xfrm rot="0">
            <a:off x="13302263" y="418113"/>
            <a:ext cx="3705639" cy="381000"/>
          </a:xfrm>
          <a:prstGeom prst="rect">
            <a:avLst/>
          </a:prstGeom>
        </p:spPr>
        <p:txBody>
          <a:bodyPr anchor="t" rtlCol="false" tIns="0" lIns="0" bIns="0" rIns="0">
            <a:spAutoFit/>
          </a:bodyPr>
          <a:lstStyle/>
          <a:p>
            <a:pPr algn="r">
              <a:lnSpc>
                <a:spcPts val="2849"/>
              </a:lnSpc>
            </a:pPr>
            <a:r>
              <a:rPr lang="en-US" b="true" sz="2499">
                <a:solidFill>
                  <a:srgbClr val="000000"/>
                </a:solidFill>
                <a:latin typeface="Poppins Bold"/>
                <a:ea typeface="Poppins Bold"/>
                <a:cs typeface="Poppins Bold"/>
                <a:sym typeface="Poppins Bold"/>
              </a:rPr>
              <a:t>FinSecure Bank</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57250" y="4514850"/>
            <a:ext cx="16573500" cy="28575"/>
            <a:chOff x="0" y="0"/>
            <a:chExt cx="22098000" cy="38100"/>
          </a:xfrm>
        </p:grpSpPr>
        <p:sp>
          <p:nvSpPr>
            <p:cNvPr name="Freeform 3" id="3"/>
            <p:cNvSpPr/>
            <p:nvPr/>
          </p:nvSpPr>
          <p:spPr>
            <a:xfrm flipH="false" flipV="false" rot="0">
              <a:off x="0" y="0"/>
              <a:ext cx="22098000" cy="38100"/>
            </a:xfrm>
            <a:custGeom>
              <a:avLst/>
              <a:gdLst/>
              <a:ahLst/>
              <a:cxnLst/>
              <a:rect r="r" b="b" t="t" l="l"/>
              <a:pathLst>
                <a:path h="38100" w="22098000">
                  <a:moveTo>
                    <a:pt x="0" y="0"/>
                  </a:moveTo>
                  <a:lnTo>
                    <a:pt x="22098000" y="0"/>
                  </a:lnTo>
                  <a:lnTo>
                    <a:pt x="22098000" y="38100"/>
                  </a:lnTo>
                  <a:lnTo>
                    <a:pt x="0" y="38100"/>
                  </a:lnTo>
                  <a:close/>
                </a:path>
              </a:pathLst>
            </a:custGeom>
            <a:solidFill>
              <a:srgbClr val="333333"/>
            </a:solidFill>
          </p:spPr>
        </p:sp>
      </p:grpSp>
      <p:grpSp>
        <p:nvGrpSpPr>
          <p:cNvPr name="Group 4" id="4"/>
          <p:cNvGrpSpPr/>
          <p:nvPr/>
        </p:nvGrpSpPr>
        <p:grpSpPr>
          <a:xfrm rot="0">
            <a:off x="2957512" y="3983355"/>
            <a:ext cx="771525" cy="942975"/>
            <a:chOff x="0" y="0"/>
            <a:chExt cx="1028700" cy="1257300"/>
          </a:xfrm>
        </p:grpSpPr>
        <p:sp>
          <p:nvSpPr>
            <p:cNvPr name="Freeform 5" id="5"/>
            <p:cNvSpPr/>
            <p:nvPr/>
          </p:nvSpPr>
          <p:spPr>
            <a:xfrm flipH="false" flipV="false" rot="0">
              <a:off x="0" y="0"/>
              <a:ext cx="1028700" cy="1257300"/>
            </a:xfrm>
            <a:custGeom>
              <a:avLst/>
              <a:gdLst/>
              <a:ahLst/>
              <a:cxnLst/>
              <a:rect r="r" b="b" t="t" l="l"/>
              <a:pathLst>
                <a:path h="1257300" w="1028700">
                  <a:moveTo>
                    <a:pt x="0" y="514350"/>
                  </a:moveTo>
                  <a:cubicBezTo>
                    <a:pt x="0" y="230251"/>
                    <a:pt x="230251" y="0"/>
                    <a:pt x="514350" y="0"/>
                  </a:cubicBezTo>
                  <a:cubicBezTo>
                    <a:pt x="798449" y="0"/>
                    <a:pt x="1028700" y="230251"/>
                    <a:pt x="1028700" y="514350"/>
                  </a:cubicBezTo>
                  <a:lnTo>
                    <a:pt x="1028700" y="742950"/>
                  </a:lnTo>
                  <a:cubicBezTo>
                    <a:pt x="1028700" y="1027049"/>
                    <a:pt x="798449" y="1257300"/>
                    <a:pt x="514350" y="1257300"/>
                  </a:cubicBezTo>
                  <a:cubicBezTo>
                    <a:pt x="230251" y="1257300"/>
                    <a:pt x="0" y="1027049"/>
                    <a:pt x="0" y="742950"/>
                  </a:cubicBezTo>
                  <a:close/>
                </a:path>
              </a:pathLst>
            </a:custGeom>
            <a:solidFill>
              <a:srgbClr val="C00000"/>
            </a:solidFill>
          </p:spPr>
        </p:sp>
      </p:grpSp>
      <p:sp>
        <p:nvSpPr>
          <p:cNvPr name="TextBox 6" id="6"/>
          <p:cNvSpPr txBox="true"/>
          <p:nvPr/>
        </p:nvSpPr>
        <p:spPr>
          <a:xfrm rot="0">
            <a:off x="857250" y="5229225"/>
            <a:ext cx="4972050" cy="662245"/>
          </a:xfrm>
          <a:prstGeom prst="rect">
            <a:avLst/>
          </a:prstGeom>
        </p:spPr>
        <p:txBody>
          <a:bodyPr anchor="t" rtlCol="false" tIns="0" lIns="0" bIns="0" rIns="0">
            <a:spAutoFit/>
          </a:bodyPr>
          <a:lstStyle/>
          <a:p>
            <a:pPr algn="ctr">
              <a:lnSpc>
                <a:spcPts val="4050"/>
              </a:lnSpc>
            </a:pPr>
            <a:r>
              <a:rPr lang="en-US" b="true" sz="2250">
                <a:solidFill>
                  <a:srgbClr val="000000"/>
                </a:solidFill>
                <a:latin typeface="Arimo Bold"/>
                <a:ea typeface="Arimo Bold"/>
                <a:cs typeface="Arimo Bold"/>
                <a:sym typeface="Arimo Bold"/>
              </a:rPr>
              <a:t>PHASE 1: 0-14 DAYS</a:t>
            </a:r>
          </a:p>
        </p:txBody>
      </p:sp>
      <p:sp>
        <p:nvSpPr>
          <p:cNvPr name="TextBox 7" id="7"/>
          <p:cNvSpPr txBox="true"/>
          <p:nvPr/>
        </p:nvSpPr>
        <p:spPr>
          <a:xfrm rot="0">
            <a:off x="651510" y="5892356"/>
            <a:ext cx="5800725" cy="3538690"/>
          </a:xfrm>
          <a:prstGeom prst="rect">
            <a:avLst/>
          </a:prstGeom>
        </p:spPr>
        <p:txBody>
          <a:bodyPr anchor="t" rtlCol="false" tIns="0" lIns="0" bIns="0" rIns="0">
            <a:spAutoFit/>
          </a:bodyPr>
          <a:lstStyle/>
          <a:p>
            <a:pPr algn="ctr">
              <a:lnSpc>
                <a:spcPts val="3375"/>
              </a:lnSpc>
            </a:pPr>
            <a:r>
              <a:rPr lang="en-US" b="true" sz="2250">
                <a:solidFill>
                  <a:srgbClr val="000000"/>
                </a:solidFill>
                <a:latin typeface="Arimo Bold"/>
                <a:ea typeface="Arimo Bold"/>
                <a:cs typeface="Arimo Bold"/>
                <a:sym typeface="Arimo Bold"/>
              </a:rPr>
              <a:t>Immediate Remediation</a:t>
            </a:r>
          </a:p>
          <a:p>
            <a:pPr algn="ctr">
              <a:lnSpc>
                <a:spcPts val="3375"/>
              </a:lnSpc>
            </a:pPr>
            <a:r>
              <a:rPr lang="en-US" sz="2250">
                <a:solidFill>
                  <a:srgbClr val="000000"/>
                </a:solidFill>
                <a:latin typeface="Arimo"/>
                <a:ea typeface="Arimo"/>
                <a:cs typeface="Arimo"/>
                <a:sym typeface="Arimo"/>
              </a:rPr>
              <a:t> The CISO must enforce the deployment of MFA across all administrative accounts (F1) and request compliance documentation from the third-party gateway provider (F2) within the next 7 business days. External auditors will automatically fail an organization if Major Non-Conformities remain unresolved..</a:t>
            </a:r>
          </a:p>
        </p:txBody>
      </p:sp>
      <p:grpSp>
        <p:nvGrpSpPr>
          <p:cNvPr name="Group 8" id="8"/>
          <p:cNvGrpSpPr/>
          <p:nvPr/>
        </p:nvGrpSpPr>
        <p:grpSpPr>
          <a:xfrm rot="0">
            <a:off x="9144000" y="4429125"/>
            <a:ext cx="228600" cy="228600"/>
            <a:chOff x="0" y="0"/>
            <a:chExt cx="304800" cy="304800"/>
          </a:xfrm>
        </p:grpSpPr>
        <p:sp>
          <p:nvSpPr>
            <p:cNvPr name="Freeform 9" id="9"/>
            <p:cNvSpPr/>
            <p:nvPr/>
          </p:nvSpPr>
          <p:spPr>
            <a:xfrm flipH="false" flipV="false" rot="0">
              <a:off x="0" y="0"/>
              <a:ext cx="304800" cy="304800"/>
            </a:xfrm>
            <a:custGeom>
              <a:avLst/>
              <a:gdLst/>
              <a:ahLst/>
              <a:cxnLst/>
              <a:rect r="r" b="b" t="t" l="l"/>
              <a:pathLst>
                <a:path h="304800" w="304800">
                  <a:moveTo>
                    <a:pt x="0" y="152400"/>
                  </a:moveTo>
                  <a:cubicBezTo>
                    <a:pt x="0" y="68199"/>
                    <a:pt x="68199" y="0"/>
                    <a:pt x="152400" y="0"/>
                  </a:cubicBezTo>
                  <a:cubicBezTo>
                    <a:pt x="236601" y="0"/>
                    <a:pt x="304800" y="68199"/>
                    <a:pt x="304800" y="152400"/>
                  </a:cubicBezTo>
                  <a:cubicBezTo>
                    <a:pt x="304800" y="236601"/>
                    <a:pt x="236601" y="304800"/>
                    <a:pt x="152400" y="304800"/>
                  </a:cubicBezTo>
                  <a:cubicBezTo>
                    <a:pt x="68199" y="304800"/>
                    <a:pt x="0" y="236601"/>
                    <a:pt x="0" y="152400"/>
                  </a:cubicBezTo>
                  <a:close/>
                </a:path>
              </a:pathLst>
            </a:custGeom>
            <a:solidFill>
              <a:srgbClr val="31859C"/>
            </a:solidFill>
          </p:spPr>
        </p:sp>
      </p:grpSp>
      <p:sp>
        <p:nvSpPr>
          <p:cNvPr name="TextBox 10" id="10"/>
          <p:cNvSpPr txBox="true"/>
          <p:nvPr/>
        </p:nvSpPr>
        <p:spPr>
          <a:xfrm rot="0">
            <a:off x="6886575" y="5229225"/>
            <a:ext cx="4972050" cy="662245"/>
          </a:xfrm>
          <a:prstGeom prst="rect">
            <a:avLst/>
          </a:prstGeom>
        </p:spPr>
        <p:txBody>
          <a:bodyPr anchor="t" rtlCol="false" tIns="0" lIns="0" bIns="0" rIns="0">
            <a:spAutoFit/>
          </a:bodyPr>
          <a:lstStyle/>
          <a:p>
            <a:pPr algn="ctr">
              <a:lnSpc>
                <a:spcPts val="4050"/>
              </a:lnSpc>
            </a:pPr>
            <a:r>
              <a:rPr lang="en-US" b="true" sz="2250">
                <a:solidFill>
                  <a:srgbClr val="000000"/>
                </a:solidFill>
                <a:latin typeface="Arimo Bold"/>
                <a:ea typeface="Arimo Bold"/>
                <a:cs typeface="Arimo Bold"/>
                <a:sym typeface="Arimo Bold"/>
              </a:rPr>
              <a:t>PHASE 2: 30 DAYS</a:t>
            </a:r>
          </a:p>
        </p:txBody>
      </p:sp>
      <p:sp>
        <p:nvSpPr>
          <p:cNvPr name="TextBox 11" id="11"/>
          <p:cNvSpPr txBox="true"/>
          <p:nvPr/>
        </p:nvSpPr>
        <p:spPr>
          <a:xfrm rot="0">
            <a:off x="6886575" y="5935370"/>
            <a:ext cx="4972050" cy="3538690"/>
          </a:xfrm>
          <a:prstGeom prst="rect">
            <a:avLst/>
          </a:prstGeom>
        </p:spPr>
        <p:txBody>
          <a:bodyPr anchor="t" rtlCol="false" tIns="0" lIns="0" bIns="0" rIns="0">
            <a:spAutoFit/>
          </a:bodyPr>
          <a:lstStyle/>
          <a:p>
            <a:pPr algn="ctr">
              <a:lnSpc>
                <a:spcPts val="3375"/>
              </a:lnSpc>
            </a:pPr>
            <a:r>
              <a:rPr lang="en-US" b="true" sz="2250">
                <a:solidFill>
                  <a:srgbClr val="000000"/>
                </a:solidFill>
                <a:latin typeface="Arimo Bold"/>
                <a:ea typeface="Arimo Bold"/>
                <a:cs typeface="Arimo Bold"/>
                <a:sym typeface="Arimo Bold"/>
              </a:rPr>
              <a:t>Process Automation</a:t>
            </a:r>
          </a:p>
          <a:p>
            <a:pPr algn="ctr">
              <a:lnSpc>
                <a:spcPts val="3375"/>
              </a:lnSpc>
            </a:pPr>
            <a:r>
              <a:rPr lang="en-US" sz="2250">
                <a:solidFill>
                  <a:srgbClr val="000000"/>
                </a:solidFill>
                <a:latin typeface="Arimo"/>
                <a:ea typeface="Arimo"/>
                <a:cs typeface="Arimo"/>
                <a:sym typeface="Arimo"/>
              </a:rPr>
              <a:t> Move away from manual checklists by integrating automated controls. Syncing HR databases to Active Directory systems (F3) and utilizing Infrastructure-as-Code policy blocks (F4) ensures compliance remains continuous rather than point-in-time..</a:t>
            </a:r>
          </a:p>
        </p:txBody>
      </p:sp>
      <p:grpSp>
        <p:nvGrpSpPr>
          <p:cNvPr name="Group 12" id="12"/>
          <p:cNvGrpSpPr/>
          <p:nvPr/>
        </p:nvGrpSpPr>
        <p:grpSpPr>
          <a:xfrm rot="0">
            <a:off x="14944725" y="4429125"/>
            <a:ext cx="228600" cy="228600"/>
            <a:chOff x="0" y="0"/>
            <a:chExt cx="304800" cy="304800"/>
          </a:xfrm>
        </p:grpSpPr>
        <p:sp>
          <p:nvSpPr>
            <p:cNvPr name="Freeform 13" id="13"/>
            <p:cNvSpPr/>
            <p:nvPr/>
          </p:nvSpPr>
          <p:spPr>
            <a:xfrm flipH="false" flipV="false" rot="0">
              <a:off x="0" y="0"/>
              <a:ext cx="304800" cy="304800"/>
            </a:xfrm>
            <a:custGeom>
              <a:avLst/>
              <a:gdLst/>
              <a:ahLst/>
              <a:cxnLst/>
              <a:rect r="r" b="b" t="t" l="l"/>
              <a:pathLst>
                <a:path h="304800" w="304800">
                  <a:moveTo>
                    <a:pt x="0" y="152400"/>
                  </a:moveTo>
                  <a:cubicBezTo>
                    <a:pt x="0" y="68199"/>
                    <a:pt x="68199" y="0"/>
                    <a:pt x="152400" y="0"/>
                  </a:cubicBezTo>
                  <a:cubicBezTo>
                    <a:pt x="236601" y="0"/>
                    <a:pt x="304800" y="68199"/>
                    <a:pt x="304800" y="152400"/>
                  </a:cubicBezTo>
                  <a:cubicBezTo>
                    <a:pt x="304800" y="236601"/>
                    <a:pt x="236601" y="304800"/>
                    <a:pt x="152400" y="304800"/>
                  </a:cubicBezTo>
                  <a:cubicBezTo>
                    <a:pt x="68199" y="304800"/>
                    <a:pt x="0" y="236601"/>
                    <a:pt x="0" y="152400"/>
                  </a:cubicBezTo>
                  <a:close/>
                </a:path>
              </a:pathLst>
            </a:custGeom>
            <a:solidFill>
              <a:srgbClr val="31859C"/>
            </a:solidFill>
          </p:spPr>
        </p:sp>
      </p:grpSp>
      <p:sp>
        <p:nvSpPr>
          <p:cNvPr name="TextBox 14" id="14"/>
          <p:cNvSpPr txBox="true"/>
          <p:nvPr/>
        </p:nvSpPr>
        <p:spPr>
          <a:xfrm rot="0">
            <a:off x="12573000" y="5229225"/>
            <a:ext cx="4972050" cy="662245"/>
          </a:xfrm>
          <a:prstGeom prst="rect">
            <a:avLst/>
          </a:prstGeom>
        </p:spPr>
        <p:txBody>
          <a:bodyPr anchor="t" rtlCol="false" tIns="0" lIns="0" bIns="0" rIns="0">
            <a:spAutoFit/>
          </a:bodyPr>
          <a:lstStyle/>
          <a:p>
            <a:pPr algn="ctr">
              <a:lnSpc>
                <a:spcPts val="4050"/>
              </a:lnSpc>
            </a:pPr>
            <a:r>
              <a:rPr lang="en-US" b="true" sz="2250">
                <a:solidFill>
                  <a:srgbClr val="000000"/>
                </a:solidFill>
                <a:latin typeface="Arimo Bold"/>
                <a:ea typeface="Arimo Bold"/>
                <a:cs typeface="Arimo Bold"/>
                <a:sym typeface="Arimo Bold"/>
              </a:rPr>
              <a:t>PHASE 3: 60 DAYS</a:t>
            </a:r>
          </a:p>
        </p:txBody>
      </p:sp>
      <p:sp>
        <p:nvSpPr>
          <p:cNvPr name="TextBox 15" id="15"/>
          <p:cNvSpPr txBox="true"/>
          <p:nvPr/>
        </p:nvSpPr>
        <p:spPr>
          <a:xfrm rot="0">
            <a:off x="12573000" y="5999445"/>
            <a:ext cx="4972050" cy="3538690"/>
          </a:xfrm>
          <a:prstGeom prst="rect">
            <a:avLst/>
          </a:prstGeom>
        </p:spPr>
        <p:txBody>
          <a:bodyPr anchor="t" rtlCol="false" tIns="0" lIns="0" bIns="0" rIns="0">
            <a:spAutoFit/>
          </a:bodyPr>
          <a:lstStyle/>
          <a:p>
            <a:pPr algn="ctr">
              <a:lnSpc>
                <a:spcPts val="3375"/>
              </a:lnSpc>
            </a:pPr>
            <a:r>
              <a:rPr lang="en-US" b="true" sz="2250">
                <a:solidFill>
                  <a:srgbClr val="000000"/>
                </a:solidFill>
                <a:latin typeface="Arimo Bold"/>
                <a:ea typeface="Arimo Bold"/>
                <a:cs typeface="Arimo Bold"/>
                <a:sym typeface="Arimo Bold"/>
              </a:rPr>
              <a:t>Certification Audit </a:t>
            </a:r>
          </a:p>
          <a:p>
            <a:pPr algn="ctr">
              <a:lnSpc>
                <a:spcPts val="3375"/>
              </a:lnSpc>
            </a:pPr>
            <a:r>
              <a:rPr lang="en-US" sz="2250">
                <a:solidFill>
                  <a:srgbClr val="000000"/>
                </a:solidFill>
                <a:latin typeface="Arimo"/>
                <a:ea typeface="Arimo"/>
                <a:cs typeface="Arimo"/>
                <a:sym typeface="Arimo"/>
              </a:rPr>
              <a:t> Once corrective actions are implemented, the Compliance Auditor should perform a targeted follow-up spot check 15 days post-remediation to verify that the controls are functioning effectively and to officially close out these findings.</a:t>
            </a:r>
          </a:p>
        </p:txBody>
      </p:sp>
      <p:sp>
        <p:nvSpPr>
          <p:cNvPr name="TextBox 16" id="16"/>
          <p:cNvSpPr txBox="true"/>
          <p:nvPr/>
        </p:nvSpPr>
        <p:spPr>
          <a:xfrm rot="0">
            <a:off x="857250" y="819150"/>
            <a:ext cx="17402175" cy="938346"/>
          </a:xfrm>
          <a:prstGeom prst="rect">
            <a:avLst/>
          </a:prstGeom>
        </p:spPr>
        <p:txBody>
          <a:bodyPr anchor="t" rtlCol="false" tIns="0" lIns="0" bIns="0" rIns="0">
            <a:spAutoFit/>
          </a:bodyPr>
          <a:lstStyle/>
          <a:p>
            <a:pPr algn="l">
              <a:lnSpc>
                <a:spcPts val="7020"/>
              </a:lnSpc>
            </a:pPr>
            <a:r>
              <a:rPr lang="en-US" b="true" sz="5850">
                <a:solidFill>
                  <a:srgbClr val="000000"/>
                </a:solidFill>
                <a:latin typeface="Arimo Bold"/>
                <a:ea typeface="Arimo Bold"/>
                <a:cs typeface="Arimo Bold"/>
                <a:sym typeface="Arimo Bold"/>
              </a:rPr>
              <a:t>Recommendation</a:t>
            </a:r>
            <a:r>
              <a:rPr lang="en-US" b="true" sz="5850">
                <a:solidFill>
                  <a:srgbClr val="F5F5F5"/>
                </a:solidFill>
                <a:latin typeface="Arimo Bold"/>
                <a:ea typeface="Arimo Bold"/>
                <a:cs typeface="Arimo Bold"/>
                <a:sym typeface="Arimo Bold"/>
              </a:rPr>
              <a:t> </a:t>
            </a:r>
            <a:r>
              <a:rPr lang="en-US" b="true" sz="5850">
                <a:solidFill>
                  <a:srgbClr val="73BDBD"/>
                </a:solidFill>
                <a:latin typeface="Arimo Bold"/>
                <a:ea typeface="Arimo Bold"/>
                <a:cs typeface="Arimo Bold"/>
                <a:sym typeface="Arimo Bold"/>
              </a:rPr>
              <a:t>Roadmap</a:t>
            </a:r>
          </a:p>
        </p:txBody>
      </p:sp>
      <p:sp>
        <p:nvSpPr>
          <p:cNvPr name="TextBox 17" id="17"/>
          <p:cNvSpPr txBox="true"/>
          <p:nvPr/>
        </p:nvSpPr>
        <p:spPr>
          <a:xfrm rot="0">
            <a:off x="857250" y="1734722"/>
            <a:ext cx="11418570" cy="1181624"/>
          </a:xfrm>
          <a:prstGeom prst="rect">
            <a:avLst/>
          </a:prstGeom>
        </p:spPr>
        <p:txBody>
          <a:bodyPr anchor="t" rtlCol="false" tIns="0" lIns="0" bIns="0" rIns="0">
            <a:spAutoFit/>
          </a:bodyPr>
          <a:lstStyle/>
          <a:p>
            <a:pPr algn="l">
              <a:lnSpc>
                <a:spcPts val="4050"/>
              </a:lnSpc>
            </a:pPr>
            <a:r>
              <a:rPr lang="en-US" sz="2250">
                <a:solidFill>
                  <a:srgbClr val="000000"/>
                </a:solidFill>
                <a:latin typeface="Arimo"/>
                <a:ea typeface="Arimo"/>
                <a:cs typeface="Arimo"/>
                <a:sym typeface="Arimo"/>
              </a:rPr>
              <a:t>To successfully pass the upcoming external ISO/IEC 27001 certification audit, FinSecure Bank's leadership must prioritize resources toward resolving the items detailed mentioned.</a:t>
            </a:r>
          </a:p>
        </p:txBody>
      </p:sp>
      <p:grpSp>
        <p:nvGrpSpPr>
          <p:cNvPr name="Group 18" id="18"/>
          <p:cNvGrpSpPr/>
          <p:nvPr/>
        </p:nvGrpSpPr>
        <p:grpSpPr>
          <a:xfrm rot="0">
            <a:off x="8858250" y="3971925"/>
            <a:ext cx="771525" cy="942975"/>
            <a:chOff x="0" y="0"/>
            <a:chExt cx="1028700" cy="1257300"/>
          </a:xfrm>
        </p:grpSpPr>
        <p:sp>
          <p:nvSpPr>
            <p:cNvPr name="Freeform 19" id="19"/>
            <p:cNvSpPr/>
            <p:nvPr/>
          </p:nvSpPr>
          <p:spPr>
            <a:xfrm flipH="false" flipV="false" rot="0">
              <a:off x="0" y="0"/>
              <a:ext cx="1028700" cy="1257300"/>
            </a:xfrm>
            <a:custGeom>
              <a:avLst/>
              <a:gdLst/>
              <a:ahLst/>
              <a:cxnLst/>
              <a:rect r="r" b="b" t="t" l="l"/>
              <a:pathLst>
                <a:path h="1257300" w="1028700">
                  <a:moveTo>
                    <a:pt x="0" y="514350"/>
                  </a:moveTo>
                  <a:cubicBezTo>
                    <a:pt x="0" y="230251"/>
                    <a:pt x="230251" y="0"/>
                    <a:pt x="514350" y="0"/>
                  </a:cubicBezTo>
                  <a:cubicBezTo>
                    <a:pt x="798449" y="0"/>
                    <a:pt x="1028700" y="230251"/>
                    <a:pt x="1028700" y="514350"/>
                  </a:cubicBezTo>
                  <a:lnTo>
                    <a:pt x="1028700" y="742950"/>
                  </a:lnTo>
                  <a:cubicBezTo>
                    <a:pt x="1028700" y="1027049"/>
                    <a:pt x="798449" y="1257300"/>
                    <a:pt x="514350" y="1257300"/>
                  </a:cubicBezTo>
                  <a:cubicBezTo>
                    <a:pt x="230251" y="1257300"/>
                    <a:pt x="0" y="1027049"/>
                    <a:pt x="0" y="742950"/>
                  </a:cubicBezTo>
                  <a:close/>
                </a:path>
              </a:pathLst>
            </a:custGeom>
            <a:solidFill>
              <a:srgbClr val="E46C0A"/>
            </a:solidFill>
          </p:spPr>
        </p:sp>
      </p:grpSp>
      <p:grpSp>
        <p:nvGrpSpPr>
          <p:cNvPr name="Group 20" id="20"/>
          <p:cNvGrpSpPr/>
          <p:nvPr/>
        </p:nvGrpSpPr>
        <p:grpSpPr>
          <a:xfrm rot="0">
            <a:off x="14558962" y="3956990"/>
            <a:ext cx="771525" cy="942975"/>
            <a:chOff x="0" y="0"/>
            <a:chExt cx="1028700" cy="1257300"/>
          </a:xfrm>
        </p:grpSpPr>
        <p:sp>
          <p:nvSpPr>
            <p:cNvPr name="Freeform 21" id="21"/>
            <p:cNvSpPr/>
            <p:nvPr/>
          </p:nvSpPr>
          <p:spPr>
            <a:xfrm flipH="false" flipV="false" rot="0">
              <a:off x="0" y="0"/>
              <a:ext cx="1028700" cy="1257300"/>
            </a:xfrm>
            <a:custGeom>
              <a:avLst/>
              <a:gdLst/>
              <a:ahLst/>
              <a:cxnLst/>
              <a:rect r="r" b="b" t="t" l="l"/>
              <a:pathLst>
                <a:path h="1257300" w="1028700">
                  <a:moveTo>
                    <a:pt x="0" y="514350"/>
                  </a:moveTo>
                  <a:cubicBezTo>
                    <a:pt x="0" y="230251"/>
                    <a:pt x="230251" y="0"/>
                    <a:pt x="514350" y="0"/>
                  </a:cubicBezTo>
                  <a:cubicBezTo>
                    <a:pt x="798449" y="0"/>
                    <a:pt x="1028700" y="230251"/>
                    <a:pt x="1028700" y="514350"/>
                  </a:cubicBezTo>
                  <a:lnTo>
                    <a:pt x="1028700" y="742950"/>
                  </a:lnTo>
                  <a:cubicBezTo>
                    <a:pt x="1028700" y="1027049"/>
                    <a:pt x="798449" y="1257300"/>
                    <a:pt x="514350" y="1257300"/>
                  </a:cubicBezTo>
                  <a:cubicBezTo>
                    <a:pt x="230251" y="1257300"/>
                    <a:pt x="0" y="1027049"/>
                    <a:pt x="0" y="742950"/>
                  </a:cubicBezTo>
                  <a:close/>
                </a:path>
              </a:pathLst>
            </a:custGeom>
            <a:solidFill>
              <a:srgbClr val="FFC000"/>
            </a:solidFill>
          </p:spPr>
        </p:sp>
      </p:grpSp>
      <p:sp>
        <p:nvSpPr>
          <p:cNvPr name="Freeform 22" id="22"/>
          <p:cNvSpPr/>
          <p:nvPr/>
        </p:nvSpPr>
        <p:spPr>
          <a:xfrm flipH="false" flipV="false" rot="0">
            <a:off x="17081710" y="216593"/>
            <a:ext cx="793566" cy="793566"/>
          </a:xfrm>
          <a:custGeom>
            <a:avLst/>
            <a:gdLst/>
            <a:ahLst/>
            <a:cxnLst/>
            <a:rect r="r" b="b" t="t" l="l"/>
            <a:pathLst>
              <a:path h="793566" w="793566">
                <a:moveTo>
                  <a:pt x="0" y="0"/>
                </a:moveTo>
                <a:lnTo>
                  <a:pt x="793565" y="0"/>
                </a:lnTo>
                <a:lnTo>
                  <a:pt x="793565" y="793566"/>
                </a:lnTo>
                <a:lnTo>
                  <a:pt x="0" y="7935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3" id="23"/>
          <p:cNvSpPr txBox="true"/>
          <p:nvPr/>
        </p:nvSpPr>
        <p:spPr>
          <a:xfrm rot="0">
            <a:off x="13302263" y="418113"/>
            <a:ext cx="3705639" cy="381000"/>
          </a:xfrm>
          <a:prstGeom prst="rect">
            <a:avLst/>
          </a:prstGeom>
        </p:spPr>
        <p:txBody>
          <a:bodyPr anchor="t" rtlCol="false" tIns="0" lIns="0" bIns="0" rIns="0">
            <a:spAutoFit/>
          </a:bodyPr>
          <a:lstStyle/>
          <a:p>
            <a:pPr algn="r">
              <a:lnSpc>
                <a:spcPts val="2849"/>
              </a:lnSpc>
            </a:pPr>
            <a:r>
              <a:rPr lang="en-US" b="true" sz="2499">
                <a:solidFill>
                  <a:srgbClr val="000000"/>
                </a:solidFill>
                <a:latin typeface="Poppins Bold"/>
                <a:ea typeface="Poppins Bold"/>
                <a:cs typeface="Poppins Bold"/>
                <a:sym typeface="Poppins Bold"/>
              </a:rPr>
              <a:t>FinSecure Bank</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862888">
            <a:off x="15827254" y="-3881126"/>
            <a:ext cx="5429187" cy="15382828"/>
            <a:chOff x="0" y="0"/>
            <a:chExt cx="1429909" cy="4051444"/>
          </a:xfrm>
        </p:grpSpPr>
        <p:sp>
          <p:nvSpPr>
            <p:cNvPr name="Freeform 3" id="3"/>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20989B"/>
            </a:solidFill>
          </p:spPr>
        </p:sp>
        <p:sp>
          <p:nvSpPr>
            <p:cNvPr name="TextBox 4" id="4"/>
            <p:cNvSpPr txBox="true"/>
            <p:nvPr/>
          </p:nvSpPr>
          <p:spPr>
            <a:xfrm>
              <a:off x="0" y="-57150"/>
              <a:ext cx="1429909" cy="4108594"/>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true" rot="-6270710">
            <a:off x="11455062" y="4514251"/>
            <a:ext cx="13353097" cy="404258"/>
          </a:xfrm>
          <a:custGeom>
            <a:avLst/>
            <a:gdLst/>
            <a:ahLst/>
            <a:cxnLst/>
            <a:rect r="r" b="b" t="t" l="l"/>
            <a:pathLst>
              <a:path h="404258" w="13353097">
                <a:moveTo>
                  <a:pt x="0" y="404258"/>
                </a:moveTo>
                <a:lnTo>
                  <a:pt x="13353096" y="404258"/>
                </a:lnTo>
                <a:lnTo>
                  <a:pt x="13353096" y="0"/>
                </a:lnTo>
                <a:lnTo>
                  <a:pt x="0" y="0"/>
                </a:lnTo>
                <a:lnTo>
                  <a:pt x="0" y="404258"/>
                </a:lnTo>
                <a:close/>
              </a:path>
            </a:pathLst>
          </a:custGeom>
          <a:blipFill>
            <a:blip r:embed="rId2"/>
            <a:stretch>
              <a:fillRect l="0" t="-1843398" r="0" b="0"/>
            </a:stretch>
          </a:blipFill>
        </p:spPr>
      </p:sp>
      <p:grpSp>
        <p:nvGrpSpPr>
          <p:cNvPr name="Group 6" id="6"/>
          <p:cNvGrpSpPr/>
          <p:nvPr/>
        </p:nvGrpSpPr>
        <p:grpSpPr>
          <a:xfrm rot="-862888">
            <a:off x="18088222" y="-3881126"/>
            <a:ext cx="5429187" cy="15382828"/>
            <a:chOff x="0" y="0"/>
            <a:chExt cx="1429909" cy="4051444"/>
          </a:xfrm>
        </p:grpSpPr>
        <p:sp>
          <p:nvSpPr>
            <p:cNvPr name="Freeform 7" id="7"/>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39515A"/>
            </a:solidFill>
          </p:spPr>
        </p:sp>
        <p:sp>
          <p:nvSpPr>
            <p:cNvPr name="TextBox 8" id="8"/>
            <p:cNvSpPr txBox="true"/>
            <p:nvPr/>
          </p:nvSpPr>
          <p:spPr>
            <a:xfrm>
              <a:off x="0" y="-57150"/>
              <a:ext cx="1429909" cy="4108594"/>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852149">
            <a:off x="14691038" y="-1970389"/>
            <a:ext cx="887655" cy="5727768"/>
            <a:chOff x="0" y="0"/>
            <a:chExt cx="233786" cy="1508548"/>
          </a:xfrm>
        </p:grpSpPr>
        <p:sp>
          <p:nvSpPr>
            <p:cNvPr name="Freeform 10" id="10"/>
            <p:cNvSpPr/>
            <p:nvPr/>
          </p:nvSpPr>
          <p:spPr>
            <a:xfrm flipH="false" flipV="false" rot="0">
              <a:off x="0" y="0"/>
              <a:ext cx="233786" cy="1508548"/>
            </a:xfrm>
            <a:custGeom>
              <a:avLst/>
              <a:gdLst/>
              <a:ahLst/>
              <a:cxnLst/>
              <a:rect r="r" b="b" t="t" l="l"/>
              <a:pathLst>
                <a:path h="1508548" w="233786">
                  <a:moveTo>
                    <a:pt x="0" y="0"/>
                  </a:moveTo>
                  <a:lnTo>
                    <a:pt x="233786" y="0"/>
                  </a:lnTo>
                  <a:lnTo>
                    <a:pt x="233786" y="1508548"/>
                  </a:lnTo>
                  <a:lnTo>
                    <a:pt x="0" y="1508548"/>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11" id="11"/>
            <p:cNvSpPr txBox="true"/>
            <p:nvPr/>
          </p:nvSpPr>
          <p:spPr>
            <a:xfrm>
              <a:off x="0" y="-57150"/>
              <a:ext cx="233786" cy="1565698"/>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028700" y="308270"/>
            <a:ext cx="7331954" cy="1076325"/>
          </a:xfrm>
          <a:prstGeom prst="rect">
            <a:avLst/>
          </a:prstGeom>
        </p:spPr>
        <p:txBody>
          <a:bodyPr anchor="t" rtlCol="false" tIns="0" lIns="0" bIns="0" rIns="0">
            <a:spAutoFit/>
          </a:bodyPr>
          <a:lstStyle/>
          <a:p>
            <a:pPr algn="l">
              <a:lnSpc>
                <a:spcPts val="7500"/>
              </a:lnSpc>
            </a:pPr>
            <a:r>
              <a:rPr lang="en-US" sz="7500" spc="-315" b="true">
                <a:solidFill>
                  <a:srgbClr val="39515A"/>
                </a:solidFill>
                <a:latin typeface="Poppins Semi-Bold"/>
                <a:ea typeface="Poppins Semi-Bold"/>
                <a:cs typeface="Poppins Semi-Bold"/>
                <a:sym typeface="Poppins Semi-Bold"/>
              </a:rPr>
              <a:t>Dis</a:t>
            </a:r>
            <a:r>
              <a:rPr lang="en-US" b="true" sz="7500" spc="-315">
                <a:solidFill>
                  <a:srgbClr val="39515A"/>
                </a:solidFill>
                <a:latin typeface="Poppins Semi-Bold"/>
                <a:ea typeface="Poppins Semi-Bold"/>
                <a:cs typeface="Poppins Semi-Bold"/>
                <a:sym typeface="Poppins Semi-Bold"/>
              </a:rPr>
              <a:t>cussion </a:t>
            </a:r>
          </a:p>
        </p:txBody>
      </p:sp>
      <p:sp>
        <p:nvSpPr>
          <p:cNvPr name="TextBox 13" id="13"/>
          <p:cNvSpPr txBox="true"/>
          <p:nvPr/>
        </p:nvSpPr>
        <p:spPr>
          <a:xfrm rot="0">
            <a:off x="932724" y="2951881"/>
            <a:ext cx="6661730" cy="2501590"/>
          </a:xfrm>
          <a:prstGeom prst="rect">
            <a:avLst/>
          </a:prstGeom>
        </p:spPr>
        <p:txBody>
          <a:bodyPr anchor="t" rtlCol="false" tIns="0" lIns="0" bIns="0" rIns="0">
            <a:spAutoFit/>
          </a:bodyPr>
          <a:lstStyle/>
          <a:p>
            <a:pPr algn="just">
              <a:lnSpc>
                <a:spcPts val="2870"/>
              </a:lnSpc>
              <a:spcBef>
                <a:spcPct val="0"/>
              </a:spcBef>
            </a:pPr>
            <a:r>
              <a:rPr lang="en-US" sz="2050">
                <a:solidFill>
                  <a:srgbClr val="000000"/>
                </a:solidFill>
                <a:latin typeface="Poppins"/>
                <a:ea typeface="Poppins"/>
                <a:cs typeface="Poppins"/>
                <a:sym typeface="Poppins"/>
              </a:rPr>
              <a:t>This i</a:t>
            </a:r>
            <a:r>
              <a:rPr lang="en-US" sz="2050">
                <a:solidFill>
                  <a:srgbClr val="000000"/>
                </a:solidFill>
                <a:latin typeface="Poppins"/>
                <a:ea typeface="Poppins"/>
                <a:cs typeface="Poppins"/>
                <a:sym typeface="Poppins"/>
              </a:rPr>
              <a:t>nternal audit highlighted that traditional, point-in-time checklist reviews are completely inadequate for a fast-evolving digital banking ecosystem. Gaps like delayed IAM offboarding (30–45 days) underscore that compliance must be engineered directly into operations via automation rather than manual human processes.</a:t>
            </a:r>
          </a:p>
        </p:txBody>
      </p:sp>
      <p:grpSp>
        <p:nvGrpSpPr>
          <p:cNvPr name="Group 14" id="14"/>
          <p:cNvGrpSpPr/>
          <p:nvPr/>
        </p:nvGrpSpPr>
        <p:grpSpPr>
          <a:xfrm rot="0">
            <a:off x="692111" y="1926552"/>
            <a:ext cx="6993026" cy="825303"/>
            <a:chOff x="0" y="0"/>
            <a:chExt cx="3443541" cy="406400"/>
          </a:xfrm>
        </p:grpSpPr>
        <p:sp>
          <p:nvSpPr>
            <p:cNvPr name="Freeform 15" id="15"/>
            <p:cNvSpPr/>
            <p:nvPr/>
          </p:nvSpPr>
          <p:spPr>
            <a:xfrm flipH="false" flipV="false" rot="0">
              <a:off x="0" y="0"/>
              <a:ext cx="3443541" cy="406400"/>
            </a:xfrm>
            <a:custGeom>
              <a:avLst/>
              <a:gdLst/>
              <a:ahLst/>
              <a:cxnLst/>
              <a:rect r="r" b="b" t="t" l="l"/>
              <a:pathLst>
                <a:path h="406400" w="3443541">
                  <a:moveTo>
                    <a:pt x="3240341" y="0"/>
                  </a:moveTo>
                  <a:cubicBezTo>
                    <a:pt x="3352565" y="0"/>
                    <a:pt x="3443541" y="90976"/>
                    <a:pt x="3443541" y="203200"/>
                  </a:cubicBezTo>
                  <a:cubicBezTo>
                    <a:pt x="3443541" y="315424"/>
                    <a:pt x="3352565" y="406400"/>
                    <a:pt x="3240341"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16" id="16"/>
            <p:cNvSpPr txBox="true"/>
            <p:nvPr/>
          </p:nvSpPr>
          <p:spPr>
            <a:xfrm>
              <a:off x="0" y="-57150"/>
              <a:ext cx="3443541" cy="463550"/>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692111" y="1917339"/>
            <a:ext cx="7142956" cy="834517"/>
          </a:xfrm>
          <a:prstGeom prst="rect">
            <a:avLst/>
          </a:prstGeom>
        </p:spPr>
        <p:txBody>
          <a:bodyPr anchor="t" rtlCol="false" tIns="0" lIns="0" bIns="0" rIns="0">
            <a:spAutoFit/>
          </a:bodyPr>
          <a:lstStyle/>
          <a:p>
            <a:pPr algn="ctr">
              <a:lnSpc>
                <a:spcPts val="3164"/>
              </a:lnSpc>
            </a:pPr>
            <a:r>
              <a:rPr lang="en-US" b="true" sz="2800" spc="-117">
                <a:solidFill>
                  <a:srgbClr val="FFFFFF"/>
                </a:solidFill>
                <a:latin typeface="Poppins Semi-Bold"/>
                <a:ea typeface="Poppins Semi-Bold"/>
                <a:cs typeface="Poppins Semi-Bold"/>
                <a:sym typeface="Poppins Semi-Bold"/>
              </a:rPr>
              <a:t>Transition from Static to Automated Governance</a:t>
            </a:r>
          </a:p>
        </p:txBody>
      </p:sp>
      <p:sp>
        <p:nvSpPr>
          <p:cNvPr name="TextBox 18" id="18"/>
          <p:cNvSpPr txBox="true"/>
          <p:nvPr/>
        </p:nvSpPr>
        <p:spPr>
          <a:xfrm rot="0">
            <a:off x="1028700" y="1327445"/>
            <a:ext cx="5893237" cy="34226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Poppins"/>
                <a:ea typeface="Poppins"/>
                <a:cs typeface="Poppins"/>
                <a:sym typeface="Poppins"/>
              </a:rPr>
              <a:t>Strategic Audit Insights &amp; Operational Reflections</a:t>
            </a:r>
          </a:p>
        </p:txBody>
      </p:sp>
      <p:grpSp>
        <p:nvGrpSpPr>
          <p:cNvPr name="Group 19" id="19"/>
          <p:cNvGrpSpPr/>
          <p:nvPr/>
        </p:nvGrpSpPr>
        <p:grpSpPr>
          <a:xfrm rot="0">
            <a:off x="664062" y="6280771"/>
            <a:ext cx="6993026" cy="825303"/>
            <a:chOff x="0" y="0"/>
            <a:chExt cx="3443541" cy="406400"/>
          </a:xfrm>
        </p:grpSpPr>
        <p:sp>
          <p:nvSpPr>
            <p:cNvPr name="Freeform 20" id="20"/>
            <p:cNvSpPr/>
            <p:nvPr/>
          </p:nvSpPr>
          <p:spPr>
            <a:xfrm flipH="false" flipV="false" rot="0">
              <a:off x="0" y="0"/>
              <a:ext cx="3443541" cy="406400"/>
            </a:xfrm>
            <a:custGeom>
              <a:avLst/>
              <a:gdLst/>
              <a:ahLst/>
              <a:cxnLst/>
              <a:rect r="r" b="b" t="t" l="l"/>
              <a:pathLst>
                <a:path h="406400" w="3443541">
                  <a:moveTo>
                    <a:pt x="3240341" y="0"/>
                  </a:moveTo>
                  <a:cubicBezTo>
                    <a:pt x="3352565" y="0"/>
                    <a:pt x="3443541" y="90976"/>
                    <a:pt x="3443541" y="203200"/>
                  </a:cubicBezTo>
                  <a:cubicBezTo>
                    <a:pt x="3443541" y="315424"/>
                    <a:pt x="3352565" y="406400"/>
                    <a:pt x="3240341"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21" id="21"/>
            <p:cNvSpPr txBox="true"/>
            <p:nvPr/>
          </p:nvSpPr>
          <p:spPr>
            <a:xfrm>
              <a:off x="0" y="-57150"/>
              <a:ext cx="3443541" cy="463550"/>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664062" y="6271557"/>
            <a:ext cx="7142956" cy="834517"/>
          </a:xfrm>
          <a:prstGeom prst="rect">
            <a:avLst/>
          </a:prstGeom>
        </p:spPr>
        <p:txBody>
          <a:bodyPr anchor="t" rtlCol="false" tIns="0" lIns="0" bIns="0" rIns="0">
            <a:spAutoFit/>
          </a:bodyPr>
          <a:lstStyle/>
          <a:p>
            <a:pPr algn="ctr">
              <a:lnSpc>
                <a:spcPts val="3164"/>
              </a:lnSpc>
            </a:pPr>
            <a:r>
              <a:rPr lang="en-US" b="true" sz="2800" spc="-117">
                <a:solidFill>
                  <a:srgbClr val="FFFFFF"/>
                </a:solidFill>
                <a:latin typeface="Poppins Semi-Bold"/>
                <a:ea typeface="Poppins Semi-Bold"/>
                <a:cs typeface="Poppins Semi-Bold"/>
                <a:sym typeface="Poppins Semi-Bold"/>
              </a:rPr>
              <a:t>Cloud Infrastructure vs.</a:t>
            </a:r>
          </a:p>
          <a:p>
            <a:pPr algn="ctr">
              <a:lnSpc>
                <a:spcPts val="3164"/>
              </a:lnSpc>
            </a:pPr>
            <a:r>
              <a:rPr lang="en-US" b="true" sz="2800" spc="-117">
                <a:solidFill>
                  <a:srgbClr val="FFFFFF"/>
                </a:solidFill>
                <a:latin typeface="Poppins Semi-Bold"/>
                <a:ea typeface="Poppins Semi-Bold"/>
                <a:cs typeface="Poppins Semi-Bold"/>
                <a:sym typeface="Poppins Semi-Bold"/>
              </a:rPr>
              <a:t>Compliance Visibility</a:t>
            </a:r>
          </a:p>
        </p:txBody>
      </p:sp>
      <p:sp>
        <p:nvSpPr>
          <p:cNvPr name="TextBox 23" id="23"/>
          <p:cNvSpPr txBox="true"/>
          <p:nvPr/>
        </p:nvSpPr>
        <p:spPr>
          <a:xfrm rot="0">
            <a:off x="959619" y="7287049"/>
            <a:ext cx="6697469" cy="2490759"/>
          </a:xfrm>
          <a:prstGeom prst="rect">
            <a:avLst/>
          </a:prstGeom>
        </p:spPr>
        <p:txBody>
          <a:bodyPr anchor="t" rtlCol="false" tIns="0" lIns="0" bIns="0" rIns="0">
            <a:spAutoFit/>
          </a:bodyPr>
          <a:lstStyle/>
          <a:p>
            <a:pPr algn="just">
              <a:lnSpc>
                <a:spcPts val="2857"/>
              </a:lnSpc>
              <a:spcBef>
                <a:spcPct val="0"/>
              </a:spcBef>
            </a:pPr>
            <a:r>
              <a:rPr lang="en-US" sz="2041">
                <a:solidFill>
                  <a:srgbClr val="000000"/>
                </a:solidFill>
                <a:latin typeface="Poppins"/>
                <a:ea typeface="Poppins"/>
                <a:cs typeface="Poppins"/>
                <a:sym typeface="Poppins"/>
              </a:rPr>
              <a:t>Our review of </a:t>
            </a:r>
            <a:r>
              <a:rPr lang="en-US" sz="2041">
                <a:solidFill>
                  <a:srgbClr val="000000"/>
                </a:solidFill>
                <a:latin typeface="Poppins"/>
                <a:ea typeface="Poppins"/>
                <a:cs typeface="Poppins"/>
                <a:sym typeface="Poppins"/>
              </a:rPr>
              <a:t>the AWS environment proved that strong technical infrastructure is easily undermined by loose configuration controls. Leaving root accounts without active Multi-Factor Authentication (MFA) and ignoring mandatory data classification metadata tags on S3 storage buckets exposes the bank to catastrophic exposure vectors.</a:t>
            </a:r>
          </a:p>
        </p:txBody>
      </p:sp>
      <p:sp>
        <p:nvSpPr>
          <p:cNvPr name="TextBox 24" id="24"/>
          <p:cNvSpPr txBox="true"/>
          <p:nvPr/>
        </p:nvSpPr>
        <p:spPr>
          <a:xfrm rot="0">
            <a:off x="8259077" y="2282210"/>
            <a:ext cx="6987102" cy="2558270"/>
          </a:xfrm>
          <a:prstGeom prst="rect">
            <a:avLst/>
          </a:prstGeom>
        </p:spPr>
        <p:txBody>
          <a:bodyPr anchor="t" rtlCol="false" tIns="0" lIns="0" bIns="0" rIns="0">
            <a:spAutoFit/>
          </a:bodyPr>
          <a:lstStyle/>
          <a:p>
            <a:pPr algn="just">
              <a:lnSpc>
                <a:spcPts val="2937"/>
              </a:lnSpc>
              <a:spcBef>
                <a:spcPct val="0"/>
              </a:spcBef>
            </a:pPr>
            <a:r>
              <a:rPr lang="en-US" sz="2098">
                <a:solidFill>
                  <a:srgbClr val="000000"/>
                </a:solidFill>
                <a:latin typeface="Poppins"/>
                <a:ea typeface="Poppins"/>
                <a:cs typeface="Poppins"/>
                <a:sym typeface="Poppins"/>
              </a:rPr>
              <a:t>Operating i</a:t>
            </a:r>
            <a:r>
              <a:rPr lang="en-US" sz="2098">
                <a:solidFill>
                  <a:srgbClr val="000000"/>
                </a:solidFill>
                <a:latin typeface="Poppins"/>
                <a:ea typeface="Poppins"/>
                <a:cs typeface="Poppins"/>
                <a:sym typeface="Poppins"/>
              </a:rPr>
              <a:t>n Malaysia means satisfying international ISO 27001 standards is only half the battle. For financial institutions, alignment with BNM RMiT directives means third-party vendor blind spots like missing contractually protected Right-to-Audit clauses on transaction APIs pose immediate operational and legal existential threats.</a:t>
            </a:r>
          </a:p>
        </p:txBody>
      </p:sp>
      <p:grpSp>
        <p:nvGrpSpPr>
          <p:cNvPr name="Group 25" id="25"/>
          <p:cNvGrpSpPr/>
          <p:nvPr/>
        </p:nvGrpSpPr>
        <p:grpSpPr>
          <a:xfrm rot="0">
            <a:off x="8253153" y="1244813"/>
            <a:ext cx="6993026" cy="825303"/>
            <a:chOff x="0" y="0"/>
            <a:chExt cx="3443541" cy="406400"/>
          </a:xfrm>
        </p:grpSpPr>
        <p:sp>
          <p:nvSpPr>
            <p:cNvPr name="Freeform 26" id="26"/>
            <p:cNvSpPr/>
            <p:nvPr/>
          </p:nvSpPr>
          <p:spPr>
            <a:xfrm flipH="false" flipV="false" rot="0">
              <a:off x="0" y="0"/>
              <a:ext cx="3443541" cy="406400"/>
            </a:xfrm>
            <a:custGeom>
              <a:avLst/>
              <a:gdLst/>
              <a:ahLst/>
              <a:cxnLst/>
              <a:rect r="r" b="b" t="t" l="l"/>
              <a:pathLst>
                <a:path h="406400" w="3443541">
                  <a:moveTo>
                    <a:pt x="3240341" y="0"/>
                  </a:moveTo>
                  <a:cubicBezTo>
                    <a:pt x="3352565" y="0"/>
                    <a:pt x="3443541" y="90976"/>
                    <a:pt x="3443541" y="203200"/>
                  </a:cubicBezTo>
                  <a:cubicBezTo>
                    <a:pt x="3443541" y="315424"/>
                    <a:pt x="3352565" y="406400"/>
                    <a:pt x="3240341"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27" id="27"/>
            <p:cNvSpPr txBox="true"/>
            <p:nvPr/>
          </p:nvSpPr>
          <p:spPr>
            <a:xfrm>
              <a:off x="0" y="-57150"/>
              <a:ext cx="3443541" cy="463550"/>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8253153" y="1235599"/>
            <a:ext cx="6413680" cy="834517"/>
          </a:xfrm>
          <a:prstGeom prst="rect">
            <a:avLst/>
          </a:prstGeom>
        </p:spPr>
        <p:txBody>
          <a:bodyPr anchor="t" rtlCol="false" tIns="0" lIns="0" bIns="0" rIns="0">
            <a:spAutoFit/>
          </a:bodyPr>
          <a:lstStyle/>
          <a:p>
            <a:pPr algn="ctr">
              <a:lnSpc>
                <a:spcPts val="3164"/>
              </a:lnSpc>
            </a:pPr>
            <a:r>
              <a:rPr lang="en-US" b="true" sz="2800" spc="-117">
                <a:solidFill>
                  <a:srgbClr val="FFFFFF"/>
                </a:solidFill>
                <a:latin typeface="Poppins Semi-Bold"/>
                <a:ea typeface="Poppins Semi-Bold"/>
                <a:cs typeface="Poppins Semi-Bold"/>
                <a:sym typeface="Poppins Semi-Bold"/>
              </a:rPr>
              <a:t>The Weight of Local Regulatory Scrutiny</a:t>
            </a:r>
          </a:p>
        </p:txBody>
      </p:sp>
      <p:grpSp>
        <p:nvGrpSpPr>
          <p:cNvPr name="Group 29" id="29"/>
          <p:cNvGrpSpPr/>
          <p:nvPr/>
        </p:nvGrpSpPr>
        <p:grpSpPr>
          <a:xfrm rot="0">
            <a:off x="8225103" y="5599031"/>
            <a:ext cx="6993026" cy="825303"/>
            <a:chOff x="0" y="0"/>
            <a:chExt cx="3443541" cy="406400"/>
          </a:xfrm>
        </p:grpSpPr>
        <p:sp>
          <p:nvSpPr>
            <p:cNvPr name="Freeform 30" id="30"/>
            <p:cNvSpPr/>
            <p:nvPr/>
          </p:nvSpPr>
          <p:spPr>
            <a:xfrm flipH="false" flipV="false" rot="0">
              <a:off x="0" y="0"/>
              <a:ext cx="3443541" cy="406400"/>
            </a:xfrm>
            <a:custGeom>
              <a:avLst/>
              <a:gdLst/>
              <a:ahLst/>
              <a:cxnLst/>
              <a:rect r="r" b="b" t="t" l="l"/>
              <a:pathLst>
                <a:path h="406400" w="3443541">
                  <a:moveTo>
                    <a:pt x="3240341" y="0"/>
                  </a:moveTo>
                  <a:cubicBezTo>
                    <a:pt x="3352565" y="0"/>
                    <a:pt x="3443541" y="90976"/>
                    <a:pt x="3443541" y="203200"/>
                  </a:cubicBezTo>
                  <a:cubicBezTo>
                    <a:pt x="3443541" y="315424"/>
                    <a:pt x="3352565" y="406400"/>
                    <a:pt x="3240341"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31" id="31"/>
            <p:cNvSpPr txBox="true"/>
            <p:nvPr/>
          </p:nvSpPr>
          <p:spPr>
            <a:xfrm>
              <a:off x="0" y="-57150"/>
              <a:ext cx="3443541" cy="463550"/>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8449496" y="5589506"/>
            <a:ext cx="6020992" cy="834517"/>
          </a:xfrm>
          <a:prstGeom prst="rect">
            <a:avLst/>
          </a:prstGeom>
        </p:spPr>
        <p:txBody>
          <a:bodyPr anchor="t" rtlCol="false" tIns="0" lIns="0" bIns="0" rIns="0">
            <a:spAutoFit/>
          </a:bodyPr>
          <a:lstStyle/>
          <a:p>
            <a:pPr algn="ctr">
              <a:lnSpc>
                <a:spcPts val="3164"/>
              </a:lnSpc>
            </a:pPr>
            <a:r>
              <a:rPr lang="en-US" b="true" sz="2800" spc="-117">
                <a:solidFill>
                  <a:srgbClr val="FFFFFF"/>
                </a:solidFill>
                <a:latin typeface="Poppins Semi-Bold"/>
                <a:ea typeface="Poppins Semi-Bold"/>
                <a:cs typeface="Poppins Semi-Bold"/>
                <a:sym typeface="Poppins Semi-Bold"/>
              </a:rPr>
              <a:t>Value of Pre-Certification Assessments</a:t>
            </a:r>
          </a:p>
        </p:txBody>
      </p:sp>
      <p:sp>
        <p:nvSpPr>
          <p:cNvPr name="TextBox 33" id="33"/>
          <p:cNvSpPr txBox="true"/>
          <p:nvPr/>
        </p:nvSpPr>
        <p:spPr>
          <a:xfrm rot="0">
            <a:off x="8253153" y="6652935"/>
            <a:ext cx="6881713" cy="2289390"/>
          </a:xfrm>
          <a:prstGeom prst="rect">
            <a:avLst/>
          </a:prstGeom>
        </p:spPr>
        <p:txBody>
          <a:bodyPr anchor="t" rtlCol="false" tIns="0" lIns="0" bIns="0" rIns="0">
            <a:spAutoFit/>
          </a:bodyPr>
          <a:lstStyle/>
          <a:p>
            <a:pPr algn="just">
              <a:lnSpc>
                <a:spcPts val="3069"/>
              </a:lnSpc>
              <a:spcBef>
                <a:spcPct val="0"/>
              </a:spcBef>
            </a:pPr>
            <a:r>
              <a:rPr lang="en-US" sz="2192">
                <a:solidFill>
                  <a:srgbClr val="000000"/>
                </a:solidFill>
                <a:latin typeface="Poppins"/>
                <a:ea typeface="Poppins"/>
                <a:cs typeface="Poppins"/>
                <a:sym typeface="Poppins"/>
              </a:rPr>
              <a:t>Discovering two major non-conformi</a:t>
            </a:r>
            <a:r>
              <a:rPr lang="en-US" sz="2192">
                <a:solidFill>
                  <a:srgbClr val="000000"/>
                </a:solidFill>
                <a:latin typeface="Poppins"/>
                <a:ea typeface="Poppins"/>
                <a:cs typeface="Poppins"/>
                <a:sym typeface="Poppins"/>
              </a:rPr>
              <a:t>ties early prevents a definitive failure during the formal external certification audit. It allows the audit team to establish an assertive engineering roadmap to transition FinSecure Bank into a continuously secure state</a:t>
            </a:r>
          </a:p>
        </p:txBody>
      </p:sp>
      <p:sp>
        <p:nvSpPr>
          <p:cNvPr name="Freeform 34" id="34"/>
          <p:cNvSpPr/>
          <p:nvPr/>
        </p:nvSpPr>
        <p:spPr>
          <a:xfrm flipH="false" flipV="false" rot="0">
            <a:off x="13676923" y="99929"/>
            <a:ext cx="793566" cy="793566"/>
          </a:xfrm>
          <a:custGeom>
            <a:avLst/>
            <a:gdLst/>
            <a:ahLst/>
            <a:cxnLst/>
            <a:rect r="r" b="b" t="t" l="l"/>
            <a:pathLst>
              <a:path h="793566" w="793566">
                <a:moveTo>
                  <a:pt x="0" y="0"/>
                </a:moveTo>
                <a:lnTo>
                  <a:pt x="793566" y="0"/>
                </a:lnTo>
                <a:lnTo>
                  <a:pt x="793566" y="793566"/>
                </a:lnTo>
                <a:lnTo>
                  <a:pt x="0" y="7935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5" id="35"/>
          <p:cNvSpPr txBox="true"/>
          <p:nvPr/>
        </p:nvSpPr>
        <p:spPr>
          <a:xfrm rot="0">
            <a:off x="9897476" y="301449"/>
            <a:ext cx="3705639" cy="381000"/>
          </a:xfrm>
          <a:prstGeom prst="rect">
            <a:avLst/>
          </a:prstGeom>
        </p:spPr>
        <p:txBody>
          <a:bodyPr anchor="t" rtlCol="false" tIns="0" lIns="0" bIns="0" rIns="0">
            <a:spAutoFit/>
          </a:bodyPr>
          <a:lstStyle/>
          <a:p>
            <a:pPr algn="r">
              <a:lnSpc>
                <a:spcPts val="2849"/>
              </a:lnSpc>
            </a:pPr>
            <a:r>
              <a:rPr lang="en-US" b="true" sz="2499">
                <a:solidFill>
                  <a:srgbClr val="000000"/>
                </a:solidFill>
                <a:latin typeface="Poppins Bold"/>
                <a:ea typeface="Poppins Bold"/>
                <a:cs typeface="Poppins Bold"/>
                <a:sym typeface="Poppins Bold"/>
              </a:rPr>
              <a:t>FinSecure Bank</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2086823" y="6558926"/>
            <a:ext cx="24520492" cy="4402586"/>
          </a:xfrm>
          <a:custGeom>
            <a:avLst/>
            <a:gdLst/>
            <a:ahLst/>
            <a:cxnLst/>
            <a:rect r="r" b="b" t="t" l="l"/>
            <a:pathLst>
              <a:path h="4402586" w="24520492">
                <a:moveTo>
                  <a:pt x="24520491" y="0"/>
                </a:moveTo>
                <a:lnTo>
                  <a:pt x="0" y="0"/>
                </a:lnTo>
                <a:lnTo>
                  <a:pt x="0" y="4402586"/>
                </a:lnTo>
                <a:lnTo>
                  <a:pt x="24520491" y="4402586"/>
                </a:lnTo>
                <a:lnTo>
                  <a:pt x="24520491"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862888">
            <a:off x="16254490" y="-3881126"/>
            <a:ext cx="5429187" cy="15382828"/>
            <a:chOff x="0" y="0"/>
            <a:chExt cx="1429909" cy="4051444"/>
          </a:xfrm>
        </p:grpSpPr>
        <p:sp>
          <p:nvSpPr>
            <p:cNvPr name="Freeform 4" id="4"/>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20989B"/>
            </a:solidFill>
          </p:spPr>
        </p:sp>
        <p:sp>
          <p:nvSpPr>
            <p:cNvPr name="TextBox 5" id="5"/>
            <p:cNvSpPr txBox="true"/>
            <p:nvPr/>
          </p:nvSpPr>
          <p:spPr>
            <a:xfrm>
              <a:off x="0" y="-57150"/>
              <a:ext cx="1429909" cy="410859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true" rot="-6270710">
            <a:off x="11872773" y="4514251"/>
            <a:ext cx="13353097" cy="404258"/>
          </a:xfrm>
          <a:custGeom>
            <a:avLst/>
            <a:gdLst/>
            <a:ahLst/>
            <a:cxnLst/>
            <a:rect r="r" b="b" t="t" l="l"/>
            <a:pathLst>
              <a:path h="404258" w="13353097">
                <a:moveTo>
                  <a:pt x="0" y="404258"/>
                </a:moveTo>
                <a:lnTo>
                  <a:pt x="13353096" y="404258"/>
                </a:lnTo>
                <a:lnTo>
                  <a:pt x="13353096" y="0"/>
                </a:lnTo>
                <a:lnTo>
                  <a:pt x="0" y="0"/>
                </a:lnTo>
                <a:lnTo>
                  <a:pt x="0" y="404258"/>
                </a:lnTo>
                <a:close/>
              </a:path>
            </a:pathLst>
          </a:custGeom>
          <a:blipFill>
            <a:blip r:embed="rId4"/>
            <a:stretch>
              <a:fillRect l="0" t="-1843398" r="0" b="0"/>
            </a:stretch>
          </a:blipFill>
        </p:spPr>
      </p:sp>
      <p:grpSp>
        <p:nvGrpSpPr>
          <p:cNvPr name="Group 7" id="7"/>
          <p:cNvGrpSpPr/>
          <p:nvPr/>
        </p:nvGrpSpPr>
        <p:grpSpPr>
          <a:xfrm rot="-862888">
            <a:off x="18515459" y="-3881126"/>
            <a:ext cx="5429187" cy="15382828"/>
            <a:chOff x="0" y="0"/>
            <a:chExt cx="1429909" cy="4051444"/>
          </a:xfrm>
        </p:grpSpPr>
        <p:sp>
          <p:nvSpPr>
            <p:cNvPr name="Freeform 8" id="8"/>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39515A"/>
            </a:solidFill>
          </p:spPr>
        </p:sp>
        <p:sp>
          <p:nvSpPr>
            <p:cNvPr name="TextBox 9" id="9"/>
            <p:cNvSpPr txBox="true"/>
            <p:nvPr/>
          </p:nvSpPr>
          <p:spPr>
            <a:xfrm>
              <a:off x="0" y="-57150"/>
              <a:ext cx="1429909" cy="4108594"/>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852149">
            <a:off x="15118274" y="-1970389"/>
            <a:ext cx="887655" cy="5727768"/>
            <a:chOff x="0" y="0"/>
            <a:chExt cx="233786" cy="1508548"/>
          </a:xfrm>
        </p:grpSpPr>
        <p:sp>
          <p:nvSpPr>
            <p:cNvPr name="Freeform 11" id="11"/>
            <p:cNvSpPr/>
            <p:nvPr/>
          </p:nvSpPr>
          <p:spPr>
            <a:xfrm flipH="false" flipV="false" rot="0">
              <a:off x="0" y="0"/>
              <a:ext cx="233786" cy="1508548"/>
            </a:xfrm>
            <a:custGeom>
              <a:avLst/>
              <a:gdLst/>
              <a:ahLst/>
              <a:cxnLst/>
              <a:rect r="r" b="b" t="t" l="l"/>
              <a:pathLst>
                <a:path h="1508548" w="233786">
                  <a:moveTo>
                    <a:pt x="0" y="0"/>
                  </a:moveTo>
                  <a:lnTo>
                    <a:pt x="233786" y="0"/>
                  </a:lnTo>
                  <a:lnTo>
                    <a:pt x="233786" y="1508548"/>
                  </a:lnTo>
                  <a:lnTo>
                    <a:pt x="0" y="1508548"/>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12" id="12"/>
            <p:cNvSpPr txBox="true"/>
            <p:nvPr/>
          </p:nvSpPr>
          <p:spPr>
            <a:xfrm>
              <a:off x="0" y="-57150"/>
              <a:ext cx="233786" cy="1565698"/>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1168322">
            <a:off x="-5434054" y="-1840415"/>
            <a:ext cx="7434779" cy="15382828"/>
            <a:chOff x="0" y="0"/>
            <a:chExt cx="1958131" cy="4051444"/>
          </a:xfrm>
        </p:grpSpPr>
        <p:sp>
          <p:nvSpPr>
            <p:cNvPr name="Freeform 14" id="14"/>
            <p:cNvSpPr/>
            <p:nvPr/>
          </p:nvSpPr>
          <p:spPr>
            <a:xfrm flipH="false" flipV="false" rot="0">
              <a:off x="0" y="0"/>
              <a:ext cx="1958131" cy="4051444"/>
            </a:xfrm>
            <a:custGeom>
              <a:avLst/>
              <a:gdLst/>
              <a:ahLst/>
              <a:cxnLst/>
              <a:rect r="r" b="b" t="t" l="l"/>
              <a:pathLst>
                <a:path h="4051444" w="1958131">
                  <a:moveTo>
                    <a:pt x="0" y="0"/>
                  </a:moveTo>
                  <a:lnTo>
                    <a:pt x="1958131" y="0"/>
                  </a:lnTo>
                  <a:lnTo>
                    <a:pt x="1958131" y="4051444"/>
                  </a:lnTo>
                  <a:lnTo>
                    <a:pt x="0" y="4051444"/>
                  </a:lnTo>
                  <a:close/>
                </a:path>
              </a:pathLst>
            </a:custGeom>
            <a:solidFill>
              <a:srgbClr val="20989B"/>
            </a:solidFill>
          </p:spPr>
        </p:sp>
        <p:sp>
          <p:nvSpPr>
            <p:cNvPr name="TextBox 15" id="15"/>
            <p:cNvSpPr txBox="true"/>
            <p:nvPr/>
          </p:nvSpPr>
          <p:spPr>
            <a:xfrm>
              <a:off x="0" y="-57150"/>
              <a:ext cx="1958131" cy="4108594"/>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6579275">
            <a:off x="-7236467" y="4649456"/>
            <a:ext cx="13353097" cy="404258"/>
          </a:xfrm>
          <a:custGeom>
            <a:avLst/>
            <a:gdLst/>
            <a:ahLst/>
            <a:cxnLst/>
            <a:rect r="r" b="b" t="t" l="l"/>
            <a:pathLst>
              <a:path h="404258" w="13353097">
                <a:moveTo>
                  <a:pt x="0" y="0"/>
                </a:moveTo>
                <a:lnTo>
                  <a:pt x="13353096" y="0"/>
                </a:lnTo>
                <a:lnTo>
                  <a:pt x="13353096" y="404258"/>
                </a:lnTo>
                <a:lnTo>
                  <a:pt x="0" y="404258"/>
                </a:lnTo>
                <a:lnTo>
                  <a:pt x="0" y="0"/>
                </a:lnTo>
                <a:close/>
              </a:path>
            </a:pathLst>
          </a:custGeom>
          <a:blipFill>
            <a:blip r:embed="rId4"/>
            <a:stretch>
              <a:fillRect l="0" t="-1843398" r="0" b="0"/>
            </a:stretch>
          </a:blipFill>
        </p:spPr>
      </p:sp>
      <p:grpSp>
        <p:nvGrpSpPr>
          <p:cNvPr name="Group 17" id="17"/>
          <p:cNvGrpSpPr/>
          <p:nvPr/>
        </p:nvGrpSpPr>
        <p:grpSpPr>
          <a:xfrm rot="-1168322">
            <a:off x="-7993264" y="-1840415"/>
            <a:ext cx="7434779" cy="15382828"/>
            <a:chOff x="0" y="0"/>
            <a:chExt cx="1958131" cy="4051444"/>
          </a:xfrm>
        </p:grpSpPr>
        <p:sp>
          <p:nvSpPr>
            <p:cNvPr name="Freeform 18" id="18"/>
            <p:cNvSpPr/>
            <p:nvPr/>
          </p:nvSpPr>
          <p:spPr>
            <a:xfrm flipH="false" flipV="false" rot="0">
              <a:off x="0" y="0"/>
              <a:ext cx="1958131" cy="4051444"/>
            </a:xfrm>
            <a:custGeom>
              <a:avLst/>
              <a:gdLst/>
              <a:ahLst/>
              <a:cxnLst/>
              <a:rect r="r" b="b" t="t" l="l"/>
              <a:pathLst>
                <a:path h="4051444" w="1958131">
                  <a:moveTo>
                    <a:pt x="0" y="0"/>
                  </a:moveTo>
                  <a:lnTo>
                    <a:pt x="1958131" y="0"/>
                  </a:lnTo>
                  <a:lnTo>
                    <a:pt x="1958131" y="4051444"/>
                  </a:lnTo>
                  <a:lnTo>
                    <a:pt x="0" y="4051444"/>
                  </a:lnTo>
                  <a:close/>
                </a:path>
              </a:pathLst>
            </a:custGeom>
            <a:solidFill>
              <a:srgbClr val="39515A"/>
            </a:solidFill>
          </p:spPr>
        </p:sp>
        <p:sp>
          <p:nvSpPr>
            <p:cNvPr name="TextBox 19" id="19"/>
            <p:cNvSpPr txBox="true"/>
            <p:nvPr/>
          </p:nvSpPr>
          <p:spPr>
            <a:xfrm>
              <a:off x="0" y="-57150"/>
              <a:ext cx="1958131" cy="4108594"/>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1168322">
            <a:off x="225069" y="-2545098"/>
            <a:ext cx="887655" cy="8696949"/>
            <a:chOff x="0" y="0"/>
            <a:chExt cx="233786" cy="2290554"/>
          </a:xfrm>
        </p:grpSpPr>
        <p:sp>
          <p:nvSpPr>
            <p:cNvPr name="Freeform 21" id="21"/>
            <p:cNvSpPr/>
            <p:nvPr/>
          </p:nvSpPr>
          <p:spPr>
            <a:xfrm flipH="false" flipV="false" rot="0">
              <a:off x="0" y="0"/>
              <a:ext cx="233786" cy="2290554"/>
            </a:xfrm>
            <a:custGeom>
              <a:avLst/>
              <a:gdLst/>
              <a:ahLst/>
              <a:cxnLst/>
              <a:rect r="r" b="b" t="t" l="l"/>
              <a:pathLst>
                <a:path h="2290554" w="233786">
                  <a:moveTo>
                    <a:pt x="0" y="0"/>
                  </a:moveTo>
                  <a:lnTo>
                    <a:pt x="233786" y="0"/>
                  </a:lnTo>
                  <a:lnTo>
                    <a:pt x="233786" y="2290554"/>
                  </a:lnTo>
                  <a:lnTo>
                    <a:pt x="0" y="2290554"/>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22" id="22"/>
            <p:cNvSpPr txBox="true"/>
            <p:nvPr/>
          </p:nvSpPr>
          <p:spPr>
            <a:xfrm>
              <a:off x="0" y="-57150"/>
              <a:ext cx="233786" cy="2347704"/>
            </a:xfrm>
            <a:prstGeom prst="rect">
              <a:avLst/>
            </a:prstGeom>
          </p:spPr>
          <p:txBody>
            <a:bodyPr anchor="ctr" rtlCol="false" tIns="50800" lIns="50800" bIns="50800" rIns="50800"/>
            <a:lstStyle/>
            <a:p>
              <a:pPr algn="ctr">
                <a:lnSpc>
                  <a:spcPts val="2659"/>
                </a:lnSpc>
                <a:spcBef>
                  <a:spcPct val="0"/>
                </a:spcBef>
              </a:pPr>
            </a:p>
          </p:txBody>
        </p:sp>
      </p:grpSp>
      <p:sp>
        <p:nvSpPr>
          <p:cNvPr name="Freeform 23" id="23"/>
          <p:cNvSpPr/>
          <p:nvPr/>
        </p:nvSpPr>
        <p:spPr>
          <a:xfrm flipH="false" flipV="false" rot="0">
            <a:off x="3195529" y="5600528"/>
            <a:ext cx="547957" cy="554000"/>
          </a:xfrm>
          <a:custGeom>
            <a:avLst/>
            <a:gdLst/>
            <a:ahLst/>
            <a:cxnLst/>
            <a:rect r="r" b="b" t="t" l="l"/>
            <a:pathLst>
              <a:path h="554000" w="547957">
                <a:moveTo>
                  <a:pt x="0" y="0"/>
                </a:moveTo>
                <a:lnTo>
                  <a:pt x="547957" y="0"/>
                </a:lnTo>
                <a:lnTo>
                  <a:pt x="547957" y="554001"/>
                </a:lnTo>
                <a:lnTo>
                  <a:pt x="0" y="5540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4" id="24"/>
          <p:cNvSpPr/>
          <p:nvPr/>
        </p:nvSpPr>
        <p:spPr>
          <a:xfrm flipH="false" flipV="false" rot="0">
            <a:off x="3195529" y="7022442"/>
            <a:ext cx="587182" cy="415298"/>
          </a:xfrm>
          <a:custGeom>
            <a:avLst/>
            <a:gdLst/>
            <a:ahLst/>
            <a:cxnLst/>
            <a:rect r="r" b="b" t="t" l="l"/>
            <a:pathLst>
              <a:path h="415298" w="587182">
                <a:moveTo>
                  <a:pt x="0" y="0"/>
                </a:moveTo>
                <a:lnTo>
                  <a:pt x="587182" y="0"/>
                </a:lnTo>
                <a:lnTo>
                  <a:pt x="587182" y="415299"/>
                </a:lnTo>
                <a:lnTo>
                  <a:pt x="0" y="41529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5" id="25"/>
          <p:cNvSpPr txBox="true"/>
          <p:nvPr/>
        </p:nvSpPr>
        <p:spPr>
          <a:xfrm rot="0">
            <a:off x="1028700" y="442912"/>
            <a:ext cx="10191800" cy="1152525"/>
          </a:xfrm>
          <a:prstGeom prst="rect">
            <a:avLst/>
          </a:prstGeom>
        </p:spPr>
        <p:txBody>
          <a:bodyPr anchor="t" rtlCol="false" tIns="0" lIns="0" bIns="0" rIns="0">
            <a:spAutoFit/>
          </a:bodyPr>
          <a:lstStyle/>
          <a:p>
            <a:pPr algn="ctr">
              <a:lnSpc>
                <a:spcPts val="8474"/>
              </a:lnSpc>
            </a:pPr>
            <a:r>
              <a:rPr lang="en-US" b="true" sz="7500" spc="-315">
                <a:solidFill>
                  <a:srgbClr val="39515A"/>
                </a:solidFill>
                <a:latin typeface="Poppins Semi-Bold"/>
                <a:ea typeface="Poppins Semi-Bold"/>
                <a:cs typeface="Poppins Semi-Bold"/>
                <a:sym typeface="Poppins Semi-Bold"/>
              </a:rPr>
              <a:t>C</a:t>
            </a:r>
            <a:r>
              <a:rPr lang="en-US" b="true" sz="7500" spc="-315">
                <a:solidFill>
                  <a:srgbClr val="39515A"/>
                </a:solidFill>
                <a:latin typeface="Poppins Semi-Bold"/>
                <a:ea typeface="Poppins Semi-Bold"/>
                <a:cs typeface="Poppins Semi-Bold"/>
                <a:sym typeface="Poppins Semi-Bold"/>
              </a:rPr>
              <a:t>onclusion</a:t>
            </a:r>
          </a:p>
        </p:txBody>
      </p:sp>
      <p:sp>
        <p:nvSpPr>
          <p:cNvPr name="TextBox 26" id="26"/>
          <p:cNvSpPr txBox="true"/>
          <p:nvPr/>
        </p:nvSpPr>
        <p:spPr>
          <a:xfrm rot="0">
            <a:off x="3446443" y="1541539"/>
            <a:ext cx="12477206" cy="7728956"/>
          </a:xfrm>
          <a:prstGeom prst="rect">
            <a:avLst/>
          </a:prstGeom>
        </p:spPr>
        <p:txBody>
          <a:bodyPr anchor="t" rtlCol="false" tIns="0" lIns="0" bIns="0" rIns="0">
            <a:spAutoFit/>
          </a:bodyPr>
          <a:lstStyle/>
          <a:p>
            <a:pPr algn="l">
              <a:lnSpc>
                <a:spcPts val="3444"/>
              </a:lnSpc>
            </a:pPr>
            <a:r>
              <a:rPr lang="en-US" sz="2460" b="true">
                <a:solidFill>
                  <a:srgbClr val="000000"/>
                </a:solidFill>
                <a:latin typeface="Poppins Bold"/>
                <a:ea typeface="Poppins Bold"/>
                <a:cs typeface="Poppins Bold"/>
                <a:sym typeface="Poppins Bold"/>
              </a:rPr>
              <a:t>Audit Metric Breakdown:  </a:t>
            </a:r>
            <a:r>
              <a:rPr lang="en-US" sz="2460">
                <a:solidFill>
                  <a:srgbClr val="000000"/>
                </a:solidFill>
                <a:latin typeface="Poppins"/>
                <a:ea typeface="Poppins"/>
                <a:cs typeface="Poppins"/>
                <a:sym typeface="Poppins"/>
              </a:rPr>
              <a:t>2 Major Non-Conformities</a:t>
            </a:r>
          </a:p>
          <a:p>
            <a:pPr algn="l">
              <a:lnSpc>
                <a:spcPts val="3444"/>
              </a:lnSpc>
              <a:spcBef>
                <a:spcPct val="0"/>
              </a:spcBef>
            </a:pPr>
            <a:r>
              <a:rPr lang="en-US" sz="2460">
                <a:solidFill>
                  <a:srgbClr val="000000"/>
                </a:solidFill>
                <a:latin typeface="Poppins"/>
                <a:ea typeface="Poppins"/>
                <a:cs typeface="Poppins"/>
                <a:sym typeface="Poppins"/>
              </a:rPr>
              <a:t>                                                 </a:t>
            </a:r>
            <a:r>
              <a:rPr lang="en-US" sz="2460">
                <a:solidFill>
                  <a:srgbClr val="000000"/>
                </a:solidFill>
                <a:latin typeface="Poppins"/>
                <a:ea typeface="Poppins"/>
                <a:cs typeface="Poppins"/>
                <a:sym typeface="Poppins"/>
              </a:rPr>
              <a:t>2 Minor Non-C</a:t>
            </a:r>
            <a:r>
              <a:rPr lang="en-US" sz="2460">
                <a:solidFill>
                  <a:srgbClr val="000000"/>
                </a:solidFill>
                <a:latin typeface="Poppins"/>
                <a:ea typeface="Poppins"/>
                <a:cs typeface="Poppins"/>
                <a:sym typeface="Poppins"/>
              </a:rPr>
              <a:t>onformities</a:t>
            </a:r>
          </a:p>
          <a:p>
            <a:pPr algn="l">
              <a:lnSpc>
                <a:spcPts val="3444"/>
              </a:lnSpc>
              <a:spcBef>
                <a:spcPct val="0"/>
              </a:spcBef>
            </a:pPr>
            <a:r>
              <a:rPr lang="en-US" sz="2460">
                <a:solidFill>
                  <a:srgbClr val="000000"/>
                </a:solidFill>
                <a:latin typeface="Poppins"/>
                <a:ea typeface="Poppins"/>
                <a:cs typeface="Poppins"/>
                <a:sym typeface="Poppins"/>
              </a:rPr>
              <a:t>                                                 </a:t>
            </a:r>
            <a:r>
              <a:rPr lang="en-US" sz="2460">
                <a:solidFill>
                  <a:srgbClr val="000000"/>
                </a:solidFill>
                <a:latin typeface="Poppins"/>
                <a:ea typeface="Poppins"/>
                <a:cs typeface="Poppins"/>
                <a:sym typeface="Poppins"/>
              </a:rPr>
              <a:t>1 Observation</a:t>
            </a:r>
          </a:p>
          <a:p>
            <a:pPr algn="l">
              <a:lnSpc>
                <a:spcPts val="3444"/>
              </a:lnSpc>
              <a:spcBef>
                <a:spcPct val="0"/>
              </a:spcBef>
            </a:pPr>
            <a:r>
              <a:rPr lang="en-US" b="true" sz="2460">
                <a:solidFill>
                  <a:srgbClr val="000000"/>
                </a:solidFill>
                <a:latin typeface="Poppins Bold"/>
                <a:ea typeface="Poppins Bold"/>
                <a:cs typeface="Poppins Bold"/>
                <a:sym typeface="Poppins Bold"/>
              </a:rPr>
              <a:t>Core Risk Vulnerability Focus: </a:t>
            </a:r>
            <a:r>
              <a:rPr lang="en-US" sz="2460">
                <a:solidFill>
                  <a:srgbClr val="000000"/>
                </a:solidFill>
                <a:latin typeface="Poppins"/>
                <a:ea typeface="Poppins"/>
                <a:cs typeface="Poppins"/>
                <a:sym typeface="Poppins"/>
              </a:rPr>
              <a:t>FinSecure Bank's most volatile operational exposure vectors reside within its privileged access governance boundaries and third-party payment gateway integration points. </a:t>
            </a:r>
          </a:p>
          <a:p>
            <a:pPr algn="ctr">
              <a:lnSpc>
                <a:spcPts val="3444"/>
              </a:lnSpc>
              <a:spcBef>
                <a:spcPct val="0"/>
              </a:spcBef>
            </a:pPr>
          </a:p>
          <a:p>
            <a:pPr algn="l">
              <a:lnSpc>
                <a:spcPts val="3444"/>
              </a:lnSpc>
              <a:spcBef>
                <a:spcPct val="0"/>
              </a:spcBef>
            </a:pPr>
            <a:r>
              <a:rPr lang="en-US" b="true" sz="2460">
                <a:solidFill>
                  <a:srgbClr val="000000"/>
                </a:solidFill>
                <a:latin typeface="Poppins Bold"/>
                <a:ea typeface="Poppins Bold"/>
                <a:cs typeface="Poppins Bold"/>
                <a:sym typeface="Poppins Bold"/>
              </a:rPr>
              <a:t>Final Certification Readiness Status: </a:t>
            </a:r>
            <a:r>
              <a:rPr lang="en-US" sz="2460">
                <a:solidFill>
                  <a:srgbClr val="000000"/>
                </a:solidFill>
                <a:latin typeface="Poppins"/>
                <a:ea typeface="Poppins"/>
                <a:cs typeface="Poppins"/>
                <a:sym typeface="Poppins"/>
              </a:rPr>
              <a:t>FinSecure Bank is not currently positioned to successfully pass the formal external ISO/IEC 27001 certification audit. External accreditation bodies will trigger an automatic audit failure due to the unresolved Major Non-Conformities. </a:t>
            </a:r>
          </a:p>
          <a:p>
            <a:pPr algn="ctr">
              <a:lnSpc>
                <a:spcPts val="3444"/>
              </a:lnSpc>
              <a:spcBef>
                <a:spcPct val="0"/>
              </a:spcBef>
            </a:pPr>
          </a:p>
          <a:p>
            <a:pPr algn="l">
              <a:lnSpc>
                <a:spcPts val="3444"/>
              </a:lnSpc>
              <a:spcBef>
                <a:spcPct val="0"/>
              </a:spcBef>
            </a:pPr>
            <a:r>
              <a:rPr lang="en-US" b="true" sz="2460">
                <a:solidFill>
                  <a:srgbClr val="000000"/>
                </a:solidFill>
                <a:latin typeface="Poppins Bold"/>
                <a:ea typeface="Poppins Bold"/>
                <a:cs typeface="Poppins Bold"/>
                <a:sym typeface="Poppins Bold"/>
              </a:rPr>
              <a:t>Authorization to Proceed: </a:t>
            </a:r>
            <a:r>
              <a:rPr lang="en-US" sz="2460">
                <a:solidFill>
                  <a:srgbClr val="000000"/>
                </a:solidFill>
                <a:latin typeface="Poppins"/>
                <a:ea typeface="Poppins"/>
                <a:cs typeface="Poppins"/>
                <a:sym typeface="Poppins"/>
              </a:rPr>
              <a:t>The compliance and technical teams are authorized to immediately initiate the 0–60 day remediation roadmap. Proceeding to the external certification audit phase is strictly conditional upon the technical deployment of app-based MFA enforcement and retroactive supplier security vetting. </a:t>
            </a:r>
          </a:p>
          <a:p>
            <a:pPr algn="ctr">
              <a:lnSpc>
                <a:spcPts val="3444"/>
              </a:lnSpc>
              <a:spcBef>
                <a:spcPct val="0"/>
              </a:spcBef>
            </a:pPr>
          </a:p>
        </p:txBody>
      </p:sp>
      <p:sp>
        <p:nvSpPr>
          <p:cNvPr name="Freeform 27" id="27"/>
          <p:cNvSpPr/>
          <p:nvPr/>
        </p:nvSpPr>
        <p:spPr>
          <a:xfrm flipH="false" flipV="false" rot="0">
            <a:off x="13952869" y="11164"/>
            <a:ext cx="793566" cy="793566"/>
          </a:xfrm>
          <a:custGeom>
            <a:avLst/>
            <a:gdLst/>
            <a:ahLst/>
            <a:cxnLst/>
            <a:rect r="r" b="b" t="t" l="l"/>
            <a:pathLst>
              <a:path h="793566" w="793566">
                <a:moveTo>
                  <a:pt x="0" y="0"/>
                </a:moveTo>
                <a:lnTo>
                  <a:pt x="793566" y="0"/>
                </a:lnTo>
                <a:lnTo>
                  <a:pt x="793566" y="793566"/>
                </a:lnTo>
                <a:lnTo>
                  <a:pt x="0" y="7935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8" id="28"/>
          <p:cNvSpPr txBox="true"/>
          <p:nvPr/>
        </p:nvSpPr>
        <p:spPr>
          <a:xfrm rot="0">
            <a:off x="10173422" y="212685"/>
            <a:ext cx="3705639" cy="381000"/>
          </a:xfrm>
          <a:prstGeom prst="rect">
            <a:avLst/>
          </a:prstGeom>
        </p:spPr>
        <p:txBody>
          <a:bodyPr anchor="t" rtlCol="false" tIns="0" lIns="0" bIns="0" rIns="0">
            <a:spAutoFit/>
          </a:bodyPr>
          <a:lstStyle/>
          <a:p>
            <a:pPr algn="r">
              <a:lnSpc>
                <a:spcPts val="2849"/>
              </a:lnSpc>
            </a:pPr>
            <a:r>
              <a:rPr lang="en-US" b="true" sz="2499">
                <a:solidFill>
                  <a:srgbClr val="000000"/>
                </a:solidFill>
                <a:latin typeface="Poppins Bold"/>
                <a:ea typeface="Poppins Bold"/>
                <a:cs typeface="Poppins Bold"/>
                <a:sym typeface="Poppins Bold"/>
              </a:rPr>
              <a:t>FinSecure Bank</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2447816" y="6051085"/>
            <a:ext cx="24520492" cy="4402586"/>
          </a:xfrm>
          <a:custGeom>
            <a:avLst/>
            <a:gdLst/>
            <a:ahLst/>
            <a:cxnLst/>
            <a:rect r="r" b="b" t="t" l="l"/>
            <a:pathLst>
              <a:path h="4402586" w="24520492">
                <a:moveTo>
                  <a:pt x="24520491" y="0"/>
                </a:moveTo>
                <a:lnTo>
                  <a:pt x="0" y="0"/>
                </a:lnTo>
                <a:lnTo>
                  <a:pt x="0" y="4402586"/>
                </a:lnTo>
                <a:lnTo>
                  <a:pt x="24520491" y="4402586"/>
                </a:lnTo>
                <a:lnTo>
                  <a:pt x="24520491" y="0"/>
                </a:lnTo>
                <a:close/>
              </a:path>
            </a:pathLst>
          </a:custGeom>
          <a:blipFill>
            <a:blip r:embed="rId3">
              <a:alphaModFix amt="6000"/>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1168322">
            <a:off x="-591160" y="-1840415"/>
            <a:ext cx="7434779" cy="15382828"/>
            <a:chOff x="0" y="0"/>
            <a:chExt cx="1958131" cy="4051444"/>
          </a:xfrm>
        </p:grpSpPr>
        <p:sp>
          <p:nvSpPr>
            <p:cNvPr name="Freeform 4" id="4"/>
            <p:cNvSpPr/>
            <p:nvPr/>
          </p:nvSpPr>
          <p:spPr>
            <a:xfrm flipH="false" flipV="false" rot="0">
              <a:off x="0" y="0"/>
              <a:ext cx="1958131" cy="4051444"/>
            </a:xfrm>
            <a:custGeom>
              <a:avLst/>
              <a:gdLst/>
              <a:ahLst/>
              <a:cxnLst/>
              <a:rect r="r" b="b" t="t" l="l"/>
              <a:pathLst>
                <a:path h="4051444" w="1958131">
                  <a:moveTo>
                    <a:pt x="0" y="0"/>
                  </a:moveTo>
                  <a:lnTo>
                    <a:pt x="1958131" y="0"/>
                  </a:lnTo>
                  <a:lnTo>
                    <a:pt x="1958131" y="4051444"/>
                  </a:lnTo>
                  <a:lnTo>
                    <a:pt x="0" y="4051444"/>
                  </a:lnTo>
                  <a:close/>
                </a:path>
              </a:pathLst>
            </a:custGeom>
            <a:solidFill>
              <a:srgbClr val="20989B"/>
            </a:solidFill>
          </p:spPr>
        </p:sp>
        <p:sp>
          <p:nvSpPr>
            <p:cNvPr name="TextBox 5" id="5"/>
            <p:cNvSpPr txBox="true"/>
            <p:nvPr/>
          </p:nvSpPr>
          <p:spPr>
            <a:xfrm>
              <a:off x="0" y="-57150"/>
              <a:ext cx="1958131" cy="410859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6579275">
            <a:off x="-3647729" y="4649456"/>
            <a:ext cx="13353097" cy="404258"/>
          </a:xfrm>
          <a:custGeom>
            <a:avLst/>
            <a:gdLst/>
            <a:ahLst/>
            <a:cxnLst/>
            <a:rect r="r" b="b" t="t" l="l"/>
            <a:pathLst>
              <a:path h="404258" w="13353097">
                <a:moveTo>
                  <a:pt x="0" y="0"/>
                </a:moveTo>
                <a:lnTo>
                  <a:pt x="13353096" y="0"/>
                </a:lnTo>
                <a:lnTo>
                  <a:pt x="13353096" y="404258"/>
                </a:lnTo>
                <a:lnTo>
                  <a:pt x="0" y="404258"/>
                </a:lnTo>
                <a:lnTo>
                  <a:pt x="0" y="0"/>
                </a:lnTo>
                <a:close/>
              </a:path>
            </a:pathLst>
          </a:custGeom>
          <a:blipFill>
            <a:blip r:embed="rId5"/>
            <a:stretch>
              <a:fillRect l="0" t="-1843398" r="0" b="0"/>
            </a:stretch>
          </a:blipFill>
        </p:spPr>
      </p:sp>
      <p:grpSp>
        <p:nvGrpSpPr>
          <p:cNvPr name="Group 7" id="7"/>
          <p:cNvGrpSpPr/>
          <p:nvPr/>
        </p:nvGrpSpPr>
        <p:grpSpPr>
          <a:xfrm rot="-1168322">
            <a:off x="-4404526" y="-1840415"/>
            <a:ext cx="7434779" cy="15382828"/>
            <a:chOff x="0" y="0"/>
            <a:chExt cx="1958131" cy="4051444"/>
          </a:xfrm>
        </p:grpSpPr>
        <p:sp>
          <p:nvSpPr>
            <p:cNvPr name="Freeform 8" id="8"/>
            <p:cNvSpPr/>
            <p:nvPr/>
          </p:nvSpPr>
          <p:spPr>
            <a:xfrm flipH="false" flipV="false" rot="0">
              <a:off x="0" y="0"/>
              <a:ext cx="1958131" cy="4051444"/>
            </a:xfrm>
            <a:custGeom>
              <a:avLst/>
              <a:gdLst/>
              <a:ahLst/>
              <a:cxnLst/>
              <a:rect r="r" b="b" t="t" l="l"/>
              <a:pathLst>
                <a:path h="4051444" w="1958131">
                  <a:moveTo>
                    <a:pt x="0" y="0"/>
                  </a:moveTo>
                  <a:lnTo>
                    <a:pt x="1958131" y="0"/>
                  </a:lnTo>
                  <a:lnTo>
                    <a:pt x="1958131" y="4051444"/>
                  </a:lnTo>
                  <a:lnTo>
                    <a:pt x="0" y="4051444"/>
                  </a:lnTo>
                  <a:close/>
                </a:path>
              </a:pathLst>
            </a:custGeom>
            <a:solidFill>
              <a:srgbClr val="39515A"/>
            </a:solidFill>
          </p:spPr>
        </p:sp>
        <p:sp>
          <p:nvSpPr>
            <p:cNvPr name="TextBox 9" id="9"/>
            <p:cNvSpPr txBox="true"/>
            <p:nvPr/>
          </p:nvSpPr>
          <p:spPr>
            <a:xfrm>
              <a:off x="0" y="-57150"/>
              <a:ext cx="1958131" cy="4108594"/>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592816" y="1461689"/>
            <a:ext cx="6973020" cy="7363621"/>
            <a:chOff x="0" y="0"/>
            <a:chExt cx="5960491" cy="6294374"/>
          </a:xfrm>
        </p:grpSpPr>
        <p:sp>
          <p:nvSpPr>
            <p:cNvPr name="Freeform 11" id="11"/>
            <p:cNvSpPr/>
            <p:nvPr/>
          </p:nvSpPr>
          <p:spPr>
            <a:xfrm flipH="false" flipV="false" rot="0">
              <a:off x="0" y="-44"/>
              <a:ext cx="5960480" cy="6294418"/>
            </a:xfrm>
            <a:custGeom>
              <a:avLst/>
              <a:gdLst/>
              <a:ahLst/>
              <a:cxnLst/>
              <a:rect r="r" b="b" t="t" l="l"/>
              <a:pathLst>
                <a:path h="6294418" w="5960480">
                  <a:moveTo>
                    <a:pt x="4226814" y="1119549"/>
                  </a:moveTo>
                  <a:cubicBezTo>
                    <a:pt x="4173601" y="967911"/>
                    <a:pt x="4001770" y="815892"/>
                    <a:pt x="3844798" y="781729"/>
                  </a:cubicBezTo>
                  <a:lnTo>
                    <a:pt x="285369" y="6521"/>
                  </a:lnTo>
                  <a:cubicBezTo>
                    <a:pt x="128397" y="-27642"/>
                    <a:pt x="0" y="75863"/>
                    <a:pt x="0" y="236518"/>
                  </a:cubicBezTo>
                  <a:lnTo>
                    <a:pt x="0" y="6002318"/>
                  </a:lnTo>
                  <a:cubicBezTo>
                    <a:pt x="0" y="6162973"/>
                    <a:pt x="131445" y="6294418"/>
                    <a:pt x="292100" y="6294418"/>
                  </a:cubicBezTo>
                  <a:lnTo>
                    <a:pt x="5749544" y="6294418"/>
                  </a:lnTo>
                  <a:cubicBezTo>
                    <a:pt x="5910199" y="6294418"/>
                    <a:pt x="5998083" y="6170339"/>
                    <a:pt x="5944997" y="6018828"/>
                  </a:cubicBezTo>
                  <a:lnTo>
                    <a:pt x="4226814" y="1119549"/>
                  </a:lnTo>
                  <a:close/>
                </a:path>
              </a:pathLst>
            </a:custGeom>
            <a:blipFill>
              <a:blip r:embed="rId6"/>
              <a:stretch>
                <a:fillRect l="-19013" t="-38177" r="-326" b="-31122"/>
              </a:stretch>
            </a:blipFill>
            <a:ln w="114300" cap="sq">
              <a:solidFill>
                <a:srgbClr val="FFFFFF"/>
              </a:solidFill>
              <a:prstDash val="solid"/>
              <a:miter/>
            </a:ln>
          </p:spPr>
        </p:sp>
      </p:grpSp>
      <p:grpSp>
        <p:nvGrpSpPr>
          <p:cNvPr name="Group 12" id="12"/>
          <p:cNvGrpSpPr/>
          <p:nvPr/>
        </p:nvGrpSpPr>
        <p:grpSpPr>
          <a:xfrm rot="-1168322">
            <a:off x="4937715" y="-2713330"/>
            <a:ext cx="887655" cy="8696949"/>
            <a:chOff x="0" y="0"/>
            <a:chExt cx="233786" cy="2290554"/>
          </a:xfrm>
        </p:grpSpPr>
        <p:sp>
          <p:nvSpPr>
            <p:cNvPr name="Freeform 13" id="13"/>
            <p:cNvSpPr/>
            <p:nvPr/>
          </p:nvSpPr>
          <p:spPr>
            <a:xfrm flipH="false" flipV="false" rot="0">
              <a:off x="0" y="0"/>
              <a:ext cx="233786" cy="2290554"/>
            </a:xfrm>
            <a:custGeom>
              <a:avLst/>
              <a:gdLst/>
              <a:ahLst/>
              <a:cxnLst/>
              <a:rect r="r" b="b" t="t" l="l"/>
              <a:pathLst>
                <a:path h="2290554" w="233786">
                  <a:moveTo>
                    <a:pt x="0" y="0"/>
                  </a:moveTo>
                  <a:lnTo>
                    <a:pt x="233786" y="0"/>
                  </a:lnTo>
                  <a:lnTo>
                    <a:pt x="233786" y="2290554"/>
                  </a:lnTo>
                  <a:lnTo>
                    <a:pt x="0" y="2290554"/>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14" id="14"/>
            <p:cNvSpPr txBox="true"/>
            <p:nvPr/>
          </p:nvSpPr>
          <p:spPr>
            <a:xfrm>
              <a:off x="0" y="-57150"/>
              <a:ext cx="233786" cy="2347704"/>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1168322">
            <a:off x="7299902" y="5618795"/>
            <a:ext cx="887655" cy="5600547"/>
            <a:chOff x="0" y="0"/>
            <a:chExt cx="233786" cy="1475041"/>
          </a:xfrm>
        </p:grpSpPr>
        <p:sp>
          <p:nvSpPr>
            <p:cNvPr name="Freeform 16" id="16"/>
            <p:cNvSpPr/>
            <p:nvPr/>
          </p:nvSpPr>
          <p:spPr>
            <a:xfrm flipH="false" flipV="false" rot="0">
              <a:off x="0" y="0"/>
              <a:ext cx="233786" cy="1475041"/>
            </a:xfrm>
            <a:custGeom>
              <a:avLst/>
              <a:gdLst/>
              <a:ahLst/>
              <a:cxnLst/>
              <a:rect r="r" b="b" t="t" l="l"/>
              <a:pathLst>
                <a:path h="1475041" w="233786">
                  <a:moveTo>
                    <a:pt x="0" y="0"/>
                  </a:moveTo>
                  <a:lnTo>
                    <a:pt x="233786" y="0"/>
                  </a:lnTo>
                  <a:lnTo>
                    <a:pt x="233786" y="1475041"/>
                  </a:lnTo>
                  <a:lnTo>
                    <a:pt x="0" y="1475041"/>
                  </a:lnTo>
                  <a:close/>
                </a:path>
              </a:pathLst>
            </a:custGeom>
            <a:gradFill rotWithShape="true">
              <a:gsLst>
                <a:gs pos="0">
                  <a:srgbClr val="F9FFFF">
                    <a:alpha val="0"/>
                  </a:srgbClr>
                </a:gs>
                <a:gs pos="50000">
                  <a:srgbClr val="C3FEFF">
                    <a:alpha val="50500"/>
                  </a:srgbClr>
                </a:gs>
                <a:gs pos="100000">
                  <a:srgbClr val="20989B">
                    <a:alpha val="100000"/>
                  </a:srgbClr>
                </a:gs>
              </a:gsLst>
              <a:lin ang="5400000"/>
            </a:gradFill>
          </p:spPr>
        </p:sp>
        <p:sp>
          <p:nvSpPr>
            <p:cNvPr name="TextBox 17" id="17"/>
            <p:cNvSpPr txBox="true"/>
            <p:nvPr/>
          </p:nvSpPr>
          <p:spPr>
            <a:xfrm>
              <a:off x="0" y="-57150"/>
              <a:ext cx="233786" cy="1532191"/>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322406" y="8252378"/>
            <a:ext cx="1014510" cy="1005922"/>
          </a:xfrm>
          <a:custGeom>
            <a:avLst/>
            <a:gdLst/>
            <a:ahLst/>
            <a:cxnLst/>
            <a:rect r="r" b="b" t="t" l="l"/>
            <a:pathLst>
              <a:path h="1005922" w="1014510">
                <a:moveTo>
                  <a:pt x="0" y="0"/>
                </a:moveTo>
                <a:lnTo>
                  <a:pt x="1014510" y="0"/>
                </a:lnTo>
                <a:lnTo>
                  <a:pt x="1014510" y="1005922"/>
                </a:lnTo>
                <a:lnTo>
                  <a:pt x="0" y="1005922"/>
                </a:lnTo>
                <a:lnTo>
                  <a:pt x="0" y="0"/>
                </a:lnTo>
                <a:close/>
              </a:path>
            </a:pathLst>
          </a:custGeom>
          <a:blipFill>
            <a:blip r:embed="rId7">
              <a:extLst>
                <a:ext uri="{96DAC541-7B7A-43D3-8B79-37D633B846F1}">
                  <asvg:svgBlip xmlns:asvg="http://schemas.microsoft.com/office/drawing/2016/SVG/main" r:embed="rId8"/>
                </a:ext>
              </a:extLst>
            </a:blip>
            <a:stretch>
              <a:fillRect l="0" t="-106388" r="-103152" b="0"/>
            </a:stretch>
          </a:blipFill>
        </p:spPr>
      </p:sp>
      <p:sp>
        <p:nvSpPr>
          <p:cNvPr name="Freeform 19" id="19"/>
          <p:cNvSpPr/>
          <p:nvPr/>
        </p:nvSpPr>
        <p:spPr>
          <a:xfrm flipH="false" flipV="false" rot="0">
            <a:off x="2631539" y="1080376"/>
            <a:ext cx="1764021" cy="1764021"/>
          </a:xfrm>
          <a:custGeom>
            <a:avLst/>
            <a:gdLst/>
            <a:ahLst/>
            <a:cxnLst/>
            <a:rect r="r" b="b" t="t" l="l"/>
            <a:pathLst>
              <a:path h="1764021" w="1764021">
                <a:moveTo>
                  <a:pt x="0" y="0"/>
                </a:moveTo>
                <a:lnTo>
                  <a:pt x="1764021" y="0"/>
                </a:lnTo>
                <a:lnTo>
                  <a:pt x="1764021" y="1764020"/>
                </a:lnTo>
                <a:lnTo>
                  <a:pt x="0" y="1764020"/>
                </a:lnTo>
                <a:lnTo>
                  <a:pt x="0" y="0"/>
                </a:lnTo>
                <a:close/>
              </a:path>
            </a:pathLst>
          </a:custGeom>
          <a:blipFill>
            <a:blip r:embed="rId9">
              <a:alphaModFix amt="4499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0">
            <a:off x="4953811" y="5004084"/>
            <a:ext cx="4591447" cy="4583099"/>
          </a:xfrm>
          <a:custGeom>
            <a:avLst/>
            <a:gdLst/>
            <a:ahLst/>
            <a:cxnLst/>
            <a:rect r="r" b="b" t="t" l="l"/>
            <a:pathLst>
              <a:path h="4583099" w="4591447">
                <a:moveTo>
                  <a:pt x="0" y="0"/>
                </a:moveTo>
                <a:lnTo>
                  <a:pt x="4591448" y="0"/>
                </a:lnTo>
                <a:lnTo>
                  <a:pt x="4591448" y="4583100"/>
                </a:lnTo>
                <a:lnTo>
                  <a:pt x="0" y="4583100"/>
                </a:lnTo>
                <a:lnTo>
                  <a:pt x="0" y="0"/>
                </a:lnTo>
                <a:close/>
              </a:path>
            </a:pathLst>
          </a:custGeom>
          <a:blipFill>
            <a:blip r:embed="rId11"/>
            <a:stretch>
              <a:fillRect l="0" t="0" r="0" b="0"/>
            </a:stretch>
          </a:blipFill>
        </p:spPr>
      </p:sp>
      <p:grpSp>
        <p:nvGrpSpPr>
          <p:cNvPr name="Group 21" id="21"/>
          <p:cNvGrpSpPr/>
          <p:nvPr/>
        </p:nvGrpSpPr>
        <p:grpSpPr>
          <a:xfrm rot="0">
            <a:off x="5269577" y="5332968"/>
            <a:ext cx="3925332" cy="3925332"/>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989B"/>
            </a:solidFill>
          </p:spPr>
        </p:sp>
        <p:sp>
          <p:nvSpPr>
            <p:cNvPr name="TextBox 23" id="2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5505087" y="5568478"/>
            <a:ext cx="3454312" cy="3454312"/>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2"/>
              <a:stretch>
                <a:fillRect l="-25000" t="0" r="-25000" b="0"/>
              </a:stretch>
            </a:blipFill>
          </p:spPr>
        </p:sp>
      </p:grpSp>
      <p:sp>
        <p:nvSpPr>
          <p:cNvPr name="Freeform 26" id="26"/>
          <p:cNvSpPr/>
          <p:nvPr/>
        </p:nvSpPr>
        <p:spPr>
          <a:xfrm flipH="false" flipV="false" rot="0">
            <a:off x="16465734" y="8378995"/>
            <a:ext cx="793566" cy="793566"/>
          </a:xfrm>
          <a:custGeom>
            <a:avLst/>
            <a:gdLst/>
            <a:ahLst/>
            <a:cxnLst/>
            <a:rect r="r" b="b" t="t" l="l"/>
            <a:pathLst>
              <a:path h="793566" w="793566">
                <a:moveTo>
                  <a:pt x="0" y="0"/>
                </a:moveTo>
                <a:lnTo>
                  <a:pt x="793566" y="0"/>
                </a:lnTo>
                <a:lnTo>
                  <a:pt x="793566" y="793566"/>
                </a:lnTo>
                <a:lnTo>
                  <a:pt x="0" y="79356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7" id="27"/>
          <p:cNvSpPr/>
          <p:nvPr/>
        </p:nvSpPr>
        <p:spPr>
          <a:xfrm flipH="false" flipV="false" rot="0">
            <a:off x="7183577" y="1662427"/>
            <a:ext cx="1775822" cy="216327"/>
          </a:xfrm>
          <a:custGeom>
            <a:avLst/>
            <a:gdLst/>
            <a:ahLst/>
            <a:cxnLst/>
            <a:rect r="r" b="b" t="t" l="l"/>
            <a:pathLst>
              <a:path h="216327" w="1775822">
                <a:moveTo>
                  <a:pt x="0" y="0"/>
                </a:moveTo>
                <a:lnTo>
                  <a:pt x="1775822" y="0"/>
                </a:lnTo>
                <a:lnTo>
                  <a:pt x="1775822" y="216327"/>
                </a:lnTo>
                <a:lnTo>
                  <a:pt x="0" y="21632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28" id="28"/>
          <p:cNvSpPr txBox="true"/>
          <p:nvPr/>
        </p:nvSpPr>
        <p:spPr>
          <a:xfrm rot="0">
            <a:off x="11752420" y="8737432"/>
            <a:ext cx="4530391" cy="381000"/>
          </a:xfrm>
          <a:prstGeom prst="rect">
            <a:avLst/>
          </a:prstGeom>
        </p:spPr>
        <p:txBody>
          <a:bodyPr anchor="t" rtlCol="false" tIns="0" lIns="0" bIns="0" rIns="0">
            <a:spAutoFit/>
          </a:bodyPr>
          <a:lstStyle/>
          <a:p>
            <a:pPr algn="r">
              <a:lnSpc>
                <a:spcPts val="2849"/>
              </a:lnSpc>
            </a:pPr>
            <a:r>
              <a:rPr lang="en-US" b="true" sz="2499">
                <a:solidFill>
                  <a:srgbClr val="000000"/>
                </a:solidFill>
                <a:latin typeface="Poppins Bold"/>
                <a:ea typeface="Poppins Bold"/>
                <a:cs typeface="Poppins Bold"/>
                <a:sym typeface="Poppins Bold"/>
              </a:rPr>
              <a:t>www.finsecurebank.com</a:t>
            </a:r>
          </a:p>
        </p:txBody>
      </p:sp>
      <p:sp>
        <p:nvSpPr>
          <p:cNvPr name="TextBox 29" id="29"/>
          <p:cNvSpPr txBox="true"/>
          <p:nvPr/>
        </p:nvSpPr>
        <p:spPr>
          <a:xfrm rot="0">
            <a:off x="13578870" y="8463672"/>
            <a:ext cx="2703942" cy="280416"/>
          </a:xfrm>
          <a:prstGeom prst="rect">
            <a:avLst/>
          </a:prstGeom>
        </p:spPr>
        <p:txBody>
          <a:bodyPr anchor="t" rtlCol="false" tIns="0" lIns="0" bIns="0" rIns="0">
            <a:spAutoFit/>
          </a:bodyPr>
          <a:lstStyle/>
          <a:p>
            <a:pPr algn="r">
              <a:lnSpc>
                <a:spcPts val="2052"/>
              </a:lnSpc>
            </a:pPr>
            <a:r>
              <a:rPr lang="en-US" sz="1800">
                <a:solidFill>
                  <a:srgbClr val="000000"/>
                </a:solidFill>
                <a:latin typeface="Poppins"/>
                <a:ea typeface="Poppins"/>
                <a:cs typeface="Poppins"/>
                <a:sym typeface="Poppins"/>
              </a:rPr>
              <a:t>Visit Our Website</a:t>
            </a:r>
          </a:p>
        </p:txBody>
      </p:sp>
      <p:sp>
        <p:nvSpPr>
          <p:cNvPr name="TextBox 30" id="30"/>
          <p:cNvSpPr txBox="true"/>
          <p:nvPr/>
        </p:nvSpPr>
        <p:spPr>
          <a:xfrm rot="0">
            <a:off x="8194185" y="2341367"/>
            <a:ext cx="9065115" cy="3263265"/>
          </a:xfrm>
          <a:prstGeom prst="rect">
            <a:avLst/>
          </a:prstGeom>
        </p:spPr>
        <p:txBody>
          <a:bodyPr anchor="t" rtlCol="false" tIns="0" lIns="0" bIns="0" rIns="0">
            <a:spAutoFit/>
          </a:bodyPr>
          <a:lstStyle/>
          <a:p>
            <a:pPr algn="r">
              <a:lnSpc>
                <a:spcPts val="23730"/>
              </a:lnSpc>
            </a:pPr>
            <a:r>
              <a:rPr lang="en-US" b="true" sz="21000" spc="-882">
                <a:solidFill>
                  <a:srgbClr val="20989B"/>
                </a:solidFill>
                <a:latin typeface="Poppins Semi-Bold"/>
                <a:ea typeface="Poppins Semi-Bold"/>
                <a:cs typeface="Poppins Semi-Bold"/>
                <a:sym typeface="Poppins Semi-Bold"/>
              </a:rPr>
              <a:t>THANK</a:t>
            </a:r>
          </a:p>
        </p:txBody>
      </p:sp>
      <p:sp>
        <p:nvSpPr>
          <p:cNvPr name="TextBox 31" id="31"/>
          <p:cNvSpPr txBox="true"/>
          <p:nvPr/>
        </p:nvSpPr>
        <p:spPr>
          <a:xfrm rot="0">
            <a:off x="11107618" y="4615693"/>
            <a:ext cx="6151682" cy="3263265"/>
          </a:xfrm>
          <a:prstGeom prst="rect">
            <a:avLst/>
          </a:prstGeom>
        </p:spPr>
        <p:txBody>
          <a:bodyPr anchor="t" rtlCol="false" tIns="0" lIns="0" bIns="0" rIns="0">
            <a:spAutoFit/>
          </a:bodyPr>
          <a:lstStyle/>
          <a:p>
            <a:pPr algn="r">
              <a:lnSpc>
                <a:spcPts val="23730"/>
              </a:lnSpc>
            </a:pPr>
            <a:r>
              <a:rPr lang="en-US" b="true" sz="21000" spc="-882">
                <a:solidFill>
                  <a:srgbClr val="39515A"/>
                </a:solidFill>
                <a:latin typeface="Poppins Semi-Bold"/>
                <a:ea typeface="Poppins Semi-Bold"/>
                <a:cs typeface="Poppins Semi-Bold"/>
                <a:sym typeface="Poppins Semi-Bold"/>
              </a:rPr>
              <a:t>YOU</a:t>
            </a:r>
          </a:p>
        </p:txBody>
      </p:sp>
      <p:sp>
        <p:nvSpPr>
          <p:cNvPr name="Freeform 32" id="32"/>
          <p:cNvSpPr/>
          <p:nvPr/>
        </p:nvSpPr>
        <p:spPr>
          <a:xfrm flipH="false" flipV="false" rot="0">
            <a:off x="16922352" y="286810"/>
            <a:ext cx="793566" cy="793566"/>
          </a:xfrm>
          <a:custGeom>
            <a:avLst/>
            <a:gdLst/>
            <a:ahLst/>
            <a:cxnLst/>
            <a:rect r="r" b="b" t="t" l="l"/>
            <a:pathLst>
              <a:path h="793566" w="793566">
                <a:moveTo>
                  <a:pt x="0" y="0"/>
                </a:moveTo>
                <a:lnTo>
                  <a:pt x="793566" y="0"/>
                </a:lnTo>
                <a:lnTo>
                  <a:pt x="793566" y="793566"/>
                </a:lnTo>
                <a:lnTo>
                  <a:pt x="0" y="793566"/>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33" id="33"/>
          <p:cNvSpPr txBox="true"/>
          <p:nvPr/>
        </p:nvSpPr>
        <p:spPr>
          <a:xfrm rot="0">
            <a:off x="13033789" y="352372"/>
            <a:ext cx="3705639" cy="381000"/>
          </a:xfrm>
          <a:prstGeom prst="rect">
            <a:avLst/>
          </a:prstGeom>
        </p:spPr>
        <p:txBody>
          <a:bodyPr anchor="t" rtlCol="false" tIns="0" lIns="0" bIns="0" rIns="0">
            <a:spAutoFit/>
          </a:bodyPr>
          <a:lstStyle/>
          <a:p>
            <a:pPr algn="r">
              <a:lnSpc>
                <a:spcPts val="2849"/>
              </a:lnSpc>
            </a:pPr>
            <a:r>
              <a:rPr lang="en-US" b="true" sz="2499">
                <a:solidFill>
                  <a:srgbClr val="000000"/>
                </a:solidFill>
                <a:latin typeface="Poppins Bold"/>
                <a:ea typeface="Poppins Bold"/>
                <a:cs typeface="Poppins Bold"/>
                <a:sym typeface="Poppins Bold"/>
              </a:rPr>
              <a:t>FinSecure Bank</a:t>
            </a:r>
          </a:p>
        </p:txBody>
      </p:sp>
      <p:sp>
        <p:nvSpPr>
          <p:cNvPr name="TextBox 34" id="34"/>
          <p:cNvSpPr txBox="true"/>
          <p:nvPr/>
        </p:nvSpPr>
        <p:spPr>
          <a:xfrm rot="0">
            <a:off x="11107618" y="7366757"/>
            <a:ext cx="5994815" cy="441478"/>
          </a:xfrm>
          <a:prstGeom prst="rect">
            <a:avLst/>
          </a:prstGeom>
        </p:spPr>
        <p:txBody>
          <a:bodyPr anchor="t" rtlCol="false" tIns="0" lIns="0" bIns="0" rIns="0">
            <a:spAutoFit/>
          </a:bodyPr>
          <a:lstStyle/>
          <a:p>
            <a:pPr algn="ctr">
              <a:lnSpc>
                <a:spcPts val="3707"/>
              </a:lnSpc>
            </a:pPr>
            <a:r>
              <a:rPr lang="en-US" sz="2059">
                <a:solidFill>
                  <a:srgbClr val="000000"/>
                </a:solidFill>
                <a:latin typeface="Arimo"/>
                <a:ea typeface="Arimo"/>
                <a:cs typeface="Arimo"/>
                <a:sym typeface="Arimo"/>
              </a:rPr>
              <a:t>Confidential Internal Audit Report | FinSecure Bank</a:t>
            </a:r>
          </a:p>
        </p:txBody>
      </p:sp>
      <p:sp>
        <p:nvSpPr>
          <p:cNvPr name="TextBox 35" id="35"/>
          <p:cNvSpPr txBox="true"/>
          <p:nvPr/>
        </p:nvSpPr>
        <p:spPr>
          <a:xfrm rot="0">
            <a:off x="8650803" y="2510841"/>
            <a:ext cx="9065115" cy="333555"/>
          </a:xfrm>
          <a:prstGeom prst="rect">
            <a:avLst/>
          </a:prstGeom>
        </p:spPr>
        <p:txBody>
          <a:bodyPr anchor="t" rtlCol="false" tIns="0" lIns="0" bIns="0" rIns="0">
            <a:spAutoFit/>
          </a:bodyPr>
          <a:lstStyle/>
          <a:p>
            <a:pPr algn="ctr">
              <a:lnSpc>
                <a:spcPts val="2753"/>
              </a:lnSpc>
            </a:pPr>
            <a:r>
              <a:rPr lang="en-US" sz="1529">
                <a:solidFill>
                  <a:srgbClr val="000000"/>
                </a:solidFill>
                <a:latin typeface="Arimo"/>
                <a:ea typeface="Arimo"/>
                <a:cs typeface="Arimo"/>
                <a:sym typeface="Arimo"/>
              </a:rPr>
              <a:t>Report Compiled By Keertennah Devi, Lead Auditor  Lilian, Technical Auditor Nethra Compliance Auditor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DAHMnlfuWQI</dc:identifier>
  <dcterms:modified xsi:type="dcterms:W3CDTF">2011-08-01T06:04:30Z</dcterms:modified>
  <cp:revision>1</cp:revision>
  <dc:title>AUDIT LAB 1.pptx</dc:title>
</cp:coreProperties>
</file>